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embeddedFontLst>
    <p:embeddedFont>
      <p:font typeface="Cambria Math" panose="02040503050406030204" pitchFamily="18" charset="0"/>
      <p:regular r:id="rId25"/>
    </p:embeddedFont>
    <p:embeddedFont>
      <p:font typeface="Play" panose="020B0604020202020204" charset="0"/>
      <p:regular r:id="rId26"/>
      <p:bold r:id="rId2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9" roundtripDataSignature="AMtx7mgwglLulpscBVUNgw7ymZQzP5eb3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97316"/>
    <a:srgbClr val="22C5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874" y="1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1.fntdata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customschemas.google.com/relationships/presentationmetadata" Target="meta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3.fntdata"/><Relationship Id="rId30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e47d29920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g3e47d29920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3" name="Google Shape;16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3a8b1442e01_0_6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7" name="Google Shape;207;g3a8b1442e01_0_6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a8b1442e01_0_15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" name="Google Shape;222;g3a8b1442e01_0_15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e473cf74e9_0_1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3e473cf74e9_0_1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3e473cf74e9_0_2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0" name="Google Shape;260;g3e473cf74e9_0_2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3e473cf74e9_0_5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3" name="Google Shape;293;g3e473cf74e9_0_5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1" name="Google Shape;32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g3e473cf74e9_76_3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6" name="Google Shape;336;g3e473cf74e9_76_3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g3e473cf74e9_76_7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0" name="Google Shape;350;g3e473cf74e9_76_7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g3e473cf74e9_121_2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1" name="Google Shape;371;g3e473cf74e9_121_2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g3e473cf74e9_121_4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6" name="Google Shape;386;g3e473cf74e9_121_4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3e473cf74e9_121_6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3" name="Google Shape;403;g3e473cf74e9_121_6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g3e473cf74e9_121_8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7" name="Google Shape;417;g3e473cf74e9_121_8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g3e473cf74e9_121_7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1" name="Google Shape;431;g3e473cf74e9_121_7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g3e473cf74e9_121_9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5" name="Google Shape;445;g3e473cf74e9_121_9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g3e473cf74e9_162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9" name="Google Shape;459;g3e473cf74e9_162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 слайд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6"/>
          <p:cNvSpPr txBox="1">
            <a:spLocks noGrp="1"/>
          </p:cNvSpPr>
          <p:nvPr>
            <p:ph type="ctrTitle"/>
          </p:nvPr>
        </p:nvSpPr>
        <p:spPr>
          <a:xfrm>
            <a:off x="1524003" y="1122361"/>
            <a:ext cx="9144000" cy="23875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1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6"/>
          <p:cNvSpPr txBox="1">
            <a:spLocks noGrp="1"/>
          </p:cNvSpPr>
          <p:nvPr>
            <p:ph type="subTitle" idx="1"/>
          </p:nvPr>
        </p:nvSpPr>
        <p:spPr>
          <a:xfrm>
            <a:off x="1524003" y="3602041"/>
            <a:ext cx="9144000" cy="16557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1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400"/>
              <a:buNone/>
              <a:defRPr sz="2400"/>
            </a:lvl1pPr>
            <a:lvl2pPr lvl="1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2pPr>
            <a:lvl3pPr lvl="2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3pPr>
            <a:lvl4pPr lvl="3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4pPr>
            <a:lvl5pPr lvl="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5pPr>
            <a:lvl6pPr lvl="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lvl="6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lvl="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lvl="8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" name="Google Shape;14;p26"/>
          <p:cNvSpPr txBox="1">
            <a:spLocks noGrp="1"/>
          </p:cNvSpPr>
          <p:nvPr>
            <p:ph type="dt" idx="10"/>
          </p:nvPr>
        </p:nvSpPr>
        <p:spPr>
          <a:xfrm>
            <a:off x="8382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26"/>
          <p:cNvSpPr txBox="1">
            <a:spLocks noGrp="1"/>
          </p:cNvSpPr>
          <p:nvPr>
            <p:ph type="ftr" idx="11"/>
          </p:nvPr>
        </p:nvSpPr>
        <p:spPr>
          <a:xfrm>
            <a:off x="4038603" y="6356351"/>
            <a:ext cx="4114800" cy="365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1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26"/>
          <p:cNvSpPr txBox="1">
            <a:spLocks noGrp="1"/>
          </p:cNvSpPr>
          <p:nvPr>
            <p:ph type="sldNum" idx="12"/>
          </p:nvPr>
        </p:nvSpPr>
        <p:spPr>
          <a:xfrm>
            <a:off x="86106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200" b="0" i="0" u="none" strike="noStrike" cap="none">
              <a:solidFill>
                <a:srgbClr val="767676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и объект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7"/>
          <p:cNvSpPr txBox="1">
            <a:spLocks noGrp="1"/>
          </p:cNvSpPr>
          <p:nvPr>
            <p:ph type="title"/>
          </p:nvPr>
        </p:nvSpPr>
        <p:spPr>
          <a:xfrm>
            <a:off x="838203" y="365129"/>
            <a:ext cx="10515600" cy="13255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Play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7"/>
          <p:cNvSpPr txBox="1">
            <a:spLocks noGrp="1"/>
          </p:cNvSpPr>
          <p:nvPr>
            <p:ph type="body" idx="1"/>
          </p:nvPr>
        </p:nvSpPr>
        <p:spPr>
          <a:xfrm>
            <a:off x="838203" y="1825627"/>
            <a:ext cx="10515600" cy="4351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Char char="•"/>
              <a:defRPr/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400"/>
              <a:buChar char="•"/>
              <a:defRPr/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0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27"/>
          <p:cNvSpPr txBox="1">
            <a:spLocks noGrp="1"/>
          </p:cNvSpPr>
          <p:nvPr>
            <p:ph type="dt" idx="10"/>
          </p:nvPr>
        </p:nvSpPr>
        <p:spPr>
          <a:xfrm>
            <a:off x="8382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27"/>
          <p:cNvSpPr txBox="1">
            <a:spLocks noGrp="1"/>
          </p:cNvSpPr>
          <p:nvPr>
            <p:ph type="ftr" idx="11"/>
          </p:nvPr>
        </p:nvSpPr>
        <p:spPr>
          <a:xfrm>
            <a:off x="4038603" y="6356351"/>
            <a:ext cx="4114800" cy="365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1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27"/>
          <p:cNvSpPr txBox="1">
            <a:spLocks noGrp="1"/>
          </p:cNvSpPr>
          <p:nvPr>
            <p:ph type="sldNum" idx="12"/>
          </p:nvPr>
        </p:nvSpPr>
        <p:spPr>
          <a:xfrm>
            <a:off x="86106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200" b="0" i="0" u="none" strike="noStrike" cap="none">
              <a:solidFill>
                <a:srgbClr val="767676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раздела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8"/>
          <p:cNvSpPr txBox="1">
            <a:spLocks noGrp="1"/>
          </p:cNvSpPr>
          <p:nvPr>
            <p:ph type="title"/>
          </p:nvPr>
        </p:nvSpPr>
        <p:spPr>
          <a:xfrm>
            <a:off x="831847" y="1709735"/>
            <a:ext cx="10515600" cy="2852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8"/>
          <p:cNvSpPr txBox="1">
            <a:spLocks noGrp="1"/>
          </p:cNvSpPr>
          <p:nvPr>
            <p:ph type="body" idx="1"/>
          </p:nvPr>
        </p:nvSpPr>
        <p:spPr>
          <a:xfrm>
            <a:off x="831847" y="4589465"/>
            <a:ext cx="10515600" cy="15001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67676"/>
              </a:buClr>
              <a:buSzPts val="2400"/>
              <a:buNone/>
              <a:defRPr sz="2400">
                <a:solidFill>
                  <a:srgbClr val="767676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6" name="Google Shape;26;p28"/>
          <p:cNvSpPr txBox="1">
            <a:spLocks noGrp="1"/>
          </p:cNvSpPr>
          <p:nvPr>
            <p:ph type="dt" idx="10"/>
          </p:nvPr>
        </p:nvSpPr>
        <p:spPr>
          <a:xfrm>
            <a:off x="8382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28"/>
          <p:cNvSpPr txBox="1">
            <a:spLocks noGrp="1"/>
          </p:cNvSpPr>
          <p:nvPr>
            <p:ph type="ftr" idx="11"/>
          </p:nvPr>
        </p:nvSpPr>
        <p:spPr>
          <a:xfrm>
            <a:off x="4038603" y="6356351"/>
            <a:ext cx="4114800" cy="365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1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28"/>
          <p:cNvSpPr txBox="1">
            <a:spLocks noGrp="1"/>
          </p:cNvSpPr>
          <p:nvPr>
            <p:ph type="sldNum" idx="12"/>
          </p:nvPr>
        </p:nvSpPr>
        <p:spPr>
          <a:xfrm>
            <a:off x="86106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200" b="0" i="0" u="none" strike="noStrike" cap="none">
              <a:solidFill>
                <a:srgbClr val="767676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Два объекта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9"/>
          <p:cNvSpPr txBox="1">
            <a:spLocks noGrp="1"/>
          </p:cNvSpPr>
          <p:nvPr>
            <p:ph type="title"/>
          </p:nvPr>
        </p:nvSpPr>
        <p:spPr>
          <a:xfrm>
            <a:off x="838203" y="365129"/>
            <a:ext cx="10515600" cy="13255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Play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9"/>
          <p:cNvSpPr txBox="1">
            <a:spLocks noGrp="1"/>
          </p:cNvSpPr>
          <p:nvPr>
            <p:ph type="body" idx="1"/>
          </p:nvPr>
        </p:nvSpPr>
        <p:spPr>
          <a:xfrm>
            <a:off x="838203" y="1825627"/>
            <a:ext cx="5181603" cy="4351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Char char="•"/>
              <a:defRPr/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400"/>
              <a:buChar char="•"/>
              <a:defRPr/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0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29"/>
          <p:cNvSpPr txBox="1">
            <a:spLocks noGrp="1"/>
          </p:cNvSpPr>
          <p:nvPr>
            <p:ph type="body" idx="2"/>
          </p:nvPr>
        </p:nvSpPr>
        <p:spPr>
          <a:xfrm>
            <a:off x="6172200" y="1825627"/>
            <a:ext cx="5181603" cy="4351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Char char="•"/>
              <a:defRPr/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400"/>
              <a:buChar char="•"/>
              <a:defRPr/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0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29"/>
          <p:cNvSpPr txBox="1">
            <a:spLocks noGrp="1"/>
          </p:cNvSpPr>
          <p:nvPr>
            <p:ph type="dt" idx="10"/>
          </p:nvPr>
        </p:nvSpPr>
        <p:spPr>
          <a:xfrm>
            <a:off x="8382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9"/>
          <p:cNvSpPr txBox="1">
            <a:spLocks noGrp="1"/>
          </p:cNvSpPr>
          <p:nvPr>
            <p:ph type="ftr" idx="11"/>
          </p:nvPr>
        </p:nvSpPr>
        <p:spPr>
          <a:xfrm>
            <a:off x="4038603" y="6356351"/>
            <a:ext cx="4114800" cy="365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1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9"/>
          <p:cNvSpPr txBox="1">
            <a:spLocks noGrp="1"/>
          </p:cNvSpPr>
          <p:nvPr>
            <p:ph type="sldNum" idx="12"/>
          </p:nvPr>
        </p:nvSpPr>
        <p:spPr>
          <a:xfrm>
            <a:off x="86106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200" b="0" i="0" u="none" strike="noStrike" cap="none">
              <a:solidFill>
                <a:srgbClr val="767676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равнение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30"/>
          <p:cNvSpPr txBox="1">
            <a:spLocks noGrp="1"/>
          </p:cNvSpPr>
          <p:nvPr>
            <p:ph type="title"/>
          </p:nvPr>
        </p:nvSpPr>
        <p:spPr>
          <a:xfrm>
            <a:off x="839784" y="365129"/>
            <a:ext cx="10515600" cy="13255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Play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30"/>
          <p:cNvSpPr txBox="1">
            <a:spLocks noGrp="1"/>
          </p:cNvSpPr>
          <p:nvPr>
            <p:ph type="body" idx="1"/>
          </p:nvPr>
        </p:nvSpPr>
        <p:spPr>
          <a:xfrm>
            <a:off x="839784" y="1681160"/>
            <a:ext cx="5157782" cy="8239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400"/>
              <a:buNone/>
              <a:defRPr sz="2400" b="1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9" name="Google Shape;39;p30"/>
          <p:cNvSpPr txBox="1">
            <a:spLocks noGrp="1"/>
          </p:cNvSpPr>
          <p:nvPr>
            <p:ph type="body" idx="2"/>
          </p:nvPr>
        </p:nvSpPr>
        <p:spPr>
          <a:xfrm>
            <a:off x="839784" y="2505071"/>
            <a:ext cx="5157782" cy="3684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Char char="•"/>
              <a:defRPr/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400"/>
              <a:buChar char="•"/>
              <a:defRPr/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0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30"/>
          <p:cNvSpPr txBox="1">
            <a:spLocks noGrp="1"/>
          </p:cNvSpPr>
          <p:nvPr>
            <p:ph type="body" idx="3"/>
          </p:nvPr>
        </p:nvSpPr>
        <p:spPr>
          <a:xfrm>
            <a:off x="6172200" y="1681160"/>
            <a:ext cx="5183184" cy="8239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400"/>
              <a:buNone/>
              <a:defRPr sz="2400" b="1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30"/>
          <p:cNvSpPr txBox="1">
            <a:spLocks noGrp="1"/>
          </p:cNvSpPr>
          <p:nvPr>
            <p:ph type="body" idx="4"/>
          </p:nvPr>
        </p:nvSpPr>
        <p:spPr>
          <a:xfrm>
            <a:off x="6172200" y="2505071"/>
            <a:ext cx="5183184" cy="3684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Char char="•"/>
              <a:defRPr/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400"/>
              <a:buChar char="•"/>
              <a:defRPr/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0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30"/>
          <p:cNvSpPr txBox="1">
            <a:spLocks noGrp="1"/>
          </p:cNvSpPr>
          <p:nvPr>
            <p:ph type="dt" idx="10"/>
          </p:nvPr>
        </p:nvSpPr>
        <p:spPr>
          <a:xfrm>
            <a:off x="8382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30"/>
          <p:cNvSpPr txBox="1">
            <a:spLocks noGrp="1"/>
          </p:cNvSpPr>
          <p:nvPr>
            <p:ph type="ftr" idx="11"/>
          </p:nvPr>
        </p:nvSpPr>
        <p:spPr>
          <a:xfrm>
            <a:off x="4038603" y="6356351"/>
            <a:ext cx="4114800" cy="365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1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30"/>
          <p:cNvSpPr txBox="1">
            <a:spLocks noGrp="1"/>
          </p:cNvSpPr>
          <p:nvPr>
            <p:ph type="sldNum" idx="12"/>
          </p:nvPr>
        </p:nvSpPr>
        <p:spPr>
          <a:xfrm>
            <a:off x="86106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200" b="0" i="0" u="none" strike="noStrike" cap="none">
              <a:solidFill>
                <a:srgbClr val="767676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олько заголовок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31"/>
          <p:cNvSpPr txBox="1">
            <a:spLocks noGrp="1"/>
          </p:cNvSpPr>
          <p:nvPr>
            <p:ph type="title"/>
          </p:nvPr>
        </p:nvSpPr>
        <p:spPr>
          <a:xfrm>
            <a:off x="838203" y="365129"/>
            <a:ext cx="10515600" cy="13255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Play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31"/>
          <p:cNvSpPr txBox="1">
            <a:spLocks noGrp="1"/>
          </p:cNvSpPr>
          <p:nvPr>
            <p:ph type="dt" idx="10"/>
          </p:nvPr>
        </p:nvSpPr>
        <p:spPr>
          <a:xfrm>
            <a:off x="8382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31"/>
          <p:cNvSpPr txBox="1">
            <a:spLocks noGrp="1"/>
          </p:cNvSpPr>
          <p:nvPr>
            <p:ph type="ftr" idx="11"/>
          </p:nvPr>
        </p:nvSpPr>
        <p:spPr>
          <a:xfrm>
            <a:off x="4038603" y="6356351"/>
            <a:ext cx="4114800" cy="365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1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31"/>
          <p:cNvSpPr txBox="1">
            <a:spLocks noGrp="1"/>
          </p:cNvSpPr>
          <p:nvPr>
            <p:ph type="sldNum" idx="12"/>
          </p:nvPr>
        </p:nvSpPr>
        <p:spPr>
          <a:xfrm>
            <a:off x="86106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200" b="0" i="0" u="none" strike="noStrike" cap="none">
              <a:solidFill>
                <a:srgbClr val="767676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устой слайд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32"/>
          <p:cNvSpPr txBox="1">
            <a:spLocks noGrp="1"/>
          </p:cNvSpPr>
          <p:nvPr>
            <p:ph type="dt" idx="10"/>
          </p:nvPr>
        </p:nvSpPr>
        <p:spPr>
          <a:xfrm>
            <a:off x="8382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32"/>
          <p:cNvSpPr txBox="1">
            <a:spLocks noGrp="1"/>
          </p:cNvSpPr>
          <p:nvPr>
            <p:ph type="ftr" idx="11"/>
          </p:nvPr>
        </p:nvSpPr>
        <p:spPr>
          <a:xfrm>
            <a:off x="4038603" y="6356351"/>
            <a:ext cx="4114800" cy="365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1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32"/>
          <p:cNvSpPr txBox="1">
            <a:spLocks noGrp="1"/>
          </p:cNvSpPr>
          <p:nvPr>
            <p:ph type="sldNum" idx="12"/>
          </p:nvPr>
        </p:nvSpPr>
        <p:spPr>
          <a:xfrm>
            <a:off x="86106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200" b="0" i="0" u="none" strike="noStrike" cap="none">
              <a:solidFill>
                <a:srgbClr val="767676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бъект с подписью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3"/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33"/>
          <p:cNvSpPr txBox="1">
            <a:spLocks noGrp="1"/>
          </p:cNvSpPr>
          <p:nvPr>
            <p:ph type="body" idx="1"/>
          </p:nvPr>
        </p:nvSpPr>
        <p:spPr>
          <a:xfrm>
            <a:off x="5183184" y="987423"/>
            <a:ext cx="6172200" cy="4873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000"/>
              <a:buChar char="•"/>
              <a:defRPr sz="2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7" name="Google Shape;57;p33"/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8" name="Google Shape;58;p33"/>
          <p:cNvSpPr txBox="1">
            <a:spLocks noGrp="1"/>
          </p:cNvSpPr>
          <p:nvPr>
            <p:ph type="dt" idx="10"/>
          </p:nvPr>
        </p:nvSpPr>
        <p:spPr>
          <a:xfrm>
            <a:off x="8382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33"/>
          <p:cNvSpPr txBox="1">
            <a:spLocks noGrp="1"/>
          </p:cNvSpPr>
          <p:nvPr>
            <p:ph type="ftr" idx="11"/>
          </p:nvPr>
        </p:nvSpPr>
        <p:spPr>
          <a:xfrm>
            <a:off x="4038603" y="6356351"/>
            <a:ext cx="4114800" cy="365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1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33"/>
          <p:cNvSpPr txBox="1">
            <a:spLocks noGrp="1"/>
          </p:cNvSpPr>
          <p:nvPr>
            <p:ph type="sldNum" idx="12"/>
          </p:nvPr>
        </p:nvSpPr>
        <p:spPr>
          <a:xfrm>
            <a:off x="86106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200" b="0" i="0" u="none" strike="noStrike" cap="none">
              <a:solidFill>
                <a:srgbClr val="767676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исунок с подписью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4"/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34"/>
          <p:cNvSpPr>
            <a:spLocks noGrp="1"/>
          </p:cNvSpPr>
          <p:nvPr>
            <p:ph type="pic" idx="2"/>
          </p:nvPr>
        </p:nvSpPr>
        <p:spPr>
          <a:xfrm>
            <a:off x="5183184" y="987423"/>
            <a:ext cx="6172200" cy="4873623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34"/>
          <p:cNvSpPr txBox="1">
            <a:spLocks noGrp="1"/>
          </p:cNvSpPr>
          <p:nvPr>
            <p:ph type="body" idx="1"/>
          </p:nvPr>
        </p:nvSpPr>
        <p:spPr>
          <a:xfrm>
            <a:off x="839784" y="2057400"/>
            <a:ext cx="3932240" cy="38115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1600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5" name="Google Shape;65;p34"/>
          <p:cNvSpPr txBox="1">
            <a:spLocks noGrp="1"/>
          </p:cNvSpPr>
          <p:nvPr>
            <p:ph type="dt" idx="10"/>
          </p:nvPr>
        </p:nvSpPr>
        <p:spPr>
          <a:xfrm>
            <a:off x="8382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34"/>
          <p:cNvSpPr txBox="1">
            <a:spLocks noGrp="1"/>
          </p:cNvSpPr>
          <p:nvPr>
            <p:ph type="ftr" idx="11"/>
          </p:nvPr>
        </p:nvSpPr>
        <p:spPr>
          <a:xfrm>
            <a:off x="4038603" y="6356351"/>
            <a:ext cx="4114800" cy="365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1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34"/>
          <p:cNvSpPr txBox="1">
            <a:spLocks noGrp="1"/>
          </p:cNvSpPr>
          <p:nvPr>
            <p:ph type="sldNum" idx="12"/>
          </p:nvPr>
        </p:nvSpPr>
        <p:spPr>
          <a:xfrm>
            <a:off x="86106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200" b="0" i="0" u="none" strike="noStrike" cap="none">
              <a:solidFill>
                <a:srgbClr val="767676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и вертикальный текст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5"/>
          <p:cNvSpPr txBox="1">
            <a:spLocks noGrp="1"/>
          </p:cNvSpPr>
          <p:nvPr>
            <p:ph type="title"/>
          </p:nvPr>
        </p:nvSpPr>
        <p:spPr>
          <a:xfrm>
            <a:off x="838203" y="365129"/>
            <a:ext cx="10515600" cy="13255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Play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35"/>
          <p:cNvSpPr txBox="1">
            <a:spLocks noGrp="1"/>
          </p:cNvSpPr>
          <p:nvPr>
            <p:ph type="body" idx="1"/>
          </p:nvPr>
        </p:nvSpPr>
        <p:spPr>
          <a:xfrm rot="5400000">
            <a:off x="3920335" y="-1256505"/>
            <a:ext cx="4351336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Char char="•"/>
              <a:defRPr/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400"/>
              <a:buChar char="•"/>
              <a:defRPr/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0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35"/>
          <p:cNvSpPr txBox="1">
            <a:spLocks noGrp="1"/>
          </p:cNvSpPr>
          <p:nvPr>
            <p:ph type="dt" idx="10"/>
          </p:nvPr>
        </p:nvSpPr>
        <p:spPr>
          <a:xfrm>
            <a:off x="8382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35"/>
          <p:cNvSpPr txBox="1">
            <a:spLocks noGrp="1"/>
          </p:cNvSpPr>
          <p:nvPr>
            <p:ph type="ftr" idx="11"/>
          </p:nvPr>
        </p:nvSpPr>
        <p:spPr>
          <a:xfrm>
            <a:off x="4038603" y="6356351"/>
            <a:ext cx="4114800" cy="365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1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35"/>
          <p:cNvSpPr txBox="1">
            <a:spLocks noGrp="1"/>
          </p:cNvSpPr>
          <p:nvPr>
            <p:ph type="sldNum" idx="12"/>
          </p:nvPr>
        </p:nvSpPr>
        <p:spPr>
          <a:xfrm>
            <a:off x="86106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200" b="0" i="0" u="none" strike="noStrike" cap="none">
              <a:solidFill>
                <a:srgbClr val="767676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ертикальный заголовок и текст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6"/>
          <p:cNvSpPr txBox="1">
            <a:spLocks noGrp="1"/>
          </p:cNvSpPr>
          <p:nvPr>
            <p:ph type="title"/>
          </p:nvPr>
        </p:nvSpPr>
        <p:spPr>
          <a:xfrm rot="5400000">
            <a:off x="7133436" y="1956596"/>
            <a:ext cx="5811834" cy="26288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Play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36"/>
          <p:cNvSpPr txBox="1">
            <a:spLocks noGrp="1"/>
          </p:cNvSpPr>
          <p:nvPr>
            <p:ph type="body" idx="1"/>
          </p:nvPr>
        </p:nvSpPr>
        <p:spPr>
          <a:xfrm rot="5400000">
            <a:off x="1799434" y="-596102"/>
            <a:ext cx="5811834" cy="77342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Char char="•"/>
              <a:defRPr/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400"/>
              <a:buChar char="•"/>
              <a:defRPr/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0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36"/>
          <p:cNvSpPr txBox="1">
            <a:spLocks noGrp="1"/>
          </p:cNvSpPr>
          <p:nvPr>
            <p:ph type="dt" idx="10"/>
          </p:nvPr>
        </p:nvSpPr>
        <p:spPr>
          <a:xfrm>
            <a:off x="8382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36"/>
          <p:cNvSpPr txBox="1">
            <a:spLocks noGrp="1"/>
          </p:cNvSpPr>
          <p:nvPr>
            <p:ph type="ftr" idx="11"/>
          </p:nvPr>
        </p:nvSpPr>
        <p:spPr>
          <a:xfrm>
            <a:off x="4038603" y="6356351"/>
            <a:ext cx="4114800" cy="365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1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36"/>
          <p:cNvSpPr txBox="1">
            <a:spLocks noGrp="1"/>
          </p:cNvSpPr>
          <p:nvPr>
            <p:ph type="sldNum" idx="12"/>
          </p:nvPr>
        </p:nvSpPr>
        <p:spPr>
          <a:xfrm>
            <a:off x="86106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200" b="0" i="0" u="none" strike="noStrike" cap="none">
              <a:solidFill>
                <a:srgbClr val="767676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5"/>
          <p:cNvSpPr txBox="1">
            <a:spLocks noGrp="1"/>
          </p:cNvSpPr>
          <p:nvPr>
            <p:ph type="title"/>
          </p:nvPr>
        </p:nvSpPr>
        <p:spPr>
          <a:xfrm>
            <a:off x="838203" y="365129"/>
            <a:ext cx="10515600" cy="13255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Play"/>
              <a:buNone/>
              <a:defRPr sz="4400" b="0" i="0" u="none" strike="noStrike" cap="none">
                <a:solidFill>
                  <a:srgbClr val="000000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5"/>
          <p:cNvSpPr txBox="1">
            <a:spLocks noGrp="1"/>
          </p:cNvSpPr>
          <p:nvPr>
            <p:ph type="body" idx="1"/>
          </p:nvPr>
        </p:nvSpPr>
        <p:spPr>
          <a:xfrm>
            <a:off x="838203" y="1825627"/>
            <a:ext cx="10515600" cy="4351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5"/>
          <p:cNvSpPr txBox="1">
            <a:spLocks noGrp="1"/>
          </p:cNvSpPr>
          <p:nvPr>
            <p:ph type="dt" idx="10"/>
          </p:nvPr>
        </p:nvSpPr>
        <p:spPr>
          <a:xfrm>
            <a:off x="8382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5"/>
          <p:cNvSpPr txBox="1">
            <a:spLocks noGrp="1"/>
          </p:cNvSpPr>
          <p:nvPr>
            <p:ph type="ftr" idx="11"/>
          </p:nvPr>
        </p:nvSpPr>
        <p:spPr>
          <a:xfrm>
            <a:off x="4038603" y="6356351"/>
            <a:ext cx="4114800" cy="365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1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5"/>
          <p:cNvSpPr txBox="1">
            <a:spLocks noGrp="1"/>
          </p:cNvSpPr>
          <p:nvPr>
            <p:ph type="sldNum" idx="12"/>
          </p:nvPr>
        </p:nvSpPr>
        <p:spPr>
          <a:xfrm>
            <a:off x="86106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67676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85" name="Google Shape;85;p1"/>
          <p:cNvGrpSpPr/>
          <p:nvPr/>
        </p:nvGrpSpPr>
        <p:grpSpPr>
          <a:xfrm>
            <a:off x="710375" y="2762100"/>
            <a:ext cx="1905000" cy="285900"/>
            <a:chOff x="762000" y="4191000"/>
            <a:chExt cx="1905000" cy="285900"/>
          </a:xfrm>
        </p:grpSpPr>
        <p:sp>
          <p:nvSpPr>
            <p:cNvPr id="86" name="Google Shape;86;p1"/>
            <p:cNvSpPr/>
            <p:nvPr/>
          </p:nvSpPr>
          <p:spPr>
            <a:xfrm>
              <a:off x="762000" y="4191000"/>
              <a:ext cx="1905000" cy="95400"/>
            </a:xfrm>
            <a:prstGeom prst="rect">
              <a:avLst/>
            </a:prstGeom>
            <a:solidFill>
              <a:srgbClr val="0F9ED5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1"/>
            <p:cNvSpPr/>
            <p:nvPr/>
          </p:nvSpPr>
          <p:spPr>
            <a:xfrm>
              <a:off x="762000" y="4381500"/>
              <a:ext cx="952500" cy="95400"/>
            </a:xfrm>
            <a:prstGeom prst="rect">
              <a:avLst/>
            </a:prstGeom>
            <a:solidFill>
              <a:srgbClr val="0F9ED5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8" name="Google Shape;88;p1"/>
          <p:cNvGrpSpPr/>
          <p:nvPr/>
        </p:nvGrpSpPr>
        <p:grpSpPr>
          <a:xfrm>
            <a:off x="6000905" y="2859891"/>
            <a:ext cx="5673366" cy="3448517"/>
            <a:chOff x="6477000" y="3048000"/>
            <a:chExt cx="4857750" cy="2952750"/>
          </a:xfrm>
        </p:grpSpPr>
        <p:pic>
          <p:nvPicPr>
            <p:cNvPr id="89" name="Google Shape;89;p1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6477000" y="3048000"/>
              <a:ext cx="4762500" cy="28575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0" name="Google Shape;90;p1"/>
            <p:cNvSpPr/>
            <p:nvPr/>
          </p:nvSpPr>
          <p:spPr>
            <a:xfrm>
              <a:off x="6572250" y="3143250"/>
              <a:ext cx="4762500" cy="2857500"/>
            </a:xfrm>
            <a:prstGeom prst="roundRect">
              <a:avLst>
                <a:gd name="adj" fmla="val 16666"/>
              </a:avLst>
            </a:prstGeom>
            <a:solidFill>
              <a:srgbClr val="000000">
                <a:alpha val="0"/>
              </a:srgbClr>
            </a:solidFill>
            <a:ln w="22250" cap="flat" cmpd="sng">
              <a:solidFill>
                <a:srgbClr val="0F9ED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1" name="Google Shape;91;p1"/>
          <p:cNvSpPr txBox="1">
            <a:spLocks noGrp="1"/>
          </p:cNvSpPr>
          <p:nvPr>
            <p:ph type="ctrTitle"/>
          </p:nvPr>
        </p:nvSpPr>
        <p:spPr>
          <a:xfrm>
            <a:off x="710375" y="190500"/>
            <a:ext cx="8178300" cy="2857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200" b="1" i="0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КЛАССИФИКАЦИЯ ВИДОВ ДЕРЕВЬЕВ НА ОСНОВЕ МАССИВОВ ТОЧЕК LiDAR С ПРИМЕНЕНИЕМ НЕЙРОННЫХ СЕТЕЙ</a:t>
            </a:r>
            <a:endParaRPr sz="4200" b="1" i="0">
              <a:solidFill>
                <a:srgbClr val="FFFFFF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92" name="Google Shape;92;p1"/>
          <p:cNvSpPr txBox="1">
            <a:spLocks noGrp="1"/>
          </p:cNvSpPr>
          <p:nvPr>
            <p:ph type="subTitle" idx="1"/>
          </p:nvPr>
        </p:nvSpPr>
        <p:spPr>
          <a:xfrm>
            <a:off x="762000" y="5057925"/>
            <a:ext cx="5238900" cy="1714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600" b="1" i="0">
                <a:solidFill>
                  <a:srgbClr val="156082"/>
                </a:solidFill>
                <a:latin typeface="Arial"/>
                <a:ea typeface="Arial"/>
                <a:cs typeface="Arial"/>
                <a:sym typeface="Arial"/>
              </a:rPr>
              <a:t>Студенты группы Б9123-02.03.01сцт:</a:t>
            </a:r>
            <a:endParaRPr sz="1600" b="1" i="0">
              <a:solidFill>
                <a:srgbClr val="15608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600" b="0" i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Гречихин Илья Сергеевич</a:t>
            </a:r>
            <a:endParaRPr sz="1600" b="0" i="0">
              <a:solidFill>
                <a:srgbClr val="333333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600" b="0" i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Иванова Ольга Геннадьевна</a:t>
            </a:r>
            <a:endParaRPr sz="1600" b="0" i="0">
              <a:solidFill>
                <a:srgbClr val="333333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600" b="1" i="0">
                <a:solidFill>
                  <a:srgbClr val="156082"/>
                </a:solidFill>
                <a:latin typeface="Arial"/>
                <a:ea typeface="Arial"/>
                <a:cs typeface="Arial"/>
                <a:sym typeface="Arial"/>
              </a:rPr>
              <a:t>Руководитель:</a:t>
            </a:r>
            <a:r>
              <a:rPr lang="en-US" sz="1600" b="0" i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 Амосова Е. В.</a:t>
            </a:r>
            <a:endParaRPr sz="1600" b="0" i="0">
              <a:solidFill>
                <a:srgbClr val="333333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400" b="0" i="0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г. Владивосток, 2026 г.</a:t>
            </a:r>
            <a:endParaRPr sz="1400" b="0" i="0">
              <a:solidFill>
                <a:srgbClr val="666666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7" name="Google Shape;97;g3e47d299208_0_0"/>
          <p:cNvGrpSpPr/>
          <p:nvPr/>
        </p:nvGrpSpPr>
        <p:grpSpPr>
          <a:xfrm>
            <a:off x="640075" y="192419"/>
            <a:ext cx="10909625" cy="1334483"/>
            <a:chOff x="640080" y="90268"/>
            <a:chExt cx="10909625" cy="1814882"/>
          </a:xfrm>
        </p:grpSpPr>
        <p:sp>
          <p:nvSpPr>
            <p:cNvPr id="98" name="Google Shape;98;g3e47d299208_0_0"/>
            <p:cNvSpPr/>
            <p:nvPr/>
          </p:nvSpPr>
          <p:spPr>
            <a:xfrm>
              <a:off x="640080" y="476250"/>
              <a:ext cx="10907400" cy="1428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3200"/>
            </a:p>
          </p:txBody>
        </p:sp>
        <p:sp>
          <p:nvSpPr>
            <p:cNvPr id="99" name="Google Shape;99;g3e47d299208_0_0"/>
            <p:cNvSpPr txBox="1"/>
            <p:nvPr/>
          </p:nvSpPr>
          <p:spPr>
            <a:xfrm>
              <a:off x="642305" y="90268"/>
              <a:ext cx="10907400" cy="1428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-US" sz="3200" b="1">
                  <a:solidFill>
                    <a:schemeClr val="dk1"/>
                  </a:solidFill>
                  <a:latin typeface="Play"/>
                  <a:ea typeface="Play"/>
                  <a:cs typeface="Play"/>
                  <a:sym typeface="Play"/>
                </a:rPr>
                <a:t>Цель и актуальность исследования</a:t>
              </a:r>
              <a:endParaRPr sz="3200" b="1">
                <a:solidFill>
                  <a:srgbClr val="000000"/>
                </a:solidFill>
                <a:latin typeface="Play"/>
                <a:ea typeface="Play"/>
                <a:cs typeface="Play"/>
                <a:sym typeface="Play"/>
              </a:endParaRPr>
            </a:p>
          </p:txBody>
        </p:sp>
      </p:grpSp>
      <p:grpSp>
        <p:nvGrpSpPr>
          <p:cNvPr id="100" name="Google Shape;100;g3e47d299208_0_0"/>
          <p:cNvGrpSpPr/>
          <p:nvPr/>
        </p:nvGrpSpPr>
        <p:grpSpPr>
          <a:xfrm>
            <a:off x="0" y="381000"/>
            <a:ext cx="731573" cy="673500"/>
            <a:chOff x="0" y="381000"/>
            <a:chExt cx="731573" cy="673500"/>
          </a:xfrm>
        </p:grpSpPr>
        <p:sp>
          <p:nvSpPr>
            <p:cNvPr id="101" name="Google Shape;101;g3e47d299208_0_0"/>
            <p:cNvSpPr/>
            <p:nvPr/>
          </p:nvSpPr>
          <p:spPr>
            <a:xfrm>
              <a:off x="0" y="381000"/>
              <a:ext cx="195900" cy="673500"/>
            </a:xfrm>
            <a:prstGeom prst="rect">
              <a:avLst/>
            </a:prstGeom>
            <a:solidFill>
              <a:srgbClr val="0F9ED5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102;g3e47d299208_0_0"/>
            <p:cNvSpPr/>
            <p:nvPr/>
          </p:nvSpPr>
          <p:spPr>
            <a:xfrm>
              <a:off x="267836" y="381000"/>
              <a:ext cx="195900" cy="673500"/>
            </a:xfrm>
            <a:prstGeom prst="rect">
              <a:avLst/>
            </a:prstGeom>
            <a:solidFill>
              <a:srgbClr val="0F9ED5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Google Shape;103;g3e47d299208_0_0"/>
            <p:cNvSpPr/>
            <p:nvPr/>
          </p:nvSpPr>
          <p:spPr>
            <a:xfrm>
              <a:off x="535673" y="381000"/>
              <a:ext cx="195900" cy="673500"/>
            </a:xfrm>
            <a:prstGeom prst="rect">
              <a:avLst/>
            </a:prstGeom>
            <a:solidFill>
              <a:srgbClr val="0F9ED5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104" name="Google Shape;104;g3e47d299208_0_0"/>
          <p:cNvCxnSpPr/>
          <p:nvPr/>
        </p:nvCxnSpPr>
        <p:spPr>
          <a:xfrm rot="10800000">
            <a:off x="838203" y="6485308"/>
            <a:ext cx="10515600" cy="0"/>
          </a:xfrm>
          <a:prstGeom prst="straightConnector1">
            <a:avLst/>
          </a:prstGeom>
          <a:noFill/>
          <a:ln w="57150" cap="flat" cmpd="sng">
            <a:solidFill>
              <a:srgbClr val="0F9ED5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05" name="Google Shape;105;g3e47d299208_0_0"/>
          <p:cNvSpPr/>
          <p:nvPr/>
        </p:nvSpPr>
        <p:spPr>
          <a:xfrm>
            <a:off x="4949700" y="1995250"/>
            <a:ext cx="6404100" cy="3373500"/>
          </a:xfrm>
          <a:prstGeom prst="roundRect">
            <a:avLst>
              <a:gd name="adj" fmla="val 2631"/>
            </a:avLst>
          </a:prstGeom>
          <a:solidFill>
            <a:srgbClr val="F8FAFC"/>
          </a:solidFill>
          <a:ln w="9525" cap="flat" cmpd="sng">
            <a:solidFill>
              <a:srgbClr val="0F9ED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g3e47d299208_0_0"/>
          <p:cNvSpPr txBox="1"/>
          <p:nvPr/>
        </p:nvSpPr>
        <p:spPr>
          <a:xfrm>
            <a:off x="5056050" y="2271900"/>
            <a:ext cx="6191400" cy="30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/>
              <a:t>Цель исследования:</a:t>
            </a:r>
            <a:r>
              <a:rPr lang="en-US" sz="1600"/>
              <a:t> адаптация и обучение алгоритмов машинного и глубокого обучения для автоматической классификации видов деревьев на основе трехмерных облаков точек лазерного сканирования.</a:t>
            </a:r>
            <a:endParaRPr sz="1600"/>
          </a:p>
          <a:p>
            <a:pPr marL="0" lvl="0" indent="0" algn="l" rtl="0">
              <a:spcBef>
                <a:spcPts val="1125"/>
              </a:spcBef>
              <a:spcAft>
                <a:spcPts val="1125"/>
              </a:spcAft>
              <a:buNone/>
            </a:pPr>
            <a:r>
              <a:rPr lang="en-US" sz="1600" b="1"/>
              <a:t>Актуальность исследования:</a:t>
            </a:r>
            <a:r>
              <a:rPr lang="en-US" sz="1600"/>
              <a:t> Мониторинг обширных и труднодоступных лесов – сложная, но важная задача. Традиционная наземная оценка лесов требует слишком много времени и человеческих ресурсов. Съемка с обычных камер или спутников также имеет ограничения: она показывает только верхнюю часть крон и не всегда позволяет точно определить породу дерева.</a:t>
            </a:r>
            <a:endParaRPr sz="1600"/>
          </a:p>
        </p:txBody>
      </p:sp>
      <p:grpSp>
        <p:nvGrpSpPr>
          <p:cNvPr id="107" name="Google Shape;107;g3e47d299208_0_0"/>
          <p:cNvGrpSpPr/>
          <p:nvPr/>
        </p:nvGrpSpPr>
        <p:grpSpPr>
          <a:xfrm>
            <a:off x="430481" y="2199380"/>
            <a:ext cx="4362168" cy="2940380"/>
            <a:chOff x="7162800" y="2176655"/>
            <a:chExt cx="4362168" cy="2940380"/>
          </a:xfrm>
        </p:grpSpPr>
        <p:pic>
          <p:nvPicPr>
            <p:cNvPr id="108" name="Google Shape;108;g3e47d299208_0_0"/>
            <p:cNvPicPr preferRelativeResize="0"/>
            <p:nvPr/>
          </p:nvPicPr>
          <p:blipFill rotWithShape="1">
            <a:blip r:embed="rId4">
              <a:alphaModFix/>
            </a:blip>
            <a:srcRect l="7813" r="7813"/>
            <a:stretch/>
          </p:blipFill>
          <p:spPr>
            <a:xfrm>
              <a:off x="7162800" y="2176655"/>
              <a:ext cx="4286400" cy="2857500"/>
            </a:xfrm>
            <a:prstGeom prst="roundRect">
              <a:avLst>
                <a:gd name="adj" fmla="val 10000"/>
              </a:avLst>
            </a:prstGeom>
            <a:noFill/>
            <a:ln>
              <a:noFill/>
            </a:ln>
          </p:spPr>
        </p:pic>
        <p:sp>
          <p:nvSpPr>
            <p:cNvPr id="109" name="Google Shape;109;g3e47d299208_0_0"/>
            <p:cNvSpPr/>
            <p:nvPr/>
          </p:nvSpPr>
          <p:spPr>
            <a:xfrm>
              <a:off x="7238568" y="2259535"/>
              <a:ext cx="4286400" cy="2857500"/>
            </a:xfrm>
            <a:prstGeom prst="roundRect">
              <a:avLst>
                <a:gd name="adj" fmla="val 10000"/>
              </a:avLst>
            </a:prstGeom>
            <a:solidFill>
              <a:srgbClr val="000000">
                <a:alpha val="0"/>
              </a:srgbClr>
            </a:solidFill>
            <a:ln w="19050" cap="flat" cmpd="sng">
              <a:solidFill>
                <a:srgbClr val="0F9ED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"/>
          <p:cNvSpPr/>
          <p:nvPr/>
        </p:nvSpPr>
        <p:spPr>
          <a:xfrm>
            <a:off x="640075" y="2036625"/>
            <a:ext cx="6404100" cy="3373500"/>
          </a:xfrm>
          <a:prstGeom prst="roundRect">
            <a:avLst>
              <a:gd name="adj" fmla="val 2631"/>
            </a:avLst>
          </a:prstGeom>
          <a:solidFill>
            <a:srgbClr val="F8FAFC"/>
          </a:solidFill>
          <a:ln w="9525" cap="flat" cmpd="sng">
            <a:solidFill>
              <a:srgbClr val="0F9ED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5" name="Google Shape;115;p2"/>
          <p:cNvGrpSpPr/>
          <p:nvPr/>
        </p:nvGrpSpPr>
        <p:grpSpPr>
          <a:xfrm>
            <a:off x="640075" y="192419"/>
            <a:ext cx="10909625" cy="1334483"/>
            <a:chOff x="640080" y="90268"/>
            <a:chExt cx="10909625" cy="1814882"/>
          </a:xfrm>
        </p:grpSpPr>
        <p:sp>
          <p:nvSpPr>
            <p:cNvPr id="116" name="Google Shape;116;p2"/>
            <p:cNvSpPr/>
            <p:nvPr/>
          </p:nvSpPr>
          <p:spPr>
            <a:xfrm>
              <a:off x="640080" y="476250"/>
              <a:ext cx="10907400" cy="1428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3200"/>
            </a:p>
          </p:txBody>
        </p:sp>
        <p:sp>
          <p:nvSpPr>
            <p:cNvPr id="117" name="Google Shape;117;p2"/>
            <p:cNvSpPr txBox="1"/>
            <p:nvPr/>
          </p:nvSpPr>
          <p:spPr>
            <a:xfrm>
              <a:off x="642305" y="90268"/>
              <a:ext cx="10907400" cy="1428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200" b="1">
                  <a:latin typeface="Play"/>
                  <a:ea typeface="Play"/>
                  <a:cs typeface="Play"/>
                  <a:sym typeface="Play"/>
                </a:rPr>
                <a:t>Цель и актуальность исследования</a:t>
              </a:r>
              <a:endParaRPr sz="3200" b="1">
                <a:solidFill>
                  <a:srgbClr val="000000"/>
                </a:solidFill>
                <a:latin typeface="Play"/>
                <a:ea typeface="Play"/>
                <a:cs typeface="Play"/>
                <a:sym typeface="Play"/>
              </a:endParaRPr>
            </a:p>
          </p:txBody>
        </p:sp>
      </p:grpSp>
      <p:sp>
        <p:nvSpPr>
          <p:cNvPr id="118" name="Google Shape;118;p2"/>
          <p:cNvSpPr txBox="1"/>
          <p:nvPr/>
        </p:nvSpPr>
        <p:spPr>
          <a:xfrm>
            <a:off x="746425" y="2313275"/>
            <a:ext cx="6191400" cy="30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/>
              <a:t>В связи с вышесказанным лесному хозяйству нужны новые методы. Эту проблему успешно решает технология лазерного сканирования LiDAR. Она создает детализированные трехмерные копии деревьев в виде облаков точек, которые повторяют уникальную форму стволов и ветвей.</a:t>
            </a:r>
            <a:endParaRPr sz="1600"/>
          </a:p>
          <a:p>
            <a:pPr marL="0" lvl="0" indent="0" algn="l" rtl="0">
              <a:spcBef>
                <a:spcPts val="1125"/>
              </a:spcBef>
              <a:spcAft>
                <a:spcPts val="1125"/>
              </a:spcAft>
              <a:buNone/>
            </a:pPr>
            <a:r>
              <a:rPr lang="en-US" sz="1600"/>
              <a:t>Чтобы не анализировать такие огромные массивы 3D-данных вручную, в данной работе применяются современные нейронные сети. Они позволяют автоматизировать процесс и с высокой точностью распознавать виды деревьев, что необходимо для грамотного и оперативного управления лесными ресурсами.</a:t>
            </a:r>
            <a:endParaRPr sz="1600"/>
          </a:p>
        </p:txBody>
      </p:sp>
      <p:grpSp>
        <p:nvGrpSpPr>
          <p:cNvPr id="119" name="Google Shape;119;p2"/>
          <p:cNvGrpSpPr/>
          <p:nvPr/>
        </p:nvGrpSpPr>
        <p:grpSpPr>
          <a:xfrm>
            <a:off x="0" y="381000"/>
            <a:ext cx="731573" cy="673500"/>
            <a:chOff x="0" y="381000"/>
            <a:chExt cx="731573" cy="673500"/>
          </a:xfrm>
        </p:grpSpPr>
        <p:sp>
          <p:nvSpPr>
            <p:cNvPr id="120" name="Google Shape;120;p2"/>
            <p:cNvSpPr/>
            <p:nvPr/>
          </p:nvSpPr>
          <p:spPr>
            <a:xfrm>
              <a:off x="0" y="381000"/>
              <a:ext cx="195900" cy="673500"/>
            </a:xfrm>
            <a:prstGeom prst="rect">
              <a:avLst/>
            </a:prstGeom>
            <a:solidFill>
              <a:srgbClr val="0F9ED5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Google Shape;121;p2"/>
            <p:cNvSpPr/>
            <p:nvPr/>
          </p:nvSpPr>
          <p:spPr>
            <a:xfrm>
              <a:off x="267836" y="381000"/>
              <a:ext cx="195900" cy="673500"/>
            </a:xfrm>
            <a:prstGeom prst="rect">
              <a:avLst/>
            </a:prstGeom>
            <a:solidFill>
              <a:srgbClr val="0F9ED5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Google Shape;122;p2"/>
            <p:cNvSpPr/>
            <p:nvPr/>
          </p:nvSpPr>
          <p:spPr>
            <a:xfrm>
              <a:off x="535673" y="381000"/>
              <a:ext cx="195900" cy="673500"/>
            </a:xfrm>
            <a:prstGeom prst="rect">
              <a:avLst/>
            </a:prstGeom>
            <a:solidFill>
              <a:srgbClr val="0F9ED5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123" name="Google Shape;123;p2"/>
          <p:cNvCxnSpPr/>
          <p:nvPr/>
        </p:nvCxnSpPr>
        <p:spPr>
          <a:xfrm rot="10800000">
            <a:off x="838203" y="6485308"/>
            <a:ext cx="10515600" cy="0"/>
          </a:xfrm>
          <a:prstGeom prst="straightConnector1">
            <a:avLst/>
          </a:prstGeom>
          <a:noFill/>
          <a:ln w="57150" cap="flat" cmpd="sng">
            <a:solidFill>
              <a:srgbClr val="0F9ED5"/>
            </a:solidFill>
            <a:prstDash val="solid"/>
            <a:miter lim="8000"/>
            <a:headEnd type="none" w="sm" len="sm"/>
            <a:tailEnd type="none" w="sm" len="sm"/>
          </a:ln>
        </p:spPr>
      </p:cxnSp>
      <p:grpSp>
        <p:nvGrpSpPr>
          <p:cNvPr id="124" name="Google Shape;124;p2"/>
          <p:cNvGrpSpPr/>
          <p:nvPr/>
        </p:nvGrpSpPr>
        <p:grpSpPr>
          <a:xfrm>
            <a:off x="7345898" y="2189150"/>
            <a:ext cx="4378874" cy="2940250"/>
            <a:chOff x="7143750" y="2381250"/>
            <a:chExt cx="4378874" cy="2940250"/>
          </a:xfrm>
        </p:grpSpPr>
        <p:pic>
          <p:nvPicPr>
            <p:cNvPr id="125" name="Google Shape;125;p2" descr="A high-tech visualization of a 3D LiDAR point cloud scan of a dense forest in the Russian Far East, showing detailed tree structures in neon green and blue against a dark background, professional scientific aesthetic."/>
            <p:cNvPicPr preferRelativeResize="0"/>
            <p:nvPr/>
          </p:nvPicPr>
          <p:blipFill rotWithShape="1">
            <a:blip r:embed="rId4">
              <a:alphaModFix/>
            </a:blip>
            <a:srcRect t="16667" b="16667"/>
            <a:stretch/>
          </p:blipFill>
          <p:spPr>
            <a:xfrm>
              <a:off x="7143750" y="2381250"/>
              <a:ext cx="4286400" cy="2857500"/>
            </a:xfrm>
            <a:prstGeom prst="roundRect">
              <a:avLst>
                <a:gd name="adj" fmla="val 10000"/>
              </a:avLst>
            </a:prstGeom>
            <a:noFill/>
            <a:ln>
              <a:noFill/>
            </a:ln>
          </p:spPr>
        </p:pic>
        <p:sp>
          <p:nvSpPr>
            <p:cNvPr id="126" name="Google Shape;126;p2"/>
            <p:cNvSpPr/>
            <p:nvPr/>
          </p:nvSpPr>
          <p:spPr>
            <a:xfrm>
              <a:off x="7236224" y="2464000"/>
              <a:ext cx="4286400" cy="2857500"/>
            </a:xfrm>
            <a:prstGeom prst="roundRect">
              <a:avLst>
                <a:gd name="adj" fmla="val 10000"/>
              </a:avLst>
            </a:prstGeom>
            <a:solidFill>
              <a:srgbClr val="000000">
                <a:alpha val="0"/>
              </a:srgbClr>
            </a:solidFill>
            <a:ln w="19050" cap="flat" cmpd="sng">
              <a:solidFill>
                <a:srgbClr val="0F9ED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3"/>
          <p:cNvSpPr txBox="1">
            <a:spLocks noGrp="1"/>
          </p:cNvSpPr>
          <p:nvPr>
            <p:ph type="title"/>
          </p:nvPr>
        </p:nvSpPr>
        <p:spPr>
          <a:xfrm>
            <a:off x="1031235" y="393602"/>
            <a:ext cx="9942600" cy="648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91400" tIns="45700" rIns="91400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Задачи </a:t>
            </a:r>
            <a:r>
              <a:rPr lang="en-US" sz="3200" b="1">
                <a:latin typeface="Arial"/>
                <a:ea typeface="Arial"/>
                <a:cs typeface="Arial"/>
                <a:sym typeface="Arial"/>
              </a:rPr>
              <a:t>и</a:t>
            </a:r>
            <a:r>
              <a:rPr lang="en-US" sz="3200" b="1" i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сследования</a:t>
            </a:r>
            <a:endParaRPr sz="3200" b="1" i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32" name="Google Shape;132;p3"/>
          <p:cNvGrpSpPr/>
          <p:nvPr/>
        </p:nvGrpSpPr>
        <p:grpSpPr>
          <a:xfrm>
            <a:off x="762000" y="1524000"/>
            <a:ext cx="10668000" cy="2286000"/>
            <a:chOff x="762000" y="1524000"/>
            <a:chExt cx="10668000" cy="2286000"/>
          </a:xfrm>
        </p:grpSpPr>
        <p:sp>
          <p:nvSpPr>
            <p:cNvPr id="133" name="Google Shape;133;p3"/>
            <p:cNvSpPr/>
            <p:nvPr/>
          </p:nvSpPr>
          <p:spPr>
            <a:xfrm>
              <a:off x="762000" y="1524000"/>
              <a:ext cx="10668000" cy="2286000"/>
            </a:xfrm>
            <a:prstGeom prst="roundRect">
              <a:avLst>
                <a:gd name="adj" fmla="val 4166"/>
              </a:avLst>
            </a:prstGeom>
            <a:solidFill>
              <a:srgbClr val="F8FAFC"/>
            </a:solidFill>
            <a:ln w="9525" cap="flat" cmpd="sng">
              <a:solidFill>
                <a:srgbClr val="0F9ED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Google Shape;134;p3"/>
            <p:cNvSpPr txBox="1"/>
            <p:nvPr/>
          </p:nvSpPr>
          <p:spPr>
            <a:xfrm>
              <a:off x="952500" y="1619250"/>
              <a:ext cx="102870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rgbClr val="0F9ED5"/>
                  </a:solidFill>
                  <a:latin typeface="Arial"/>
                  <a:ea typeface="Arial"/>
                  <a:cs typeface="Arial"/>
                  <a:sym typeface="Arial"/>
                </a:rPr>
                <a:t>Задачи:</a:t>
              </a:r>
              <a:endParaRPr sz="1600" b="1">
                <a:solidFill>
                  <a:srgbClr val="0F9ED5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marL="457200" lvl="0" indent="-330200" algn="l" rtl="0">
                <a:spcBef>
                  <a:spcPts val="750"/>
                </a:spcBef>
                <a:spcAft>
                  <a:spcPts val="0"/>
                </a:spcAft>
                <a:buClr>
                  <a:srgbClr val="333333"/>
                </a:buClr>
                <a:buSzPts val="1600"/>
                <a:buFont typeface="Arial"/>
                <a:buChar char="●"/>
              </a:pPr>
              <a:r>
                <a:rPr lang="en-US" sz="1600">
                  <a:solidFill>
                    <a:srgbClr val="333333"/>
                  </a:solidFill>
                  <a:latin typeface="Arial"/>
                  <a:ea typeface="Arial"/>
                  <a:cs typeface="Arial"/>
                  <a:sym typeface="Arial"/>
                </a:rPr>
                <a:t>1) Подготовить размеченную выборку облаков точек отдельных деревьев для выбранных видов.</a:t>
              </a:r>
              <a:endParaRPr sz="160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marL="457200" lvl="0" indent="-330200" algn="l" rtl="0">
                <a:spcBef>
                  <a:spcPts val="600"/>
                </a:spcBef>
                <a:spcAft>
                  <a:spcPts val="0"/>
                </a:spcAft>
                <a:buClr>
                  <a:srgbClr val="333333"/>
                </a:buClr>
                <a:buSzPts val="1600"/>
                <a:buFont typeface="Arial"/>
                <a:buChar char="●"/>
              </a:pPr>
              <a:r>
                <a:rPr lang="en-US" sz="1600">
                  <a:solidFill>
                    <a:srgbClr val="333333"/>
                  </a:solidFill>
                  <a:latin typeface="Arial"/>
                  <a:ea typeface="Arial"/>
                  <a:cs typeface="Arial"/>
                  <a:sym typeface="Arial"/>
                </a:rPr>
                <a:t>2) Адаптировать и обучить модели классификации, опирающиеся как на классическое машинное обучение, так и на глубокие нейронные сети.</a:t>
              </a:r>
              <a:endParaRPr sz="160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marL="457200" lvl="0" indent="-330200" algn="l" rtl="0">
                <a:spcBef>
                  <a:spcPts val="600"/>
                </a:spcBef>
                <a:spcAft>
                  <a:spcPts val="600"/>
                </a:spcAft>
                <a:buClr>
                  <a:srgbClr val="333333"/>
                </a:buClr>
                <a:buSzPts val="1600"/>
                <a:buFont typeface="Arial"/>
                <a:buChar char="●"/>
              </a:pPr>
              <a:r>
                <a:rPr lang="en-US" sz="1600">
                  <a:solidFill>
                    <a:srgbClr val="333333"/>
                  </a:solidFill>
                  <a:latin typeface="Arial"/>
                  <a:ea typeface="Arial"/>
                  <a:cs typeface="Arial"/>
                  <a:sym typeface="Arial"/>
                </a:rPr>
                <a:t>3) Сравнить результаты качества категоризации у различных нейросетевых моделей и выделить наиболее подходящую.</a:t>
              </a:r>
              <a:endParaRPr sz="160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135" name="Google Shape;135;p3"/>
          <p:cNvCxnSpPr/>
          <p:nvPr/>
        </p:nvCxnSpPr>
        <p:spPr>
          <a:xfrm rot="10800000">
            <a:off x="838203" y="6485308"/>
            <a:ext cx="10515600" cy="0"/>
          </a:xfrm>
          <a:prstGeom prst="straightConnector1">
            <a:avLst/>
          </a:prstGeom>
          <a:noFill/>
          <a:ln w="57150" cap="flat" cmpd="sng">
            <a:solidFill>
              <a:srgbClr val="0F9ED5"/>
            </a:solidFill>
            <a:prstDash val="solid"/>
            <a:miter lim="8000"/>
            <a:headEnd type="none" w="sm" len="sm"/>
            <a:tailEnd type="none" w="sm" len="sm"/>
          </a:ln>
        </p:spPr>
      </p:cxnSp>
      <p:grpSp>
        <p:nvGrpSpPr>
          <p:cNvPr id="136" name="Google Shape;136;p3"/>
          <p:cNvGrpSpPr/>
          <p:nvPr/>
        </p:nvGrpSpPr>
        <p:grpSpPr>
          <a:xfrm>
            <a:off x="762000" y="4000500"/>
            <a:ext cx="5238900" cy="1333500"/>
            <a:chOff x="762000" y="4000500"/>
            <a:chExt cx="5238900" cy="1333500"/>
          </a:xfrm>
        </p:grpSpPr>
        <p:sp>
          <p:nvSpPr>
            <p:cNvPr id="137" name="Google Shape;137;p3"/>
            <p:cNvSpPr/>
            <p:nvPr/>
          </p:nvSpPr>
          <p:spPr>
            <a:xfrm>
              <a:off x="762000" y="4000500"/>
              <a:ext cx="5238900" cy="1333500"/>
            </a:xfrm>
            <a:prstGeom prst="roundRect">
              <a:avLst>
                <a:gd name="adj" fmla="val 7142"/>
              </a:avLst>
            </a:prstGeom>
            <a:solidFill>
              <a:srgbClr val="F8FAFC"/>
            </a:solidFill>
            <a:ln w="9525" cap="flat" cmpd="sng">
              <a:solidFill>
                <a:srgbClr val="0F9ED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Google Shape;138;p3"/>
            <p:cNvSpPr txBox="1"/>
            <p:nvPr/>
          </p:nvSpPr>
          <p:spPr>
            <a:xfrm>
              <a:off x="952500" y="4143375"/>
              <a:ext cx="4857900" cy="104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rgbClr val="0F9ED5"/>
                  </a:solidFill>
                  <a:latin typeface="Arial"/>
                  <a:ea typeface="Arial"/>
                  <a:cs typeface="Arial"/>
                  <a:sym typeface="Arial"/>
                </a:rPr>
                <a:t>Объект исследования:</a:t>
              </a:r>
              <a:endParaRPr sz="1600" b="1">
                <a:solidFill>
                  <a:srgbClr val="0F9ED5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marL="0" lvl="0" indent="0" algn="l" rtl="0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333333"/>
                  </a:solidFill>
                  <a:latin typeface="Arial"/>
                  <a:ea typeface="Arial"/>
                  <a:cs typeface="Arial"/>
                  <a:sym typeface="Arial"/>
                </a:rPr>
                <a:t>Тр</a:t>
              </a:r>
              <a:r>
                <a:rPr lang="en-US" sz="1600">
                  <a:solidFill>
                    <a:srgbClr val="333333"/>
                  </a:solidFill>
                </a:rPr>
                <a:t>ё</a:t>
              </a:r>
              <a:r>
                <a:rPr lang="en-US" sz="1600">
                  <a:solidFill>
                    <a:srgbClr val="333333"/>
                  </a:solidFill>
                  <a:latin typeface="Arial"/>
                  <a:ea typeface="Arial"/>
                  <a:cs typeface="Arial"/>
                  <a:sym typeface="Arial"/>
                </a:rPr>
                <a:t>хмерные массивы точек лазерного сканирования лесных массивов.</a:t>
              </a:r>
              <a:endParaRPr sz="160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39" name="Google Shape;139;p3"/>
          <p:cNvGrpSpPr/>
          <p:nvPr/>
        </p:nvGrpSpPr>
        <p:grpSpPr>
          <a:xfrm>
            <a:off x="6191250" y="4000500"/>
            <a:ext cx="5238900" cy="1333500"/>
            <a:chOff x="6191250" y="4000500"/>
            <a:chExt cx="5238900" cy="1333500"/>
          </a:xfrm>
        </p:grpSpPr>
        <p:sp>
          <p:nvSpPr>
            <p:cNvPr id="140" name="Google Shape;140;p3"/>
            <p:cNvSpPr/>
            <p:nvPr/>
          </p:nvSpPr>
          <p:spPr>
            <a:xfrm>
              <a:off x="6191250" y="4000500"/>
              <a:ext cx="5238900" cy="1333500"/>
            </a:xfrm>
            <a:prstGeom prst="roundRect">
              <a:avLst>
                <a:gd name="adj" fmla="val 7142"/>
              </a:avLst>
            </a:prstGeom>
            <a:solidFill>
              <a:srgbClr val="F8FAFC"/>
            </a:solidFill>
            <a:ln w="9525" cap="flat" cmpd="sng">
              <a:solidFill>
                <a:srgbClr val="0F9ED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" name="Google Shape;141;p3"/>
            <p:cNvSpPr txBox="1"/>
            <p:nvPr/>
          </p:nvSpPr>
          <p:spPr>
            <a:xfrm>
              <a:off x="6381750" y="4143375"/>
              <a:ext cx="4857900" cy="1047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rgbClr val="0F9ED5"/>
                  </a:solidFill>
                  <a:latin typeface="Arial"/>
                  <a:ea typeface="Arial"/>
                  <a:cs typeface="Arial"/>
                  <a:sym typeface="Arial"/>
                </a:rPr>
                <a:t>Предмет исследования:</a:t>
              </a:r>
              <a:endParaRPr sz="1600" b="1">
                <a:solidFill>
                  <a:srgbClr val="0F9ED5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marL="0" lvl="0" indent="0" algn="l" rtl="0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333333"/>
                  </a:solidFill>
                  <a:latin typeface="Arial"/>
                  <a:ea typeface="Arial"/>
                  <a:cs typeface="Arial"/>
                  <a:sym typeface="Arial"/>
                </a:rPr>
                <a:t>Нейросетевые методы и архитектуры для классификации видов деревьев по трёхмерным облакам точек.</a:t>
              </a:r>
              <a:endParaRPr sz="160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42" name="Google Shape;142;p3"/>
          <p:cNvGrpSpPr/>
          <p:nvPr/>
        </p:nvGrpSpPr>
        <p:grpSpPr>
          <a:xfrm>
            <a:off x="0" y="381000"/>
            <a:ext cx="731573" cy="673500"/>
            <a:chOff x="0" y="381000"/>
            <a:chExt cx="731573" cy="673500"/>
          </a:xfrm>
        </p:grpSpPr>
        <p:sp>
          <p:nvSpPr>
            <p:cNvPr id="143" name="Google Shape;143;p3"/>
            <p:cNvSpPr/>
            <p:nvPr/>
          </p:nvSpPr>
          <p:spPr>
            <a:xfrm>
              <a:off x="0" y="381000"/>
              <a:ext cx="195900" cy="673500"/>
            </a:xfrm>
            <a:prstGeom prst="rect">
              <a:avLst/>
            </a:prstGeom>
            <a:solidFill>
              <a:srgbClr val="0F9ED5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Google Shape;144;p3"/>
            <p:cNvSpPr/>
            <p:nvPr/>
          </p:nvSpPr>
          <p:spPr>
            <a:xfrm>
              <a:off x="267836" y="381000"/>
              <a:ext cx="195900" cy="673500"/>
            </a:xfrm>
            <a:prstGeom prst="rect">
              <a:avLst/>
            </a:prstGeom>
            <a:solidFill>
              <a:srgbClr val="0F9ED5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Google Shape;145;p3"/>
            <p:cNvSpPr/>
            <p:nvPr/>
          </p:nvSpPr>
          <p:spPr>
            <a:xfrm>
              <a:off x="535673" y="381000"/>
              <a:ext cx="195900" cy="673500"/>
            </a:xfrm>
            <a:prstGeom prst="rect">
              <a:avLst/>
            </a:prstGeom>
            <a:solidFill>
              <a:srgbClr val="0F9ED5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0" name="Google Shape;150;p5"/>
          <p:cNvGrpSpPr/>
          <p:nvPr/>
        </p:nvGrpSpPr>
        <p:grpSpPr>
          <a:xfrm>
            <a:off x="0" y="381000"/>
            <a:ext cx="11239500" cy="673500"/>
            <a:chOff x="0" y="381000"/>
            <a:chExt cx="11239500" cy="673500"/>
          </a:xfrm>
        </p:grpSpPr>
        <p:sp>
          <p:nvSpPr>
            <p:cNvPr id="151" name="Google Shape;151;p5"/>
            <p:cNvSpPr/>
            <p:nvPr/>
          </p:nvSpPr>
          <p:spPr>
            <a:xfrm>
              <a:off x="0" y="381000"/>
              <a:ext cx="195900" cy="673500"/>
            </a:xfrm>
            <a:prstGeom prst="rect">
              <a:avLst/>
            </a:prstGeom>
            <a:solidFill>
              <a:srgbClr val="0F9ED5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" name="Google Shape;152;p5"/>
            <p:cNvSpPr/>
            <p:nvPr/>
          </p:nvSpPr>
          <p:spPr>
            <a:xfrm>
              <a:off x="267836" y="381000"/>
              <a:ext cx="195900" cy="673500"/>
            </a:xfrm>
            <a:prstGeom prst="rect">
              <a:avLst/>
            </a:prstGeom>
            <a:solidFill>
              <a:srgbClr val="0F9ED5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Google Shape;153;p5"/>
            <p:cNvSpPr/>
            <p:nvPr/>
          </p:nvSpPr>
          <p:spPr>
            <a:xfrm>
              <a:off x="535673" y="381000"/>
              <a:ext cx="195900" cy="673500"/>
            </a:xfrm>
            <a:prstGeom prst="rect">
              <a:avLst/>
            </a:prstGeom>
            <a:solidFill>
              <a:srgbClr val="0F9ED5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Google Shape;154;p5"/>
            <p:cNvSpPr txBox="1"/>
            <p:nvPr/>
          </p:nvSpPr>
          <p:spPr>
            <a:xfrm>
              <a:off x="952500" y="381000"/>
              <a:ext cx="10287000" cy="673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200" b="1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Особенности и ограничения LiDAR-данных</a:t>
              </a:r>
              <a:endParaRPr sz="32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55" name="Google Shape;155;p5"/>
          <p:cNvGrpSpPr/>
          <p:nvPr/>
        </p:nvGrpSpPr>
        <p:grpSpPr>
          <a:xfrm>
            <a:off x="762000" y="1183806"/>
            <a:ext cx="6667500" cy="4993996"/>
            <a:chOff x="762000" y="1333500"/>
            <a:chExt cx="6667500" cy="4572000"/>
          </a:xfrm>
        </p:grpSpPr>
        <p:sp>
          <p:nvSpPr>
            <p:cNvPr id="156" name="Google Shape;156;p5"/>
            <p:cNvSpPr/>
            <p:nvPr/>
          </p:nvSpPr>
          <p:spPr>
            <a:xfrm>
              <a:off x="762000" y="1333500"/>
              <a:ext cx="6667500" cy="4572000"/>
            </a:xfrm>
            <a:prstGeom prst="roundRect">
              <a:avLst>
                <a:gd name="adj" fmla="val 2083"/>
              </a:avLst>
            </a:prstGeom>
            <a:solidFill>
              <a:srgbClr val="F8FAFC"/>
            </a:solidFill>
            <a:ln w="9525" cap="flat" cmpd="sng">
              <a:solidFill>
                <a:srgbClr val="0F9ED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" name="Google Shape;157;p5"/>
            <p:cNvSpPr txBox="1"/>
            <p:nvPr/>
          </p:nvSpPr>
          <p:spPr>
            <a:xfrm>
              <a:off x="952500" y="1524000"/>
              <a:ext cx="6286500" cy="419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rgbClr val="0F9ED5"/>
                  </a:solidFill>
                  <a:latin typeface="Arial"/>
                  <a:ea typeface="Arial"/>
                  <a:cs typeface="Arial"/>
                  <a:sym typeface="Arial"/>
                </a:rPr>
                <a:t>Специфика формата LAS/LAZ</a:t>
              </a:r>
              <a:endParaRPr sz="1600" b="1">
                <a:solidFill>
                  <a:srgbClr val="0F9ED5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333333"/>
                  </a:solidFill>
                  <a:latin typeface="Arial"/>
                  <a:ea typeface="Arial"/>
                  <a:cs typeface="Arial"/>
                  <a:sym typeface="Arial"/>
                </a:rPr>
                <a:t>Результатом сканирования является неструктурированное облако точек. Каждая точка описывается вектором атрибутов: координатами (X, Y, Z), интенсивностью, параметрами возврата и кодом классификации.</a:t>
              </a:r>
              <a:endParaRPr sz="160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marL="0" lvl="0" indent="0" algn="l" rtl="0">
                <a:spcBef>
                  <a:spcPts val="150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rgbClr val="0F9ED5"/>
                  </a:solidFill>
                  <a:latin typeface="Arial"/>
                  <a:ea typeface="Arial"/>
                  <a:cs typeface="Arial"/>
                  <a:sym typeface="Arial"/>
                </a:rPr>
                <a:t>Фундаментальные ограничения:</a:t>
              </a:r>
              <a:endParaRPr sz="1600" b="1">
                <a:solidFill>
                  <a:srgbClr val="0F9ED5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marL="457200" lvl="0" indent="-330200" algn="l" rtl="0">
                <a:spcBef>
                  <a:spcPts val="900"/>
                </a:spcBef>
                <a:spcAft>
                  <a:spcPts val="0"/>
                </a:spcAft>
                <a:buClr>
                  <a:srgbClr val="333333"/>
                </a:buClr>
                <a:buSzPts val="1600"/>
                <a:buFont typeface="Arial"/>
                <a:buChar char="●"/>
              </a:pPr>
              <a:r>
                <a:rPr lang="en-US" sz="1600" b="1">
                  <a:solidFill>
                    <a:srgbClr val="333333"/>
                  </a:solidFill>
                  <a:latin typeface="Arial"/>
                  <a:ea typeface="Arial"/>
                  <a:cs typeface="Arial"/>
                  <a:sym typeface="Arial"/>
                </a:rPr>
                <a:t>Инвариантность:</a:t>
              </a:r>
              <a:r>
                <a:rPr lang="en-US" sz="1600">
                  <a:solidFill>
                    <a:srgbClr val="333333"/>
                  </a:solidFill>
                  <a:latin typeface="Arial"/>
                  <a:ea typeface="Arial"/>
                  <a:cs typeface="Arial"/>
                  <a:sym typeface="Arial"/>
                </a:rPr>
                <a:t> точки не имеют порядка; алгоритм должен распознавать объект независимо от последовательности данных.</a:t>
              </a:r>
              <a:endParaRPr sz="160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marL="457200" lvl="0" indent="-330200" algn="l" rtl="0">
                <a:spcBef>
                  <a:spcPts val="750"/>
                </a:spcBef>
                <a:spcAft>
                  <a:spcPts val="0"/>
                </a:spcAft>
                <a:buClr>
                  <a:srgbClr val="333333"/>
                </a:buClr>
                <a:buSzPts val="1600"/>
                <a:buFont typeface="Arial"/>
                <a:buChar char="●"/>
              </a:pPr>
              <a:r>
                <a:rPr lang="en-US" sz="1600" b="1">
                  <a:solidFill>
                    <a:srgbClr val="333333"/>
                  </a:solidFill>
                  <a:latin typeface="Arial"/>
                  <a:ea typeface="Arial"/>
                  <a:cs typeface="Arial"/>
                  <a:sym typeface="Arial"/>
                </a:rPr>
                <a:t>Неравномерность данных и </a:t>
              </a:r>
              <a:r>
                <a:rPr lang="en-US" sz="1600" b="1">
                  <a:solidFill>
                    <a:srgbClr val="333333"/>
                  </a:solidFill>
                </a:rPr>
                <a:t>«слепые зоны»</a:t>
              </a:r>
              <a:r>
                <a:rPr lang="en-US" sz="1100">
                  <a:solidFill>
                    <a:schemeClr val="dk1"/>
                  </a:solidFill>
                </a:rPr>
                <a:t> </a:t>
              </a:r>
              <a:r>
                <a:rPr lang="en-US" sz="1600" b="1">
                  <a:solidFill>
                    <a:srgbClr val="333333"/>
                  </a:solidFill>
                  <a:latin typeface="Arial"/>
                  <a:ea typeface="Arial"/>
                  <a:cs typeface="Arial"/>
                  <a:sym typeface="Arial"/>
                </a:rPr>
                <a:t>:</a:t>
              </a:r>
              <a:r>
                <a:rPr lang="en-US" sz="1600">
                  <a:solidFill>
                    <a:srgbClr val="333333"/>
                  </a:solidFill>
                  <a:latin typeface="Arial"/>
                  <a:ea typeface="Arial"/>
                  <a:cs typeface="Arial"/>
                  <a:sym typeface="Arial"/>
                </a:rPr>
                <a:t> плотность падает с расстоянием, а кроны создают «слепые зоны», нарушая целостность.</a:t>
              </a:r>
              <a:endParaRPr sz="160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marL="457200" lvl="0" indent="-330200" algn="l" rtl="0">
                <a:spcBef>
                  <a:spcPts val="750"/>
                </a:spcBef>
                <a:spcAft>
                  <a:spcPts val="0"/>
                </a:spcAft>
                <a:buClr>
                  <a:srgbClr val="333333"/>
                </a:buClr>
                <a:buSzPts val="1600"/>
                <a:buFont typeface="Arial"/>
                <a:buChar char="●"/>
              </a:pPr>
              <a:r>
                <a:rPr lang="en-US" sz="1600" b="1">
                  <a:solidFill>
                    <a:srgbClr val="333333"/>
                  </a:solidFill>
                  <a:latin typeface="Arial"/>
                  <a:ea typeface="Arial"/>
                  <a:cs typeface="Arial"/>
                  <a:sym typeface="Arial"/>
                </a:rPr>
                <a:t>Отсутствие топологии:</a:t>
              </a:r>
              <a:r>
                <a:rPr lang="en-US" sz="1600">
                  <a:solidFill>
                    <a:srgbClr val="333333"/>
                  </a:solidFill>
                  <a:latin typeface="Arial"/>
                  <a:ea typeface="Arial"/>
                  <a:cs typeface="Arial"/>
                  <a:sym typeface="Arial"/>
                </a:rPr>
                <a:t> нет явных связей; вычисление форм требует огромных затрат без индексации.</a:t>
              </a:r>
              <a:endParaRPr sz="160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marL="457200" lvl="0" indent="-330200" algn="l" rtl="0">
                <a:spcBef>
                  <a:spcPts val="750"/>
                </a:spcBef>
                <a:spcAft>
                  <a:spcPts val="0"/>
                </a:spcAft>
                <a:buClr>
                  <a:srgbClr val="333333"/>
                </a:buClr>
                <a:buSzPts val="1600"/>
                <a:buFont typeface="Arial"/>
                <a:buChar char="●"/>
              </a:pPr>
              <a:r>
                <a:rPr lang="en-US" sz="1600" b="1">
                  <a:solidFill>
                    <a:srgbClr val="333333"/>
                  </a:solidFill>
                  <a:latin typeface="Arial"/>
                  <a:ea typeface="Arial"/>
                  <a:cs typeface="Arial"/>
                  <a:sym typeface="Arial"/>
                </a:rPr>
                <a:t>Масштаб и шум:</a:t>
              </a:r>
              <a:r>
                <a:rPr lang="en-US" sz="1600">
                  <a:solidFill>
                    <a:srgbClr val="333333"/>
                  </a:solidFill>
                  <a:latin typeface="Arial"/>
                  <a:ea typeface="Arial"/>
                  <a:cs typeface="Arial"/>
                  <a:sym typeface="Arial"/>
                </a:rPr>
                <a:t> гигабайтные объемы содержат ложные отражения от атмосферы и птиц.</a:t>
              </a:r>
              <a:endParaRPr sz="160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158" name="Google Shape;158;p5"/>
          <p:cNvCxnSpPr/>
          <p:nvPr/>
        </p:nvCxnSpPr>
        <p:spPr>
          <a:xfrm rot="10800000">
            <a:off x="838203" y="6485308"/>
            <a:ext cx="10515600" cy="0"/>
          </a:xfrm>
          <a:prstGeom prst="straightConnector1">
            <a:avLst/>
          </a:prstGeom>
          <a:noFill/>
          <a:ln w="57150" cap="flat" cmpd="sng">
            <a:solidFill>
              <a:srgbClr val="0F9ED5"/>
            </a:solidFill>
            <a:prstDash val="solid"/>
            <a:miter lim="8000"/>
            <a:headEnd type="none" w="sm" len="sm"/>
            <a:tailEnd type="none" w="sm" len="sm"/>
          </a:ln>
        </p:spPr>
      </p:cxnSp>
      <p:pic>
        <p:nvPicPr>
          <p:cNvPr id="159" name="Google Shape;159;p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706200" y="1660075"/>
            <a:ext cx="4005150" cy="4010726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5"/>
          <p:cNvSpPr/>
          <p:nvPr/>
        </p:nvSpPr>
        <p:spPr>
          <a:xfrm>
            <a:off x="7561375" y="1510200"/>
            <a:ext cx="4323600" cy="4313400"/>
          </a:xfrm>
          <a:prstGeom prst="roundRect">
            <a:avLst>
              <a:gd name="adj" fmla="val 2083"/>
            </a:avLst>
          </a:prstGeom>
          <a:solidFill>
            <a:srgbClr val="000000">
              <a:alpha val="0"/>
            </a:srgbClr>
          </a:solidFill>
          <a:ln w="9525" cap="flat" cmpd="sng">
            <a:solidFill>
              <a:srgbClr val="0F9ED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5" name="Google Shape;165;p6"/>
          <p:cNvCxnSpPr/>
          <p:nvPr/>
        </p:nvCxnSpPr>
        <p:spPr>
          <a:xfrm>
            <a:off x="6096000" y="1530750"/>
            <a:ext cx="0" cy="476400"/>
          </a:xfrm>
          <a:prstGeom prst="straightConnector1">
            <a:avLst/>
          </a:prstGeom>
          <a:solidFill>
            <a:srgbClr val="FFFFFF"/>
          </a:solidFill>
          <a:ln w="19050" cap="flat" cmpd="sng">
            <a:solidFill>
              <a:srgbClr val="0F9ED5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66" name="Google Shape;166;p6"/>
          <p:cNvCxnSpPr/>
          <p:nvPr/>
        </p:nvCxnSpPr>
        <p:spPr>
          <a:xfrm>
            <a:off x="3048000" y="2007000"/>
            <a:ext cx="6096000" cy="0"/>
          </a:xfrm>
          <a:prstGeom prst="straightConnector1">
            <a:avLst/>
          </a:prstGeom>
          <a:solidFill>
            <a:srgbClr val="FFFFFF"/>
          </a:solidFill>
          <a:ln w="19050" cap="flat" cmpd="sng">
            <a:solidFill>
              <a:srgbClr val="0F9ED5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67" name="Google Shape;167;p6"/>
          <p:cNvCxnSpPr/>
          <p:nvPr/>
        </p:nvCxnSpPr>
        <p:spPr>
          <a:xfrm>
            <a:off x="3048000" y="2007000"/>
            <a:ext cx="0" cy="285900"/>
          </a:xfrm>
          <a:prstGeom prst="straightConnector1">
            <a:avLst/>
          </a:prstGeom>
          <a:solidFill>
            <a:srgbClr val="FFFFFF"/>
          </a:solidFill>
          <a:ln w="19050" cap="flat" cmpd="sng">
            <a:solidFill>
              <a:srgbClr val="0F9ED5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68" name="Google Shape;168;p6"/>
          <p:cNvCxnSpPr/>
          <p:nvPr/>
        </p:nvCxnSpPr>
        <p:spPr>
          <a:xfrm>
            <a:off x="9144000" y="2007000"/>
            <a:ext cx="0" cy="285900"/>
          </a:xfrm>
          <a:prstGeom prst="straightConnector1">
            <a:avLst/>
          </a:prstGeom>
          <a:solidFill>
            <a:srgbClr val="FFFFFF"/>
          </a:solidFill>
          <a:ln w="19050" cap="flat" cmpd="sng">
            <a:solidFill>
              <a:srgbClr val="0F9ED5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169" name="Google Shape;169;p6"/>
          <p:cNvGrpSpPr/>
          <p:nvPr/>
        </p:nvGrpSpPr>
        <p:grpSpPr>
          <a:xfrm>
            <a:off x="4191000" y="1054500"/>
            <a:ext cx="3810000" cy="476400"/>
            <a:chOff x="4191000" y="762000"/>
            <a:chExt cx="3810000" cy="476400"/>
          </a:xfrm>
        </p:grpSpPr>
        <p:sp>
          <p:nvSpPr>
            <p:cNvPr id="170" name="Google Shape;170;p6"/>
            <p:cNvSpPr/>
            <p:nvPr/>
          </p:nvSpPr>
          <p:spPr>
            <a:xfrm>
              <a:off x="4191000" y="762000"/>
              <a:ext cx="3810000" cy="476400"/>
            </a:xfrm>
            <a:prstGeom prst="roundRect">
              <a:avLst>
                <a:gd name="adj" fmla="val 20000"/>
              </a:avLst>
            </a:prstGeom>
            <a:solidFill>
              <a:srgbClr val="0F9ED5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" name="Google Shape;171;p6"/>
            <p:cNvSpPr txBox="1"/>
            <p:nvPr/>
          </p:nvSpPr>
          <p:spPr>
            <a:xfrm>
              <a:off x="4191000" y="762000"/>
              <a:ext cx="38100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Сырое облако точек LiDAR</a:t>
              </a:r>
              <a:endParaRPr sz="180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72" name="Google Shape;172;p6"/>
          <p:cNvGrpSpPr/>
          <p:nvPr/>
        </p:nvGrpSpPr>
        <p:grpSpPr>
          <a:xfrm>
            <a:off x="1143000" y="2292750"/>
            <a:ext cx="3810000" cy="381000"/>
            <a:chOff x="1143000" y="2000250"/>
            <a:chExt cx="3810000" cy="381000"/>
          </a:xfrm>
        </p:grpSpPr>
        <p:sp>
          <p:nvSpPr>
            <p:cNvPr id="173" name="Google Shape;173;p6"/>
            <p:cNvSpPr/>
            <p:nvPr/>
          </p:nvSpPr>
          <p:spPr>
            <a:xfrm>
              <a:off x="1143000" y="2000250"/>
              <a:ext cx="3810000" cy="381000"/>
            </a:xfrm>
            <a:prstGeom prst="roundRect">
              <a:avLst>
                <a:gd name="adj" fmla="val 12500"/>
              </a:avLst>
            </a:prstGeom>
            <a:solidFill>
              <a:srgbClr val="F8FAFC"/>
            </a:solidFill>
            <a:ln w="9525" cap="flat" cmpd="sng">
              <a:solidFill>
                <a:srgbClr val="0F9ED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Google Shape;174;p6"/>
            <p:cNvSpPr txBox="1"/>
            <p:nvPr/>
          </p:nvSpPr>
          <p:spPr>
            <a:xfrm>
              <a:off x="1143000" y="2000250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1">
                  <a:solidFill>
                    <a:srgbClr val="0F9ED5"/>
                  </a:solidFill>
                  <a:latin typeface="Arial"/>
                  <a:ea typeface="Arial"/>
                  <a:cs typeface="Arial"/>
                  <a:sym typeface="Arial"/>
                </a:rPr>
                <a:t>Классическое машинное обучение</a:t>
              </a:r>
              <a:endParaRPr sz="1400" b="1">
                <a:solidFill>
                  <a:srgbClr val="0F9ED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75" name="Google Shape;175;p6"/>
          <p:cNvGrpSpPr/>
          <p:nvPr/>
        </p:nvGrpSpPr>
        <p:grpSpPr>
          <a:xfrm>
            <a:off x="7239000" y="2292750"/>
            <a:ext cx="3810000" cy="381000"/>
            <a:chOff x="7239000" y="2000250"/>
            <a:chExt cx="3810000" cy="381000"/>
          </a:xfrm>
        </p:grpSpPr>
        <p:sp>
          <p:nvSpPr>
            <p:cNvPr id="176" name="Google Shape;176;p6"/>
            <p:cNvSpPr/>
            <p:nvPr/>
          </p:nvSpPr>
          <p:spPr>
            <a:xfrm>
              <a:off x="7239000" y="2000250"/>
              <a:ext cx="3810000" cy="381000"/>
            </a:xfrm>
            <a:prstGeom prst="roundRect">
              <a:avLst>
                <a:gd name="adj" fmla="val 12500"/>
              </a:avLst>
            </a:prstGeom>
            <a:solidFill>
              <a:srgbClr val="F8FAFC"/>
            </a:solidFill>
            <a:ln w="9525" cap="flat" cmpd="sng">
              <a:solidFill>
                <a:srgbClr val="0F9ED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Google Shape;177;p6"/>
            <p:cNvSpPr txBox="1"/>
            <p:nvPr/>
          </p:nvSpPr>
          <p:spPr>
            <a:xfrm>
              <a:off x="7239000" y="2000250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1">
                  <a:solidFill>
                    <a:srgbClr val="0F9ED5"/>
                  </a:solidFill>
                  <a:latin typeface="Arial"/>
                  <a:ea typeface="Arial"/>
                  <a:cs typeface="Arial"/>
                  <a:sym typeface="Arial"/>
                </a:rPr>
                <a:t>Глубокое машинное обучение</a:t>
              </a:r>
              <a:endParaRPr sz="1400" b="1">
                <a:solidFill>
                  <a:srgbClr val="0F9ED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78" name="Google Shape;178;p6"/>
          <p:cNvGrpSpPr/>
          <p:nvPr/>
        </p:nvGrpSpPr>
        <p:grpSpPr>
          <a:xfrm>
            <a:off x="762000" y="2769051"/>
            <a:ext cx="4572000" cy="3217012"/>
            <a:chOff x="762000" y="2476500"/>
            <a:chExt cx="4572000" cy="3619500"/>
          </a:xfrm>
        </p:grpSpPr>
        <p:sp>
          <p:nvSpPr>
            <p:cNvPr id="179" name="Google Shape;179;p6"/>
            <p:cNvSpPr/>
            <p:nvPr/>
          </p:nvSpPr>
          <p:spPr>
            <a:xfrm>
              <a:off x="762000" y="2476500"/>
              <a:ext cx="4572000" cy="3619500"/>
            </a:xfrm>
            <a:prstGeom prst="roundRect">
              <a:avLst>
                <a:gd name="adj" fmla="val 2631"/>
              </a:avLst>
            </a:prstGeom>
            <a:solidFill>
              <a:srgbClr val="F8FAFC"/>
            </a:solidFill>
            <a:ln w="9525" cap="flat" cmpd="sng">
              <a:solidFill>
                <a:srgbClr val="0F9ED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" name="Google Shape;180;p6"/>
            <p:cNvSpPr txBox="1"/>
            <p:nvPr/>
          </p:nvSpPr>
          <p:spPr>
            <a:xfrm>
              <a:off x="952500" y="2619375"/>
              <a:ext cx="4191000" cy="3333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rgbClr val="0F9ED5"/>
                  </a:solidFill>
                  <a:latin typeface="Arial"/>
                  <a:ea typeface="Arial"/>
                  <a:cs typeface="Arial"/>
                  <a:sym typeface="Arial"/>
                </a:rPr>
                <a:t>SVM:</a:t>
              </a:r>
              <a:r>
                <a:rPr lang="en-US" sz="1600">
                  <a:solidFill>
                    <a:srgbClr val="333333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en-US" sz="1600">
                  <a:solidFill>
                    <a:srgbClr val="333333"/>
                  </a:solidFill>
                </a:rPr>
                <a:t>Ищет идеальную математическую границу, чтобы отделить деревья разных пород друг от друга.</a:t>
              </a:r>
              <a:endParaRPr sz="1600">
                <a:solidFill>
                  <a:srgbClr val="333333"/>
                </a:solidFill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rgbClr val="0F9ED5"/>
                  </a:solidFill>
                  <a:latin typeface="Arial"/>
                  <a:ea typeface="Arial"/>
                  <a:cs typeface="Arial"/>
                  <a:sym typeface="Arial"/>
                </a:rPr>
                <a:t>K-NN:</a:t>
              </a:r>
              <a:r>
                <a:rPr lang="en-US" sz="1600">
                  <a:solidFill>
                    <a:srgbClr val="333333"/>
                  </a:solidFill>
                  <a:latin typeface="Arial"/>
                  <a:ea typeface="Arial"/>
                  <a:cs typeface="Arial"/>
                  <a:sym typeface="Arial"/>
                </a:rPr>
                <a:t> Классифицирует объект на основе большинства голосов его ближайших соседей в наборе данных.</a:t>
              </a:r>
              <a:endParaRPr sz="160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90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-US" sz="1600" b="1">
                  <a:solidFill>
                    <a:srgbClr val="0F9ED5"/>
                  </a:solidFill>
                  <a:latin typeface="Arial"/>
                  <a:ea typeface="Arial"/>
                  <a:cs typeface="Arial"/>
                  <a:sym typeface="Arial"/>
                </a:rPr>
                <a:t>Random Forest:</a:t>
              </a:r>
              <a:r>
                <a:rPr lang="en-US" sz="1600">
                  <a:solidFill>
                    <a:srgbClr val="333333"/>
                  </a:solidFill>
                </a:rPr>
                <a:t> Ансамбль решающих деревьев, усредняющий прогнозы для повышения точности и стабильности.</a:t>
              </a:r>
              <a:endParaRPr sz="1600">
                <a:solidFill>
                  <a:srgbClr val="333333"/>
                </a:solidFill>
              </a:endParaRPr>
            </a:p>
          </p:txBody>
        </p:sp>
      </p:grpSp>
      <p:grpSp>
        <p:nvGrpSpPr>
          <p:cNvPr id="181" name="Google Shape;181;p6"/>
          <p:cNvGrpSpPr/>
          <p:nvPr/>
        </p:nvGrpSpPr>
        <p:grpSpPr>
          <a:xfrm>
            <a:off x="6858000" y="2769008"/>
            <a:ext cx="4572000" cy="3217012"/>
            <a:chOff x="6858000" y="2476500"/>
            <a:chExt cx="4572000" cy="3619500"/>
          </a:xfrm>
        </p:grpSpPr>
        <p:sp>
          <p:nvSpPr>
            <p:cNvPr id="182" name="Google Shape;182;p6"/>
            <p:cNvSpPr/>
            <p:nvPr/>
          </p:nvSpPr>
          <p:spPr>
            <a:xfrm>
              <a:off x="6858000" y="2476500"/>
              <a:ext cx="4572000" cy="3619500"/>
            </a:xfrm>
            <a:prstGeom prst="roundRect">
              <a:avLst>
                <a:gd name="adj" fmla="val 2631"/>
              </a:avLst>
            </a:prstGeom>
            <a:solidFill>
              <a:srgbClr val="F8FAFC"/>
            </a:solidFill>
            <a:ln w="9525" cap="flat" cmpd="sng">
              <a:solidFill>
                <a:srgbClr val="0F9ED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Google Shape;183;p6"/>
            <p:cNvSpPr txBox="1"/>
            <p:nvPr/>
          </p:nvSpPr>
          <p:spPr>
            <a:xfrm>
              <a:off x="7048500" y="2619375"/>
              <a:ext cx="4191000" cy="3333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rgbClr val="0F9ED5"/>
                  </a:solidFill>
                  <a:latin typeface="Arial"/>
                  <a:ea typeface="Arial"/>
                  <a:cs typeface="Arial"/>
                  <a:sym typeface="Arial"/>
                </a:rPr>
                <a:t>Воксельные 3D CNN:</a:t>
              </a:r>
              <a:r>
                <a:rPr lang="en-US" sz="1600">
                  <a:solidFill>
                    <a:srgbClr val="333333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en-US" sz="1600">
                  <a:solidFill>
                    <a:srgbClr val="333333"/>
                  </a:solidFill>
                </a:rPr>
                <a:t>Преобразовывают </a:t>
              </a:r>
              <a:r>
                <a:rPr lang="en-US" sz="1600">
                  <a:solidFill>
                    <a:srgbClr val="333333"/>
                  </a:solidFill>
                  <a:latin typeface="Arial"/>
                  <a:ea typeface="Arial"/>
                  <a:cs typeface="Arial"/>
                  <a:sym typeface="Arial"/>
                </a:rPr>
                <a:t>облако в регулярную сетку </a:t>
              </a:r>
              <a:r>
                <a:rPr lang="en-US" sz="1600">
                  <a:solidFill>
                    <a:srgbClr val="333333"/>
                  </a:solidFill>
                </a:rPr>
                <a:t>вокселей</a:t>
              </a:r>
              <a:r>
                <a:rPr lang="en-US" sz="1600">
                  <a:solidFill>
                    <a:srgbClr val="333333"/>
                  </a:solidFill>
                  <a:latin typeface="Arial"/>
                  <a:ea typeface="Arial"/>
                  <a:cs typeface="Arial"/>
                  <a:sym typeface="Arial"/>
                </a:rPr>
                <a:t>, применяя стандартные 3D-свертки.</a:t>
              </a:r>
              <a:endParaRPr sz="160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rgbClr val="0F9ED5"/>
                  </a:solidFill>
                  <a:latin typeface="Arial"/>
                  <a:ea typeface="Arial"/>
                  <a:cs typeface="Arial"/>
                  <a:sym typeface="Arial"/>
                </a:rPr>
                <a:t>Проекционные Multi-view CNN:</a:t>
              </a:r>
              <a:r>
                <a:rPr lang="en-US" sz="1600">
                  <a:solidFill>
                    <a:srgbClr val="333333"/>
                  </a:solidFill>
                  <a:latin typeface="Arial"/>
                  <a:ea typeface="Arial"/>
                  <a:cs typeface="Arial"/>
                  <a:sym typeface="Arial"/>
                </a:rPr>
                <a:t> Генерируют 2D-виды объекта с разных ракурсов для анализа обычной сверткой.</a:t>
              </a:r>
              <a:endParaRPr sz="160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rgbClr val="0F9ED5"/>
                  </a:solidFill>
                  <a:latin typeface="Arial"/>
                  <a:ea typeface="Arial"/>
                  <a:cs typeface="Arial"/>
                  <a:sym typeface="Arial"/>
                </a:rPr>
                <a:t>PointNet++:</a:t>
              </a:r>
              <a:r>
                <a:rPr lang="en-US" sz="1600">
                  <a:solidFill>
                    <a:srgbClr val="333333"/>
                  </a:solidFill>
                  <a:latin typeface="Arial"/>
                  <a:ea typeface="Arial"/>
                  <a:cs typeface="Arial"/>
                  <a:sym typeface="Arial"/>
                </a:rPr>
                <a:t> Прямая обработка сырых координат с иерархическим извлечением локальных признаков.</a:t>
              </a:r>
              <a:endParaRPr sz="160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84" name="Google Shape;184;p6"/>
          <p:cNvSpPr txBox="1">
            <a:spLocks noGrp="1"/>
          </p:cNvSpPr>
          <p:nvPr>
            <p:ph type="title"/>
          </p:nvPr>
        </p:nvSpPr>
        <p:spPr>
          <a:xfrm>
            <a:off x="762003" y="410250"/>
            <a:ext cx="10515600" cy="615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47625" tIns="47625" rIns="47625" bIns="476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>
                <a:solidFill>
                  <a:srgbClr val="000000"/>
                </a:solidFill>
                <a:latin typeface="Play"/>
                <a:ea typeface="Play"/>
                <a:cs typeface="Play"/>
                <a:sym typeface="Play"/>
              </a:rPr>
              <a:t>Методы классификации 3D-данных LiDAR</a:t>
            </a:r>
            <a:endParaRPr sz="3200" b="1" i="0">
              <a:solidFill>
                <a:srgbClr val="000000"/>
              </a:solidFill>
              <a:latin typeface="Play"/>
              <a:ea typeface="Play"/>
              <a:cs typeface="Play"/>
              <a:sym typeface="Play"/>
            </a:endParaRPr>
          </a:p>
        </p:txBody>
      </p:sp>
      <p:cxnSp>
        <p:nvCxnSpPr>
          <p:cNvPr id="185" name="Google Shape;185;p6"/>
          <p:cNvCxnSpPr/>
          <p:nvPr/>
        </p:nvCxnSpPr>
        <p:spPr>
          <a:xfrm rot="10800000">
            <a:off x="838203" y="6485308"/>
            <a:ext cx="10515600" cy="0"/>
          </a:xfrm>
          <a:prstGeom prst="straightConnector1">
            <a:avLst/>
          </a:prstGeom>
          <a:noFill/>
          <a:ln w="57150" cap="flat" cmpd="sng">
            <a:solidFill>
              <a:srgbClr val="0F9ED5"/>
            </a:solidFill>
            <a:prstDash val="solid"/>
            <a:miter lim="8000"/>
            <a:headEnd type="none" w="sm" len="sm"/>
            <a:tailEnd type="none" w="sm" len="sm"/>
          </a:ln>
        </p:spPr>
      </p:cxnSp>
      <p:grpSp>
        <p:nvGrpSpPr>
          <p:cNvPr id="186" name="Google Shape;186;p6"/>
          <p:cNvGrpSpPr/>
          <p:nvPr/>
        </p:nvGrpSpPr>
        <p:grpSpPr>
          <a:xfrm>
            <a:off x="0" y="381000"/>
            <a:ext cx="731573" cy="673500"/>
            <a:chOff x="0" y="381000"/>
            <a:chExt cx="731573" cy="673500"/>
          </a:xfrm>
        </p:grpSpPr>
        <p:sp>
          <p:nvSpPr>
            <p:cNvPr id="187" name="Google Shape;187;p6"/>
            <p:cNvSpPr/>
            <p:nvPr/>
          </p:nvSpPr>
          <p:spPr>
            <a:xfrm>
              <a:off x="0" y="381000"/>
              <a:ext cx="195900" cy="673500"/>
            </a:xfrm>
            <a:prstGeom prst="rect">
              <a:avLst/>
            </a:prstGeom>
            <a:solidFill>
              <a:srgbClr val="0F9ED5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" name="Google Shape;188;p6"/>
            <p:cNvSpPr/>
            <p:nvPr/>
          </p:nvSpPr>
          <p:spPr>
            <a:xfrm>
              <a:off x="267836" y="381000"/>
              <a:ext cx="195900" cy="673500"/>
            </a:xfrm>
            <a:prstGeom prst="rect">
              <a:avLst/>
            </a:prstGeom>
            <a:solidFill>
              <a:srgbClr val="0F9ED5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" name="Google Shape;189;p6"/>
            <p:cNvSpPr/>
            <p:nvPr/>
          </p:nvSpPr>
          <p:spPr>
            <a:xfrm>
              <a:off x="535673" y="381000"/>
              <a:ext cx="195900" cy="673500"/>
            </a:xfrm>
            <a:prstGeom prst="rect">
              <a:avLst/>
            </a:prstGeom>
            <a:solidFill>
              <a:srgbClr val="0F9ED5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4" name="Google Shape;194;p7"/>
          <p:cNvGrpSpPr/>
          <p:nvPr/>
        </p:nvGrpSpPr>
        <p:grpSpPr>
          <a:xfrm>
            <a:off x="0" y="381000"/>
            <a:ext cx="11239500" cy="673500"/>
            <a:chOff x="0" y="381000"/>
            <a:chExt cx="11239500" cy="673500"/>
          </a:xfrm>
        </p:grpSpPr>
        <p:sp>
          <p:nvSpPr>
            <p:cNvPr id="195" name="Google Shape;195;p7"/>
            <p:cNvSpPr/>
            <p:nvPr/>
          </p:nvSpPr>
          <p:spPr>
            <a:xfrm>
              <a:off x="0" y="381000"/>
              <a:ext cx="195900" cy="673500"/>
            </a:xfrm>
            <a:prstGeom prst="rect">
              <a:avLst/>
            </a:prstGeom>
            <a:solidFill>
              <a:srgbClr val="F97316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" name="Google Shape;196;p7"/>
            <p:cNvSpPr/>
            <p:nvPr/>
          </p:nvSpPr>
          <p:spPr>
            <a:xfrm>
              <a:off x="267836" y="381000"/>
              <a:ext cx="195900" cy="673500"/>
            </a:xfrm>
            <a:prstGeom prst="rect">
              <a:avLst/>
            </a:prstGeom>
            <a:solidFill>
              <a:srgbClr val="F97316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" name="Google Shape;197;p7"/>
            <p:cNvSpPr/>
            <p:nvPr/>
          </p:nvSpPr>
          <p:spPr>
            <a:xfrm>
              <a:off x="535673" y="381000"/>
              <a:ext cx="195900" cy="673500"/>
            </a:xfrm>
            <a:prstGeom prst="rect">
              <a:avLst/>
            </a:prstGeom>
            <a:solidFill>
              <a:srgbClr val="F97316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" name="Google Shape;198;p7"/>
            <p:cNvSpPr txBox="1"/>
            <p:nvPr/>
          </p:nvSpPr>
          <p:spPr>
            <a:xfrm>
              <a:off x="952500" y="381000"/>
              <a:ext cx="10287000" cy="673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200" b="1" i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Базовая модель: Алгоритм «Случайный лес»</a:t>
              </a:r>
              <a:endParaRPr sz="3200" b="1" i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9" name="Google Shape;199;p7"/>
          <p:cNvGrpSpPr/>
          <p:nvPr/>
        </p:nvGrpSpPr>
        <p:grpSpPr>
          <a:xfrm>
            <a:off x="762025" y="1333500"/>
            <a:ext cx="4978805" cy="4572000"/>
            <a:chOff x="762002" y="1333500"/>
            <a:chExt cx="5388900" cy="4572000"/>
          </a:xfrm>
        </p:grpSpPr>
        <p:sp>
          <p:nvSpPr>
            <p:cNvPr id="200" name="Google Shape;200;p7"/>
            <p:cNvSpPr/>
            <p:nvPr/>
          </p:nvSpPr>
          <p:spPr>
            <a:xfrm>
              <a:off x="762002" y="1333500"/>
              <a:ext cx="5388900" cy="4572000"/>
            </a:xfrm>
            <a:prstGeom prst="roundRect">
              <a:avLst>
                <a:gd name="adj" fmla="val 2083"/>
              </a:avLst>
            </a:prstGeom>
            <a:solidFill>
              <a:srgbClr val="FFF9F2"/>
            </a:solidFill>
            <a:ln w="9525" cap="flat" cmpd="sng">
              <a:solidFill>
                <a:srgbClr val="F9731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" name="Google Shape;201;p7"/>
            <p:cNvSpPr txBox="1"/>
            <p:nvPr/>
          </p:nvSpPr>
          <p:spPr>
            <a:xfrm>
              <a:off x="952499" y="1524000"/>
              <a:ext cx="5064000" cy="4191000"/>
            </a:xfrm>
            <a:prstGeom prst="rect">
              <a:avLst/>
            </a:prstGeom>
            <a:solidFill>
              <a:srgbClr val="FFF9F2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 i="0">
                  <a:solidFill>
                    <a:srgbClr val="F97316"/>
                  </a:solidFill>
                  <a:latin typeface="Arial"/>
                  <a:ea typeface="Arial"/>
                  <a:cs typeface="Arial"/>
                  <a:sym typeface="Arial"/>
                </a:rPr>
                <a:t>Принцип работы Random Forest</a:t>
              </a:r>
              <a:endParaRPr sz="1600" b="1" i="0">
                <a:solidFill>
                  <a:srgbClr val="F97316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1600" b="0" i="0">
                  <a:solidFill>
                    <a:srgbClr val="333333"/>
                  </a:solidFill>
                  <a:latin typeface="Arial"/>
                  <a:ea typeface="Arial"/>
                  <a:cs typeface="Arial"/>
                  <a:sym typeface="Arial"/>
                </a:rPr>
                <a:t>В качестве базовой модели </a:t>
              </a:r>
              <a:r>
                <a:rPr lang="en-US" sz="1600">
                  <a:solidFill>
                    <a:srgbClr val="333333"/>
                  </a:solidFill>
                </a:rPr>
                <a:t>был</a:t>
              </a:r>
              <a:r>
                <a:rPr lang="en-US" sz="1600" b="0" i="0">
                  <a:solidFill>
                    <a:srgbClr val="333333"/>
                  </a:solidFill>
                  <a:latin typeface="Arial"/>
                  <a:ea typeface="Arial"/>
                  <a:cs typeface="Arial"/>
                  <a:sym typeface="Arial"/>
                </a:rPr>
                <a:t> выбра</a:t>
              </a:r>
              <a:r>
                <a:rPr lang="en-US" sz="1600">
                  <a:solidFill>
                    <a:srgbClr val="333333"/>
                  </a:solidFill>
                </a:rPr>
                <a:t>н</a:t>
              </a:r>
              <a:r>
                <a:rPr lang="en-US" sz="1600" b="0" i="0">
                  <a:solidFill>
                    <a:srgbClr val="333333"/>
                  </a:solidFill>
                  <a:latin typeface="Arial"/>
                  <a:ea typeface="Arial"/>
                  <a:cs typeface="Arial"/>
                  <a:sym typeface="Arial"/>
                </a:rPr>
                <a:t> алгоритм «Случайный лес» (Random Forest). Это классический и очень надежный метод.</a:t>
              </a:r>
              <a:endParaRPr sz="1600" b="0" i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marL="0" lvl="0" indent="0" algn="l" rtl="0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lang="en-US" sz="1600" b="0" i="0">
                  <a:solidFill>
                    <a:srgbClr val="333333"/>
                  </a:solidFill>
                  <a:latin typeface="Arial"/>
                  <a:ea typeface="Arial"/>
                  <a:cs typeface="Arial"/>
                  <a:sym typeface="Arial"/>
                </a:rPr>
                <a:t>Суть заключается в создании </a:t>
              </a:r>
              <a:r>
                <a:rPr lang="en-US" sz="1600">
                  <a:solidFill>
                    <a:srgbClr val="333333"/>
                  </a:solidFill>
                </a:rPr>
                <a:t>«комитета»</a:t>
              </a:r>
              <a:r>
                <a:rPr lang="en-US" sz="1600" b="0" i="0">
                  <a:solidFill>
                    <a:srgbClr val="333333"/>
                  </a:solidFill>
                  <a:latin typeface="Arial"/>
                  <a:ea typeface="Arial"/>
                  <a:cs typeface="Arial"/>
                  <a:sym typeface="Arial"/>
                </a:rPr>
                <a:t> из сотен независимых решающих деревьев. Алгоритм ищет оптимальные правила на основе входных параметров.</a:t>
              </a:r>
              <a:endParaRPr sz="1600" b="0" i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marL="457200" lvl="0" indent="-330200" algn="l" rtl="0">
                <a:spcBef>
                  <a:spcPts val="1125"/>
                </a:spcBef>
                <a:spcAft>
                  <a:spcPts val="0"/>
                </a:spcAft>
                <a:buClr>
                  <a:srgbClr val="333333"/>
                </a:buClr>
                <a:buSzPts val="1600"/>
                <a:buFont typeface="Arial"/>
                <a:buChar char="●"/>
              </a:pPr>
              <a:r>
                <a:rPr lang="en-US" sz="1600" b="0" i="0">
                  <a:solidFill>
                    <a:srgbClr val="333333"/>
                  </a:solidFill>
                  <a:latin typeface="Arial"/>
                  <a:ea typeface="Arial"/>
                  <a:cs typeface="Arial"/>
                  <a:sym typeface="Arial"/>
                </a:rPr>
                <a:t>Голосование: финальный ответ принимается большинством голосов всех деревьев.</a:t>
              </a:r>
              <a:endParaRPr sz="1600" b="0" i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marL="457200" lvl="0" indent="-330200" algn="l" rtl="0">
                <a:spcBef>
                  <a:spcPts val="600"/>
                </a:spcBef>
                <a:spcAft>
                  <a:spcPts val="0"/>
                </a:spcAft>
                <a:buClr>
                  <a:srgbClr val="333333"/>
                </a:buClr>
                <a:buSzPts val="1600"/>
                <a:buFont typeface="Arial"/>
                <a:buChar char="●"/>
              </a:pPr>
              <a:r>
                <a:rPr lang="en-US" sz="1600" b="0" i="0">
                  <a:solidFill>
                    <a:srgbClr val="333333"/>
                  </a:solidFill>
                  <a:latin typeface="Arial"/>
                  <a:ea typeface="Arial"/>
                  <a:cs typeface="Arial"/>
                  <a:sym typeface="Arial"/>
                </a:rPr>
                <a:t>Прозрачность: метод быстрый и легко интерпретируемый.</a:t>
              </a:r>
              <a:endParaRPr sz="1600" b="0" i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marL="457200" lvl="0" indent="-330200" algn="l" rtl="0">
                <a:spcBef>
                  <a:spcPts val="600"/>
                </a:spcBef>
                <a:spcAft>
                  <a:spcPts val="0"/>
                </a:spcAft>
                <a:buClr>
                  <a:srgbClr val="333333"/>
                </a:buClr>
                <a:buSzPts val="1600"/>
                <a:buFont typeface="Arial"/>
                <a:buChar char="●"/>
              </a:pPr>
              <a:r>
                <a:rPr lang="en-US" sz="1600" b="0" i="0">
                  <a:solidFill>
                    <a:srgbClr val="333333"/>
                  </a:solidFill>
                  <a:latin typeface="Arial"/>
                  <a:ea typeface="Arial"/>
                  <a:cs typeface="Arial"/>
                  <a:sym typeface="Arial"/>
                </a:rPr>
                <a:t>Пример: </a:t>
              </a:r>
              <a:r>
                <a:rPr lang="en-US" sz="1600">
                  <a:solidFill>
                    <a:srgbClr val="333333"/>
                  </a:solidFill>
                </a:rPr>
                <a:t>«</a:t>
              </a:r>
              <a:r>
                <a:rPr lang="en-US" sz="1600" b="0" i="0">
                  <a:solidFill>
                    <a:srgbClr val="333333"/>
                  </a:solidFill>
                  <a:latin typeface="Arial"/>
                  <a:ea typeface="Arial"/>
                  <a:cs typeface="Arial"/>
                  <a:sym typeface="Arial"/>
                </a:rPr>
                <a:t>Если высота &gt; 15м и ветки внизу </a:t>
              </a:r>
              <a:r>
                <a:rPr lang="en-US" sz="1600">
                  <a:solidFill>
                    <a:srgbClr val="333333"/>
                  </a:solidFill>
                </a:rPr>
                <a:t>–</a:t>
              </a:r>
              <a:r>
                <a:rPr lang="en-US" sz="1600" b="0" i="0">
                  <a:solidFill>
                    <a:srgbClr val="333333"/>
                  </a:solidFill>
                  <a:latin typeface="Arial"/>
                  <a:ea typeface="Arial"/>
                  <a:cs typeface="Arial"/>
                  <a:sym typeface="Arial"/>
                </a:rPr>
                <a:t> это ель</a:t>
              </a:r>
              <a:r>
                <a:rPr lang="en-US" sz="1600">
                  <a:solidFill>
                    <a:srgbClr val="333333"/>
                  </a:solidFill>
                </a:rPr>
                <a:t>»</a:t>
              </a:r>
              <a:r>
                <a:rPr lang="en-US" sz="1600" b="0" i="0">
                  <a:solidFill>
                    <a:srgbClr val="333333"/>
                  </a:solidFill>
                  <a:latin typeface="Arial"/>
                  <a:ea typeface="Arial"/>
                  <a:cs typeface="Arial"/>
                  <a:sym typeface="Arial"/>
                </a:rPr>
                <a:t>.</a:t>
              </a:r>
              <a:endParaRPr sz="1600" b="0" i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02" name="Google Shape;202;p7"/>
          <p:cNvSpPr/>
          <p:nvPr/>
        </p:nvSpPr>
        <p:spPr>
          <a:xfrm>
            <a:off x="5938900" y="1820525"/>
            <a:ext cx="5876100" cy="3392700"/>
          </a:xfrm>
          <a:prstGeom prst="roundRect">
            <a:avLst>
              <a:gd name="adj" fmla="val 5000"/>
            </a:avLst>
          </a:prstGeom>
          <a:solidFill>
            <a:srgbClr val="000000">
              <a:alpha val="0"/>
            </a:srgbClr>
          </a:solidFill>
          <a:ln w="19050" cap="flat" cmpd="sng">
            <a:solidFill>
              <a:srgbClr val="F9731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04" name="Google Shape;204;p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102725" y="2021325"/>
            <a:ext cx="5588750" cy="29203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" name="Google Shape;123;p2">
            <a:extLst>
              <a:ext uri="{FF2B5EF4-FFF2-40B4-BE49-F238E27FC236}">
                <a16:creationId xmlns:a16="http://schemas.microsoft.com/office/drawing/2014/main" id="{D4A0A003-1056-3EE4-13D1-E67302365671}"/>
              </a:ext>
            </a:extLst>
          </p:cNvPr>
          <p:cNvCxnSpPr/>
          <p:nvPr/>
        </p:nvCxnSpPr>
        <p:spPr>
          <a:xfrm rot="10800000">
            <a:off x="838203" y="6485308"/>
            <a:ext cx="10515600" cy="0"/>
          </a:xfrm>
          <a:prstGeom prst="straightConnector1">
            <a:avLst/>
          </a:prstGeom>
          <a:noFill/>
          <a:ln w="57150" cap="flat" cmpd="sng">
            <a:solidFill>
              <a:srgbClr val="F97316"/>
            </a:solidFill>
            <a:prstDash val="solid"/>
            <a:miter lim="8000"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9" name="Google Shape;209;g3a8b1442e01_0_602"/>
          <p:cNvGrpSpPr/>
          <p:nvPr/>
        </p:nvGrpSpPr>
        <p:grpSpPr>
          <a:xfrm>
            <a:off x="0" y="381000"/>
            <a:ext cx="11239500" cy="673500"/>
            <a:chOff x="0" y="381000"/>
            <a:chExt cx="11239500" cy="673500"/>
          </a:xfrm>
        </p:grpSpPr>
        <p:sp>
          <p:nvSpPr>
            <p:cNvPr id="210" name="Google Shape;210;g3a8b1442e01_0_602"/>
            <p:cNvSpPr/>
            <p:nvPr/>
          </p:nvSpPr>
          <p:spPr>
            <a:xfrm>
              <a:off x="0" y="381000"/>
              <a:ext cx="195900" cy="673500"/>
            </a:xfrm>
            <a:prstGeom prst="rect">
              <a:avLst/>
            </a:prstGeom>
            <a:solidFill>
              <a:srgbClr val="22C55E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" name="Google Shape;211;g3a8b1442e01_0_602"/>
            <p:cNvSpPr/>
            <p:nvPr/>
          </p:nvSpPr>
          <p:spPr>
            <a:xfrm>
              <a:off x="267836" y="381000"/>
              <a:ext cx="195900" cy="673500"/>
            </a:xfrm>
            <a:prstGeom prst="rect">
              <a:avLst/>
            </a:prstGeom>
            <a:solidFill>
              <a:srgbClr val="22C55E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Google Shape;212;g3a8b1442e01_0_602"/>
            <p:cNvSpPr/>
            <p:nvPr/>
          </p:nvSpPr>
          <p:spPr>
            <a:xfrm>
              <a:off x="535673" y="381000"/>
              <a:ext cx="195900" cy="673500"/>
            </a:xfrm>
            <a:prstGeom prst="rect">
              <a:avLst/>
            </a:prstGeom>
            <a:solidFill>
              <a:srgbClr val="22C55E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" name="Google Shape;213;g3a8b1442e01_0_602"/>
            <p:cNvSpPr txBox="1"/>
            <p:nvPr/>
          </p:nvSpPr>
          <p:spPr>
            <a:xfrm>
              <a:off x="952500" y="381000"/>
              <a:ext cx="10287000" cy="673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200" b="1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Глубокая нейронная сеть PointNet++</a:t>
              </a:r>
              <a:endParaRPr sz="32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14" name="Google Shape;214;g3a8b1442e01_0_602"/>
          <p:cNvGrpSpPr/>
          <p:nvPr/>
        </p:nvGrpSpPr>
        <p:grpSpPr>
          <a:xfrm>
            <a:off x="5966823" y="1694684"/>
            <a:ext cx="6160200" cy="4159464"/>
            <a:chOff x="-2661052" y="1333500"/>
            <a:chExt cx="6160200" cy="4572000"/>
          </a:xfrm>
        </p:grpSpPr>
        <p:sp>
          <p:nvSpPr>
            <p:cNvPr id="215" name="Google Shape;215;g3a8b1442e01_0_602"/>
            <p:cNvSpPr/>
            <p:nvPr/>
          </p:nvSpPr>
          <p:spPr>
            <a:xfrm>
              <a:off x="-2661052" y="1333500"/>
              <a:ext cx="6160200" cy="4572000"/>
            </a:xfrm>
            <a:prstGeom prst="roundRect">
              <a:avLst>
                <a:gd name="adj" fmla="val 2083"/>
              </a:avLst>
            </a:prstGeom>
            <a:solidFill>
              <a:srgbClr val="EEFFF4"/>
            </a:solidFill>
            <a:ln w="9525" cap="flat" cmpd="sng">
              <a:solidFill>
                <a:srgbClr val="22C55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Google Shape;216;g3a8b1442e01_0_602"/>
            <p:cNvSpPr txBox="1"/>
            <p:nvPr/>
          </p:nvSpPr>
          <p:spPr>
            <a:xfrm>
              <a:off x="-2484949" y="1524000"/>
              <a:ext cx="5808000" cy="4191000"/>
            </a:xfrm>
            <a:prstGeom prst="rect">
              <a:avLst/>
            </a:prstGeom>
            <a:solidFill>
              <a:srgbClr val="EEFFF4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rgbClr val="15803D"/>
                  </a:solidFill>
                  <a:latin typeface="Arial"/>
                  <a:ea typeface="Arial"/>
                  <a:cs typeface="Arial"/>
                  <a:sym typeface="Arial"/>
                </a:rPr>
                <a:t>Принцип иерархического анализа</a:t>
              </a:r>
              <a:endParaRPr sz="1600" b="1">
                <a:solidFill>
                  <a:srgbClr val="15803D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333333"/>
                  </a:solidFill>
                  <a:latin typeface="Arial"/>
                  <a:ea typeface="Arial"/>
                  <a:cs typeface="Arial"/>
                  <a:sym typeface="Arial"/>
                </a:rPr>
                <a:t>Противовесом Случайному лесу выступает нейронная сеть PointNet++. Вместо общих формул она использует принцип локального осмотра.</a:t>
              </a:r>
              <a:endParaRPr sz="160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333333"/>
                  </a:solidFill>
                  <a:latin typeface="Arial"/>
                  <a:ea typeface="Arial"/>
                  <a:cs typeface="Arial"/>
                  <a:sym typeface="Arial"/>
                </a:rPr>
                <a:t>Сеть равномерно раскидывает </a:t>
              </a:r>
              <a:r>
                <a:rPr lang="en-US" sz="1600">
                  <a:solidFill>
                    <a:srgbClr val="333333"/>
                  </a:solidFill>
                </a:rPr>
                <a:t>«якоря» </a:t>
              </a:r>
              <a:r>
                <a:rPr lang="en-US" sz="1600">
                  <a:solidFill>
                    <a:srgbClr val="333333"/>
                  </a:solidFill>
                  <a:latin typeface="Arial"/>
                  <a:ea typeface="Arial"/>
                  <a:cs typeface="Arial"/>
                  <a:sym typeface="Arial"/>
                </a:rPr>
                <a:t>по всему дереву, захватывает ближайших соседей в сферы и изучает их переплетения.</a:t>
              </a:r>
              <a:endParaRPr sz="160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marL="457200" lvl="0" indent="-330200" algn="l" rtl="0">
                <a:spcBef>
                  <a:spcPts val="750"/>
                </a:spcBef>
                <a:spcAft>
                  <a:spcPts val="0"/>
                </a:spcAft>
                <a:buClr>
                  <a:srgbClr val="333333"/>
                </a:buClr>
                <a:buSzPts val="1600"/>
                <a:buFont typeface="Arial"/>
                <a:buChar char="●"/>
              </a:pPr>
              <a:r>
                <a:rPr lang="en-US" sz="1600">
                  <a:solidFill>
                    <a:srgbClr val="333333"/>
                  </a:solidFill>
                  <a:latin typeface="Arial"/>
                  <a:ea typeface="Arial"/>
                  <a:cs typeface="Arial"/>
                  <a:sym typeface="Arial"/>
                </a:rPr>
                <a:t>Сначала распознаются мелкие детали: кусочки коры и изгибы веток.</a:t>
              </a:r>
              <a:endParaRPr sz="160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marL="457200" lvl="0" indent="-330200" algn="l" rtl="0">
                <a:spcBef>
                  <a:spcPts val="600"/>
                </a:spcBef>
                <a:spcAft>
                  <a:spcPts val="0"/>
                </a:spcAft>
                <a:buClr>
                  <a:srgbClr val="333333"/>
                </a:buClr>
                <a:buSzPts val="1600"/>
                <a:buFont typeface="Arial"/>
                <a:buChar char="●"/>
              </a:pPr>
              <a:r>
                <a:rPr lang="en-US" sz="1600">
                  <a:solidFill>
                    <a:srgbClr val="333333"/>
                  </a:solidFill>
                  <a:latin typeface="Arial"/>
                  <a:ea typeface="Arial"/>
                  <a:cs typeface="Arial"/>
                  <a:sym typeface="Arial"/>
                </a:rPr>
                <a:t>Затем данные объединяются в макроструктуры: форму целой кроны.</a:t>
              </a:r>
              <a:endParaRPr sz="160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600" i="1">
                  <a:solidFill>
                    <a:srgbClr val="333333"/>
                  </a:solidFill>
                  <a:latin typeface="Arial"/>
                  <a:ea typeface="Arial"/>
                  <a:cs typeface="Arial"/>
                  <a:sym typeface="Arial"/>
                </a:rPr>
                <a:t>Цель: сравнить математические признаки человека и скрытый анализ нейросети.</a:t>
              </a:r>
              <a:endParaRPr sz="1600" i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17" name="Google Shape;217;g3a8b1442e01_0_602"/>
          <p:cNvSpPr/>
          <p:nvPr/>
        </p:nvSpPr>
        <p:spPr>
          <a:xfrm>
            <a:off x="217225" y="2332025"/>
            <a:ext cx="5616600" cy="2871000"/>
          </a:xfrm>
          <a:prstGeom prst="roundRect">
            <a:avLst>
              <a:gd name="adj" fmla="val 5134"/>
            </a:avLst>
          </a:prstGeom>
          <a:solidFill>
            <a:srgbClr val="FFFFFF"/>
          </a:solidFill>
          <a:ln w="19050" cap="flat" cmpd="sng">
            <a:solidFill>
              <a:srgbClr val="22C55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19" name="Google Shape;219;g3a8b1442e01_0_60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4388" y="2559750"/>
            <a:ext cx="5482276" cy="22753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" name="Google Shape;123;p2">
            <a:extLst>
              <a:ext uri="{FF2B5EF4-FFF2-40B4-BE49-F238E27FC236}">
                <a16:creationId xmlns:a16="http://schemas.microsoft.com/office/drawing/2014/main" id="{4ABE882C-6683-4EFB-60D5-02980E9BCA03}"/>
              </a:ext>
            </a:extLst>
          </p:cNvPr>
          <p:cNvCxnSpPr/>
          <p:nvPr/>
        </p:nvCxnSpPr>
        <p:spPr>
          <a:xfrm rot="10800000">
            <a:off x="838203" y="6485308"/>
            <a:ext cx="10515600" cy="0"/>
          </a:xfrm>
          <a:prstGeom prst="straightConnector1">
            <a:avLst/>
          </a:prstGeom>
          <a:noFill/>
          <a:ln w="57150" cap="flat" cmpd="sng">
            <a:solidFill>
              <a:srgbClr val="22C55E"/>
            </a:solidFill>
            <a:prstDash val="solid"/>
            <a:miter lim="8000"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3a8b1442e01_0_1515"/>
          <p:cNvSpPr/>
          <p:nvPr/>
        </p:nvSpPr>
        <p:spPr>
          <a:xfrm>
            <a:off x="5818775" y="1333500"/>
            <a:ext cx="5649300" cy="4572000"/>
          </a:xfrm>
          <a:prstGeom prst="roundRect">
            <a:avLst>
              <a:gd name="adj" fmla="val 2083"/>
            </a:avLst>
          </a:prstGeom>
          <a:solidFill>
            <a:srgbClr val="000000">
              <a:alpha val="0"/>
            </a:srgbClr>
          </a:solidFill>
          <a:ln w="9525" cap="flat" cmpd="sng">
            <a:solidFill>
              <a:srgbClr val="0F9ED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g3a8b1442e01_0_1515"/>
          <p:cNvSpPr txBox="1">
            <a:spLocks noGrp="1"/>
          </p:cNvSpPr>
          <p:nvPr>
            <p:ph type="title"/>
          </p:nvPr>
        </p:nvSpPr>
        <p:spPr>
          <a:xfrm>
            <a:off x="952500" y="381000"/>
            <a:ext cx="10515600" cy="673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Исходные данные и их недостатки</a:t>
            </a:r>
            <a:endParaRPr sz="32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g3a8b1442e01_0_1515"/>
          <p:cNvSpPr txBox="1">
            <a:spLocks noGrp="1"/>
          </p:cNvSpPr>
          <p:nvPr>
            <p:ph type="body" idx="1"/>
          </p:nvPr>
        </p:nvSpPr>
        <p:spPr>
          <a:xfrm>
            <a:off x="5944449" y="4999850"/>
            <a:ext cx="1648500" cy="520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lvl="0" indent="0" algn="ctr" rtl="0">
              <a:spcBef>
                <a:spcPts val="1092"/>
              </a:spcBef>
              <a:spcAft>
                <a:spcPts val="0"/>
              </a:spcAft>
              <a:buNone/>
            </a:pPr>
            <a:r>
              <a:rPr lang="en-US" sz="1748" b="1">
                <a:solidFill>
                  <a:srgbClr val="0F9ED5"/>
                </a:solidFill>
                <a:latin typeface="Arial"/>
                <a:ea typeface="Arial"/>
                <a:cs typeface="Arial"/>
                <a:sym typeface="Arial"/>
              </a:rPr>
              <a:t>Берёза</a:t>
            </a:r>
            <a:endParaRPr sz="1748" b="1">
              <a:solidFill>
                <a:srgbClr val="0F9ED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g3a8b1442e01_0_1515"/>
          <p:cNvSpPr txBox="1">
            <a:spLocks noGrp="1"/>
          </p:cNvSpPr>
          <p:nvPr>
            <p:ph type="body" idx="1"/>
          </p:nvPr>
        </p:nvSpPr>
        <p:spPr>
          <a:xfrm>
            <a:off x="7840817" y="4999857"/>
            <a:ext cx="1612500" cy="520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lvl="0" indent="0" algn="ctr" rtl="0">
              <a:spcBef>
                <a:spcPts val="1092"/>
              </a:spcBef>
              <a:spcAft>
                <a:spcPts val="0"/>
              </a:spcAft>
              <a:buNone/>
            </a:pPr>
            <a:r>
              <a:rPr lang="en-US" sz="1748" b="1">
                <a:solidFill>
                  <a:srgbClr val="0F9ED5"/>
                </a:solidFill>
                <a:latin typeface="Arial"/>
                <a:ea typeface="Arial"/>
                <a:cs typeface="Arial"/>
                <a:sym typeface="Arial"/>
              </a:rPr>
              <a:t>Сосна</a:t>
            </a:r>
            <a:endParaRPr sz="1748" b="1">
              <a:solidFill>
                <a:srgbClr val="0F9ED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g3a8b1442e01_0_1515"/>
          <p:cNvSpPr txBox="1">
            <a:spLocks noGrp="1"/>
          </p:cNvSpPr>
          <p:nvPr>
            <p:ph type="body" idx="1"/>
          </p:nvPr>
        </p:nvSpPr>
        <p:spPr>
          <a:xfrm>
            <a:off x="9701188" y="4999857"/>
            <a:ext cx="1612500" cy="520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lvl="0" indent="0" algn="ctr" rtl="0">
              <a:spcBef>
                <a:spcPts val="1092"/>
              </a:spcBef>
              <a:spcAft>
                <a:spcPts val="0"/>
              </a:spcAft>
              <a:buNone/>
            </a:pPr>
            <a:r>
              <a:rPr lang="en-US" sz="1748" b="1">
                <a:solidFill>
                  <a:srgbClr val="0F9ED5"/>
                </a:solidFill>
                <a:latin typeface="Arial"/>
                <a:ea typeface="Arial"/>
                <a:cs typeface="Arial"/>
                <a:sym typeface="Arial"/>
              </a:rPr>
              <a:t>Ель</a:t>
            </a:r>
            <a:endParaRPr sz="1748" b="1">
              <a:solidFill>
                <a:srgbClr val="0F9ED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29" name="Google Shape;229;g3a8b1442e01_0_1515"/>
          <p:cNvGrpSpPr/>
          <p:nvPr/>
        </p:nvGrpSpPr>
        <p:grpSpPr>
          <a:xfrm>
            <a:off x="0" y="381000"/>
            <a:ext cx="731573" cy="673500"/>
            <a:chOff x="0" y="381000"/>
            <a:chExt cx="731573" cy="673500"/>
          </a:xfrm>
        </p:grpSpPr>
        <p:sp>
          <p:nvSpPr>
            <p:cNvPr id="230" name="Google Shape;230;g3a8b1442e01_0_1515"/>
            <p:cNvSpPr/>
            <p:nvPr/>
          </p:nvSpPr>
          <p:spPr>
            <a:xfrm>
              <a:off x="0" y="381000"/>
              <a:ext cx="195900" cy="673500"/>
            </a:xfrm>
            <a:prstGeom prst="rect">
              <a:avLst/>
            </a:prstGeom>
            <a:solidFill>
              <a:srgbClr val="0F9ED5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" name="Google Shape;231;g3a8b1442e01_0_1515"/>
            <p:cNvSpPr/>
            <p:nvPr/>
          </p:nvSpPr>
          <p:spPr>
            <a:xfrm>
              <a:off x="267836" y="381000"/>
              <a:ext cx="195900" cy="673500"/>
            </a:xfrm>
            <a:prstGeom prst="rect">
              <a:avLst/>
            </a:prstGeom>
            <a:solidFill>
              <a:srgbClr val="0F9ED5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" name="Google Shape;232;g3a8b1442e01_0_1515"/>
            <p:cNvSpPr/>
            <p:nvPr/>
          </p:nvSpPr>
          <p:spPr>
            <a:xfrm>
              <a:off x="535673" y="381000"/>
              <a:ext cx="195900" cy="673500"/>
            </a:xfrm>
            <a:prstGeom prst="rect">
              <a:avLst/>
            </a:prstGeom>
            <a:solidFill>
              <a:srgbClr val="0F9ED5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233" name="Google Shape;233;g3a8b1442e01_0_15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44450" y="1556350"/>
            <a:ext cx="1899850" cy="3443500"/>
          </a:xfrm>
          <a:prstGeom prst="rect">
            <a:avLst/>
          </a:prstGeom>
          <a:solidFill>
            <a:srgbClr val="000000">
              <a:alpha val="0"/>
            </a:srgbClr>
          </a:solidFill>
          <a:ln w="104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34" name="Google Shape;234;g3a8b1442e01_0_1515"/>
          <p:cNvSpPr/>
          <p:nvPr/>
        </p:nvSpPr>
        <p:spPr>
          <a:xfrm>
            <a:off x="731575" y="1333500"/>
            <a:ext cx="4903500" cy="4572000"/>
          </a:xfrm>
          <a:prstGeom prst="roundRect">
            <a:avLst>
              <a:gd name="adj" fmla="val 2631"/>
            </a:avLst>
          </a:prstGeom>
          <a:solidFill>
            <a:srgbClr val="F8FAFC"/>
          </a:solidFill>
          <a:ln w="9525" cap="flat" cmpd="sng">
            <a:solidFill>
              <a:srgbClr val="0F9ED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g3a8b1442e01_0_1515"/>
          <p:cNvSpPr txBox="1"/>
          <p:nvPr/>
        </p:nvSpPr>
        <p:spPr>
          <a:xfrm>
            <a:off x="952500" y="1499150"/>
            <a:ext cx="4478400" cy="42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600" b="1">
                <a:solidFill>
                  <a:srgbClr val="0F9ED5"/>
                </a:solidFill>
                <a:latin typeface="Arial"/>
                <a:ea typeface="Arial"/>
                <a:cs typeface="Arial"/>
                <a:sym typeface="Arial"/>
              </a:rPr>
              <a:t>Выбранные данные</a:t>
            </a:r>
            <a:endParaRPr sz="160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600">
                <a:solidFill>
                  <a:srgbClr val="333333"/>
                </a:solidFill>
              </a:rPr>
              <a:t>Для исследования была использована база данных из шести пород деревьев: ель, сосна, пихта, береза, осина и ольха.</a:t>
            </a:r>
            <a:endParaRPr sz="1600">
              <a:solidFill>
                <a:srgbClr val="333333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600">
                <a:solidFill>
                  <a:srgbClr val="333333"/>
                </a:solidFill>
              </a:rPr>
              <a:t>Исходные данные представляли собой «сырые» файлы, которые нельзя было сразу отдать компьютеру.</a:t>
            </a:r>
            <a:endParaRPr sz="1600">
              <a:solidFill>
                <a:srgbClr val="333333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600">
                <a:solidFill>
                  <a:srgbClr val="333333"/>
                </a:solidFill>
              </a:rPr>
              <a:t>Во-первых, большинство деревьев были вырезаны из леса вместе с кусками земли, камнями и травой.</a:t>
            </a:r>
            <a:endParaRPr sz="1600">
              <a:solidFill>
                <a:srgbClr val="333333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600">
                <a:solidFill>
                  <a:srgbClr val="333333"/>
                </a:solidFill>
              </a:rPr>
              <a:t>Во-вторых, у всех деревьев было разное количество точек (от двух до пяти тысяч).</a:t>
            </a:r>
            <a:endParaRPr sz="1600">
              <a:solidFill>
                <a:srgbClr val="333333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600">
                <a:solidFill>
                  <a:srgbClr val="333333"/>
                </a:solidFill>
              </a:rPr>
              <a:t>Кроме того, они имели огромные географические координаты, что привело бы к ошибкам в математических расчетах сети.</a:t>
            </a:r>
            <a:endParaRPr sz="2800">
              <a:solidFill>
                <a:srgbClr val="333333"/>
              </a:solidFill>
            </a:endParaRPr>
          </a:p>
        </p:txBody>
      </p:sp>
      <p:cxnSp>
        <p:nvCxnSpPr>
          <p:cNvPr id="236" name="Google Shape;236;g3a8b1442e01_0_1515"/>
          <p:cNvCxnSpPr/>
          <p:nvPr/>
        </p:nvCxnSpPr>
        <p:spPr>
          <a:xfrm rot="10800000">
            <a:off x="838203" y="6485308"/>
            <a:ext cx="10515600" cy="0"/>
          </a:xfrm>
          <a:prstGeom prst="straightConnector1">
            <a:avLst/>
          </a:prstGeom>
          <a:noFill/>
          <a:ln w="57150" cap="flat" cmpd="sng">
            <a:solidFill>
              <a:srgbClr val="0F9ED5"/>
            </a:solidFill>
            <a:prstDash val="solid"/>
            <a:miter lim="8000"/>
            <a:headEnd type="none" w="sm" len="sm"/>
            <a:tailEnd type="none" w="sm" len="sm"/>
          </a:ln>
        </p:spPr>
      </p:cxnSp>
      <p:pic>
        <p:nvPicPr>
          <p:cNvPr id="237" name="Google Shape;237;g3a8b1442e01_0_15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81425" y="1633838"/>
            <a:ext cx="1648500" cy="3338213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Google Shape;238;g3a8b1442e01_0_151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743425" y="1623531"/>
            <a:ext cx="1648500" cy="33588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e473cf74e9_0_198"/>
          <p:cNvSpPr txBox="1">
            <a:spLocks noGrp="1"/>
          </p:cNvSpPr>
          <p:nvPr>
            <p:ph type="title"/>
          </p:nvPr>
        </p:nvSpPr>
        <p:spPr>
          <a:xfrm>
            <a:off x="952500" y="381000"/>
            <a:ext cx="10515600" cy="673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2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Исходные данные и их недостатки</a:t>
            </a:r>
            <a:endParaRPr sz="32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44" name="Google Shape;244;g3e473cf74e9_0_198"/>
          <p:cNvGrpSpPr/>
          <p:nvPr/>
        </p:nvGrpSpPr>
        <p:grpSpPr>
          <a:xfrm>
            <a:off x="0" y="381000"/>
            <a:ext cx="731573" cy="673500"/>
            <a:chOff x="0" y="381000"/>
            <a:chExt cx="731573" cy="673500"/>
          </a:xfrm>
        </p:grpSpPr>
        <p:sp>
          <p:nvSpPr>
            <p:cNvPr id="245" name="Google Shape;245;g3e473cf74e9_0_198"/>
            <p:cNvSpPr/>
            <p:nvPr/>
          </p:nvSpPr>
          <p:spPr>
            <a:xfrm>
              <a:off x="0" y="381000"/>
              <a:ext cx="195900" cy="673500"/>
            </a:xfrm>
            <a:prstGeom prst="rect">
              <a:avLst/>
            </a:prstGeom>
            <a:solidFill>
              <a:srgbClr val="0F9ED5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Google Shape;246;g3e473cf74e9_0_198"/>
            <p:cNvSpPr/>
            <p:nvPr/>
          </p:nvSpPr>
          <p:spPr>
            <a:xfrm>
              <a:off x="267836" y="381000"/>
              <a:ext cx="195900" cy="673500"/>
            </a:xfrm>
            <a:prstGeom prst="rect">
              <a:avLst/>
            </a:prstGeom>
            <a:solidFill>
              <a:srgbClr val="0F9ED5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" name="Google Shape;247;g3e473cf74e9_0_198"/>
            <p:cNvSpPr/>
            <p:nvPr/>
          </p:nvSpPr>
          <p:spPr>
            <a:xfrm>
              <a:off x="535673" y="381000"/>
              <a:ext cx="195900" cy="673500"/>
            </a:xfrm>
            <a:prstGeom prst="rect">
              <a:avLst/>
            </a:prstGeom>
            <a:solidFill>
              <a:srgbClr val="0F9ED5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8" name="Google Shape;248;g3e473cf74e9_0_198"/>
          <p:cNvSpPr/>
          <p:nvPr/>
        </p:nvSpPr>
        <p:spPr>
          <a:xfrm>
            <a:off x="731575" y="1333500"/>
            <a:ext cx="4903500" cy="4572000"/>
          </a:xfrm>
          <a:prstGeom prst="roundRect">
            <a:avLst>
              <a:gd name="adj" fmla="val 2631"/>
            </a:avLst>
          </a:prstGeom>
          <a:solidFill>
            <a:srgbClr val="F8FAFC"/>
          </a:solidFill>
          <a:ln w="9525" cap="flat" cmpd="sng">
            <a:solidFill>
              <a:srgbClr val="0F9ED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9" name="Google Shape;249;g3e473cf74e9_0_198"/>
          <p:cNvSpPr txBox="1"/>
          <p:nvPr/>
        </p:nvSpPr>
        <p:spPr>
          <a:xfrm>
            <a:off x="952500" y="1499150"/>
            <a:ext cx="4478400" cy="42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600" b="1">
                <a:solidFill>
                  <a:srgbClr val="0F9ED5"/>
                </a:solidFill>
                <a:latin typeface="Arial"/>
                <a:ea typeface="Arial"/>
                <a:cs typeface="Arial"/>
                <a:sym typeface="Arial"/>
              </a:rPr>
              <a:t>Исходные данные</a:t>
            </a:r>
            <a:endParaRPr sz="1600">
              <a:solidFill>
                <a:srgbClr val="333333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333333"/>
                </a:solidFill>
              </a:rPr>
              <a:t>Чтобы модели работали корректно, была написана программу очистки данных из трёх шагов.</a:t>
            </a:r>
            <a:endParaRPr sz="1600">
              <a:solidFill>
                <a:srgbClr val="333333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333333"/>
                </a:solidFill>
              </a:rPr>
              <a:t>Сначала скрипт отсекал нижние 40 сантиметров облака, полностью удаляя землю и оставляя только чистый ствол. Затем облако прореживалось. Все деревья были приведены к единому стандарту </a:t>
            </a:r>
            <a:r>
              <a:rPr lang="en-US">
                <a:solidFill>
                  <a:srgbClr val="33333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–</a:t>
            </a:r>
            <a:r>
              <a:rPr lang="en-US" sz="1600">
                <a:solidFill>
                  <a:srgbClr val="333333"/>
                </a:solidFill>
              </a:rPr>
              <a:t> ровно 2048 точек. Этого достаточно для сохранения формы кроны и не перегружает видеокарту.</a:t>
            </a:r>
            <a:endParaRPr sz="1600">
              <a:solidFill>
                <a:srgbClr val="333333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333333"/>
                </a:solidFill>
              </a:rPr>
              <a:t>В конце каждое дерево было смещено ровно в нулевой центр координат и сжато в невидимую сферу, сохранив идеальные пропорции. После этого данные были готовы к обучению.</a:t>
            </a:r>
            <a:endParaRPr sz="1600">
              <a:solidFill>
                <a:srgbClr val="333333"/>
              </a:solidFill>
            </a:endParaRPr>
          </a:p>
        </p:txBody>
      </p:sp>
      <p:cxnSp>
        <p:nvCxnSpPr>
          <p:cNvPr id="250" name="Google Shape;250;g3e473cf74e9_0_198"/>
          <p:cNvCxnSpPr/>
          <p:nvPr/>
        </p:nvCxnSpPr>
        <p:spPr>
          <a:xfrm rot="10800000">
            <a:off x="838203" y="6485308"/>
            <a:ext cx="10515600" cy="0"/>
          </a:xfrm>
          <a:prstGeom prst="straightConnector1">
            <a:avLst/>
          </a:prstGeom>
          <a:noFill/>
          <a:ln w="57150" cap="flat" cmpd="sng">
            <a:solidFill>
              <a:srgbClr val="0F9ED5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251" name="Google Shape;251;g3e473cf74e9_0_198"/>
          <p:cNvSpPr/>
          <p:nvPr/>
        </p:nvSpPr>
        <p:spPr>
          <a:xfrm>
            <a:off x="5818775" y="1333500"/>
            <a:ext cx="5649300" cy="4572000"/>
          </a:xfrm>
          <a:prstGeom prst="roundRect">
            <a:avLst>
              <a:gd name="adj" fmla="val 2083"/>
            </a:avLst>
          </a:prstGeom>
          <a:solidFill>
            <a:srgbClr val="000000">
              <a:alpha val="0"/>
            </a:srgbClr>
          </a:solidFill>
          <a:ln w="9525" cap="flat" cmpd="sng">
            <a:solidFill>
              <a:srgbClr val="0F9ED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2" name="Google Shape;252;g3e473cf74e9_0_198"/>
          <p:cNvSpPr txBox="1">
            <a:spLocks noGrp="1"/>
          </p:cNvSpPr>
          <p:nvPr>
            <p:ph type="body" idx="1"/>
          </p:nvPr>
        </p:nvSpPr>
        <p:spPr>
          <a:xfrm>
            <a:off x="5944449" y="4999850"/>
            <a:ext cx="1648500" cy="520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lvl="0" indent="0" algn="ctr" rtl="0">
              <a:spcBef>
                <a:spcPts val="1092"/>
              </a:spcBef>
              <a:spcAft>
                <a:spcPts val="0"/>
              </a:spcAft>
              <a:buNone/>
            </a:pPr>
            <a:r>
              <a:rPr lang="en-US" sz="1748" b="1">
                <a:solidFill>
                  <a:srgbClr val="0F9ED5"/>
                </a:solidFill>
                <a:latin typeface="Arial"/>
                <a:ea typeface="Arial"/>
                <a:cs typeface="Arial"/>
                <a:sym typeface="Arial"/>
              </a:rPr>
              <a:t>Берёза</a:t>
            </a:r>
            <a:endParaRPr sz="1748" b="1">
              <a:solidFill>
                <a:srgbClr val="0F9ED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g3e473cf74e9_0_198"/>
          <p:cNvSpPr txBox="1">
            <a:spLocks noGrp="1"/>
          </p:cNvSpPr>
          <p:nvPr>
            <p:ph type="body" idx="1"/>
          </p:nvPr>
        </p:nvSpPr>
        <p:spPr>
          <a:xfrm>
            <a:off x="9701188" y="4999857"/>
            <a:ext cx="1612500" cy="520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lvl="0" indent="0" algn="ctr" rtl="0">
              <a:spcBef>
                <a:spcPts val="1092"/>
              </a:spcBef>
              <a:spcAft>
                <a:spcPts val="0"/>
              </a:spcAft>
              <a:buNone/>
            </a:pPr>
            <a:r>
              <a:rPr lang="en-US" sz="1748" b="1">
                <a:solidFill>
                  <a:srgbClr val="0F9ED5"/>
                </a:solidFill>
                <a:latin typeface="Arial"/>
                <a:ea typeface="Arial"/>
                <a:cs typeface="Arial"/>
                <a:sym typeface="Arial"/>
              </a:rPr>
              <a:t>Ель</a:t>
            </a:r>
            <a:endParaRPr sz="1748" b="1">
              <a:solidFill>
                <a:srgbClr val="0F9ED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54" name="Google Shape;254;g3e473cf74e9_0_19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06491" y="1511930"/>
            <a:ext cx="1937809" cy="3512275"/>
          </a:xfrm>
          <a:prstGeom prst="rect">
            <a:avLst/>
          </a:prstGeom>
          <a:noFill/>
          <a:ln>
            <a:noFill/>
          </a:ln>
        </p:spPr>
      </p:pic>
      <p:sp>
        <p:nvSpPr>
          <p:cNvPr id="255" name="Google Shape;255;g3e473cf74e9_0_198"/>
          <p:cNvSpPr txBox="1">
            <a:spLocks noGrp="1"/>
          </p:cNvSpPr>
          <p:nvPr>
            <p:ph type="body" idx="1"/>
          </p:nvPr>
        </p:nvSpPr>
        <p:spPr>
          <a:xfrm>
            <a:off x="7840817" y="4999857"/>
            <a:ext cx="1612500" cy="520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lvl="0" indent="0" algn="ctr" rtl="0">
              <a:spcBef>
                <a:spcPts val="1092"/>
              </a:spcBef>
              <a:spcAft>
                <a:spcPts val="0"/>
              </a:spcAft>
              <a:buNone/>
            </a:pPr>
            <a:r>
              <a:rPr lang="en-US" sz="1748" b="1">
                <a:solidFill>
                  <a:srgbClr val="0F9ED5"/>
                </a:solidFill>
                <a:latin typeface="Arial"/>
                <a:ea typeface="Arial"/>
                <a:cs typeface="Arial"/>
                <a:sym typeface="Arial"/>
              </a:rPr>
              <a:t>Сосна</a:t>
            </a:r>
            <a:endParaRPr sz="1748" b="1">
              <a:solidFill>
                <a:srgbClr val="0F9ED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56" name="Google Shape;256;g3e473cf74e9_0_19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87775" y="1633850"/>
            <a:ext cx="1612500" cy="3265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7" name="Google Shape;257;g3e473cf74e9_0_19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732477" y="1655747"/>
            <a:ext cx="1612500" cy="3285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e473cf74e9_0_247"/>
          <p:cNvSpPr txBox="1"/>
          <p:nvPr/>
        </p:nvSpPr>
        <p:spPr>
          <a:xfrm>
            <a:off x="952500" y="1047750"/>
            <a:ext cx="102870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Чтобы научить «Случайный лес» различать деревья независимо от угла обзора, мы применили инвариантные к вращению параметры. Алгоритм переводит координаты в цилиндрическую систему и вычисляет 22 уникальные характеристики, которые описывают форму кроны со всех сторон.</a:t>
            </a:r>
            <a:endParaRPr sz="16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84" name="Google Shape;284;g3e473cf74e9_0_247"/>
          <p:cNvGrpSpPr/>
          <p:nvPr/>
        </p:nvGrpSpPr>
        <p:grpSpPr>
          <a:xfrm>
            <a:off x="0" y="381000"/>
            <a:ext cx="11239500" cy="673500"/>
            <a:chOff x="0" y="381000"/>
            <a:chExt cx="11239500" cy="673500"/>
          </a:xfrm>
        </p:grpSpPr>
        <p:sp>
          <p:nvSpPr>
            <p:cNvPr id="285" name="Google Shape;285;g3e473cf74e9_0_247"/>
            <p:cNvSpPr/>
            <p:nvPr/>
          </p:nvSpPr>
          <p:spPr>
            <a:xfrm>
              <a:off x="0" y="381000"/>
              <a:ext cx="195900" cy="673500"/>
            </a:xfrm>
            <a:prstGeom prst="rect">
              <a:avLst/>
            </a:prstGeom>
            <a:solidFill>
              <a:srgbClr val="F97316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" name="Google Shape;286;g3e473cf74e9_0_247"/>
            <p:cNvSpPr/>
            <p:nvPr/>
          </p:nvSpPr>
          <p:spPr>
            <a:xfrm>
              <a:off x="267836" y="381000"/>
              <a:ext cx="195900" cy="673500"/>
            </a:xfrm>
            <a:prstGeom prst="rect">
              <a:avLst/>
            </a:prstGeom>
            <a:solidFill>
              <a:srgbClr val="F97316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" name="Google Shape;287;g3e473cf74e9_0_247"/>
            <p:cNvSpPr/>
            <p:nvPr/>
          </p:nvSpPr>
          <p:spPr>
            <a:xfrm>
              <a:off x="535673" y="381000"/>
              <a:ext cx="195900" cy="673500"/>
            </a:xfrm>
            <a:prstGeom prst="rect">
              <a:avLst/>
            </a:prstGeom>
            <a:solidFill>
              <a:srgbClr val="F97316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" name="Google Shape;288;g3e473cf74e9_0_247"/>
            <p:cNvSpPr txBox="1"/>
            <p:nvPr/>
          </p:nvSpPr>
          <p:spPr>
            <a:xfrm>
              <a:off x="952500" y="381000"/>
              <a:ext cx="10287000" cy="673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200" b="1" i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Извлечение математических признаков</a:t>
              </a:r>
              <a:endParaRPr sz="3200" b="1" i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2" name="Google Shape;123;p2">
            <a:extLst>
              <a:ext uri="{FF2B5EF4-FFF2-40B4-BE49-F238E27FC236}">
                <a16:creationId xmlns:a16="http://schemas.microsoft.com/office/drawing/2014/main" id="{E68137C6-9137-604B-8DB7-4192D0788917}"/>
              </a:ext>
            </a:extLst>
          </p:cNvPr>
          <p:cNvCxnSpPr/>
          <p:nvPr/>
        </p:nvCxnSpPr>
        <p:spPr>
          <a:xfrm rot="10800000">
            <a:off x="838203" y="6485308"/>
            <a:ext cx="10515600" cy="0"/>
          </a:xfrm>
          <a:prstGeom prst="straightConnector1">
            <a:avLst/>
          </a:prstGeom>
          <a:noFill/>
          <a:ln w="57150" cap="flat" cmpd="sng">
            <a:solidFill>
              <a:srgbClr val="F97316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9" name="Google Shape;300;g3e473cf74e9_0_599">
            <a:extLst>
              <a:ext uri="{FF2B5EF4-FFF2-40B4-BE49-F238E27FC236}">
                <a16:creationId xmlns:a16="http://schemas.microsoft.com/office/drawing/2014/main" id="{897618CF-AD65-4D1D-831B-635038C6B9D3}"/>
              </a:ext>
            </a:extLst>
          </p:cNvPr>
          <p:cNvCxnSpPr/>
          <p:nvPr/>
        </p:nvCxnSpPr>
        <p:spPr>
          <a:xfrm>
            <a:off x="6096000" y="2667000"/>
            <a:ext cx="0" cy="285900"/>
          </a:xfrm>
          <a:prstGeom prst="straightConnector1">
            <a:avLst/>
          </a:prstGeom>
          <a:solidFill>
            <a:srgbClr val="FFFFFF"/>
          </a:solidFill>
          <a:ln w="19050" cap="flat" cmpd="sng">
            <a:solidFill>
              <a:srgbClr val="F97316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0" name="Google Shape;302;g3e473cf74e9_0_599">
            <a:extLst>
              <a:ext uri="{FF2B5EF4-FFF2-40B4-BE49-F238E27FC236}">
                <a16:creationId xmlns:a16="http://schemas.microsoft.com/office/drawing/2014/main" id="{2F437CEA-0E87-435D-74CB-10703EEA0DBB}"/>
              </a:ext>
            </a:extLst>
          </p:cNvPr>
          <p:cNvCxnSpPr/>
          <p:nvPr/>
        </p:nvCxnSpPr>
        <p:spPr>
          <a:xfrm>
            <a:off x="2857500" y="2952750"/>
            <a:ext cx="0" cy="190500"/>
          </a:xfrm>
          <a:prstGeom prst="straightConnector1">
            <a:avLst/>
          </a:prstGeom>
          <a:solidFill>
            <a:srgbClr val="FFFFFF"/>
          </a:solidFill>
          <a:ln w="19050" cap="flat" cmpd="sng">
            <a:solidFill>
              <a:srgbClr val="F97316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1" name="Google Shape;303;g3e473cf74e9_0_599">
            <a:extLst>
              <a:ext uri="{FF2B5EF4-FFF2-40B4-BE49-F238E27FC236}">
                <a16:creationId xmlns:a16="http://schemas.microsoft.com/office/drawing/2014/main" id="{5F01CEDA-34A7-3895-3436-2EFC74E46F31}"/>
              </a:ext>
            </a:extLst>
          </p:cNvPr>
          <p:cNvCxnSpPr/>
          <p:nvPr/>
        </p:nvCxnSpPr>
        <p:spPr>
          <a:xfrm>
            <a:off x="9334500" y="2952750"/>
            <a:ext cx="0" cy="190500"/>
          </a:xfrm>
          <a:prstGeom prst="straightConnector1">
            <a:avLst/>
          </a:prstGeom>
          <a:solidFill>
            <a:srgbClr val="FFFFFF"/>
          </a:solidFill>
          <a:ln w="19050" cap="flat" cmpd="sng">
            <a:solidFill>
              <a:srgbClr val="F97316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12" name="Google Shape;304;g3e473cf74e9_0_599">
            <a:extLst>
              <a:ext uri="{FF2B5EF4-FFF2-40B4-BE49-F238E27FC236}">
                <a16:creationId xmlns:a16="http://schemas.microsoft.com/office/drawing/2014/main" id="{67517942-954A-139C-6DC2-F6719A8A8A66}"/>
              </a:ext>
            </a:extLst>
          </p:cNvPr>
          <p:cNvGrpSpPr/>
          <p:nvPr/>
        </p:nvGrpSpPr>
        <p:grpSpPr>
          <a:xfrm>
            <a:off x="381000" y="3143250"/>
            <a:ext cx="4953000" cy="1718400"/>
            <a:chOff x="381000" y="3143250"/>
            <a:chExt cx="4953000" cy="1718400"/>
          </a:xfrm>
        </p:grpSpPr>
        <p:sp>
          <p:nvSpPr>
            <p:cNvPr id="13" name="Google Shape;305;g3e473cf74e9_0_599">
              <a:extLst>
                <a:ext uri="{FF2B5EF4-FFF2-40B4-BE49-F238E27FC236}">
                  <a16:creationId xmlns:a16="http://schemas.microsoft.com/office/drawing/2014/main" id="{288A026D-C6B0-0453-853D-FE233807692C}"/>
                </a:ext>
              </a:extLst>
            </p:cNvPr>
            <p:cNvSpPr/>
            <p:nvPr/>
          </p:nvSpPr>
          <p:spPr>
            <a:xfrm>
              <a:off x="381000" y="3143250"/>
              <a:ext cx="4953000" cy="476400"/>
            </a:xfrm>
            <a:prstGeom prst="roundRect">
              <a:avLst>
                <a:gd name="adj" fmla="val 10000"/>
              </a:avLst>
            </a:prstGeom>
            <a:solidFill>
              <a:srgbClr val="000000">
                <a:alpha val="0"/>
              </a:srgbClr>
            </a:solidFill>
            <a:ln w="19050" cap="flat" cmpd="sng">
              <a:solidFill>
                <a:srgbClr val="F9731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306;g3e473cf74e9_0_599">
              <a:extLst>
                <a:ext uri="{FF2B5EF4-FFF2-40B4-BE49-F238E27FC236}">
                  <a16:creationId xmlns:a16="http://schemas.microsoft.com/office/drawing/2014/main" id="{D43B2777-8610-1002-CB1A-FEB44AFD6B2B}"/>
                </a:ext>
              </a:extLst>
            </p:cNvPr>
            <p:cNvSpPr txBox="1"/>
            <p:nvPr/>
          </p:nvSpPr>
          <p:spPr>
            <a:xfrm>
              <a:off x="381000" y="3143250"/>
              <a:ext cx="4953000" cy="476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1400" b="1">
                  <a:solidFill>
                    <a:srgbClr val="F97316"/>
                  </a:solidFill>
                  <a:latin typeface="Arial"/>
                  <a:ea typeface="Arial"/>
                  <a:cs typeface="Arial"/>
                  <a:sym typeface="Arial"/>
                </a:rPr>
                <a:t>Высотные признаки</a:t>
              </a:r>
              <a:endParaRPr sz="1400" b="1">
                <a:solidFill>
                  <a:srgbClr val="F9731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" name="Google Shape;307;g3e473cf74e9_0_599">
              <a:extLst>
                <a:ext uri="{FF2B5EF4-FFF2-40B4-BE49-F238E27FC236}">
                  <a16:creationId xmlns:a16="http://schemas.microsoft.com/office/drawing/2014/main" id="{734485C8-2D66-83D5-163A-E3D86E71FDA3}"/>
                </a:ext>
              </a:extLst>
            </p:cNvPr>
            <p:cNvSpPr txBox="1"/>
            <p:nvPr/>
          </p:nvSpPr>
          <p:spPr>
            <a:xfrm>
              <a:off x="381000" y="3714750"/>
              <a:ext cx="4953000" cy="1146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b="1">
                  <a:solidFill>
                    <a:srgbClr val="333333"/>
                  </a:solidFill>
                </a:rPr>
                <a:t>7</a:t>
              </a:r>
              <a:r>
                <a:rPr lang="en-US" b="1">
                  <a:solidFill>
                    <a:srgbClr val="333333"/>
                  </a:solidFill>
                  <a:latin typeface="Arial"/>
                  <a:ea typeface="Arial"/>
                  <a:cs typeface="Arial"/>
                  <a:sym typeface="Arial"/>
                </a:rPr>
                <a:t> признак</a:t>
              </a:r>
              <a:r>
                <a:rPr lang="ru-RU" b="1">
                  <a:solidFill>
                    <a:srgbClr val="333333"/>
                  </a:solidFill>
                  <a:latin typeface="Arial"/>
                  <a:ea typeface="Arial"/>
                  <a:cs typeface="Arial"/>
                  <a:sym typeface="Arial"/>
                </a:rPr>
                <a:t>ов</a:t>
              </a:r>
              <a:r>
                <a:rPr lang="en-US" b="1">
                  <a:solidFill>
                    <a:srgbClr val="333333"/>
                  </a:solidFill>
                  <a:latin typeface="Arial"/>
                  <a:ea typeface="Arial"/>
                  <a:cs typeface="Arial"/>
                  <a:sym typeface="Arial"/>
                </a:rPr>
                <a:t>.</a:t>
              </a:r>
              <a:r>
                <a:rPr lang="en-US" b="0">
                  <a:solidFill>
                    <a:srgbClr val="333333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ru-RU" b="0">
                  <a:solidFill>
                    <a:srgbClr val="333333"/>
                  </a:solidFill>
                  <a:latin typeface="Arial"/>
                  <a:ea typeface="Arial"/>
                  <a:cs typeface="Arial"/>
                  <a:sym typeface="Arial"/>
                </a:rPr>
                <a:t>Описывают абсолютную высоту дерева и то, как масса точек распределена по вертикали. Вычисляется максимальная высота, дисперсия точек по оси </a:t>
              </a:r>
              <a:r>
                <a:rPr lang="en-US" b="0">
                  <a:solidFill>
                    <a:srgbClr val="333333"/>
                  </a:solidFill>
                  <a:latin typeface="Arial"/>
                  <a:ea typeface="Arial"/>
                  <a:cs typeface="Arial"/>
                  <a:sym typeface="Arial"/>
                </a:rPr>
                <a:t>Z</a:t>
              </a:r>
              <a:r>
                <a:rPr lang="ru-RU" b="0">
                  <a:solidFill>
                    <a:srgbClr val="333333"/>
                  </a:solidFill>
                  <a:latin typeface="Arial"/>
                  <a:ea typeface="Arial"/>
                  <a:cs typeface="Arial"/>
                  <a:sym typeface="Arial"/>
                </a:rPr>
                <a:t>,</a:t>
              </a:r>
              <a:r>
                <a:rPr lang="en-US" b="0">
                  <a:solidFill>
                    <a:srgbClr val="333333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ru-RU" b="0">
                  <a:solidFill>
                    <a:srgbClr val="333333"/>
                  </a:solidFill>
                  <a:latin typeface="Arial"/>
                  <a:ea typeface="Arial"/>
                  <a:cs typeface="Arial"/>
                  <a:sym typeface="Arial"/>
                </a:rPr>
                <a:t>а также 5 перцентилей, Признаки абсолютно инварианты и не зависят от угла сканирования</a:t>
              </a:r>
              <a:r>
                <a:rPr lang="ru-RU">
                  <a:solidFill>
                    <a:srgbClr val="333333"/>
                  </a:solidFill>
                </a:rPr>
                <a:t>,</a:t>
              </a:r>
              <a:endParaRPr lang="ru-RU" b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6" name="Google Shape;308;g3e473cf74e9_0_599">
            <a:extLst>
              <a:ext uri="{FF2B5EF4-FFF2-40B4-BE49-F238E27FC236}">
                <a16:creationId xmlns:a16="http://schemas.microsoft.com/office/drawing/2014/main" id="{B6EA5AD6-9FA7-D165-A58C-17275243DC61}"/>
              </a:ext>
            </a:extLst>
          </p:cNvPr>
          <p:cNvGrpSpPr/>
          <p:nvPr/>
        </p:nvGrpSpPr>
        <p:grpSpPr>
          <a:xfrm>
            <a:off x="6858000" y="3143321"/>
            <a:ext cx="4953000" cy="1630859"/>
            <a:chOff x="6858000" y="3143249"/>
            <a:chExt cx="4953000" cy="1965127"/>
          </a:xfrm>
        </p:grpSpPr>
        <p:sp>
          <p:nvSpPr>
            <p:cNvPr id="17" name="Google Shape;309;g3e473cf74e9_0_599">
              <a:extLst>
                <a:ext uri="{FF2B5EF4-FFF2-40B4-BE49-F238E27FC236}">
                  <a16:creationId xmlns:a16="http://schemas.microsoft.com/office/drawing/2014/main" id="{7110DC4B-55B3-437C-366D-6D08F166C144}"/>
                </a:ext>
              </a:extLst>
            </p:cNvPr>
            <p:cNvSpPr/>
            <p:nvPr/>
          </p:nvSpPr>
          <p:spPr>
            <a:xfrm>
              <a:off x="6858000" y="3143249"/>
              <a:ext cx="4953000" cy="571499"/>
            </a:xfrm>
            <a:prstGeom prst="roundRect">
              <a:avLst>
                <a:gd name="adj" fmla="val 10000"/>
              </a:avLst>
            </a:prstGeom>
            <a:solidFill>
              <a:srgbClr val="000000">
                <a:alpha val="0"/>
              </a:srgbClr>
            </a:solidFill>
            <a:ln w="19050" cap="flat" cmpd="sng">
              <a:solidFill>
                <a:srgbClr val="F9731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310;g3e473cf74e9_0_599">
              <a:extLst>
                <a:ext uri="{FF2B5EF4-FFF2-40B4-BE49-F238E27FC236}">
                  <a16:creationId xmlns:a16="http://schemas.microsoft.com/office/drawing/2014/main" id="{25D38B82-6722-97AB-43F8-A1FBFBEA16D5}"/>
                </a:ext>
              </a:extLst>
            </p:cNvPr>
            <p:cNvSpPr txBox="1"/>
            <p:nvPr/>
          </p:nvSpPr>
          <p:spPr>
            <a:xfrm>
              <a:off x="6858000" y="3198506"/>
              <a:ext cx="4953000" cy="476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b="1">
                  <a:solidFill>
                    <a:srgbClr val="F97316"/>
                  </a:solidFill>
                </a:rPr>
                <a:t>Горизонтальные признаки</a:t>
              </a:r>
              <a:endParaRPr sz="1400" b="1">
                <a:solidFill>
                  <a:srgbClr val="F9731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" name="Google Shape;311;g3e473cf74e9_0_599">
              <a:extLst>
                <a:ext uri="{FF2B5EF4-FFF2-40B4-BE49-F238E27FC236}">
                  <a16:creationId xmlns:a16="http://schemas.microsoft.com/office/drawing/2014/main" id="{8E31A7F1-1653-A13D-FE25-5CDAB394303E}"/>
                </a:ext>
              </a:extLst>
            </p:cNvPr>
            <p:cNvSpPr txBox="1"/>
            <p:nvPr/>
          </p:nvSpPr>
          <p:spPr>
            <a:xfrm>
              <a:off x="6858000" y="3826116"/>
              <a:ext cx="4953000" cy="128226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b="1">
                  <a:solidFill>
                    <a:srgbClr val="333333"/>
                  </a:solidFill>
                </a:rPr>
                <a:t>8</a:t>
              </a:r>
              <a:r>
                <a:rPr lang="en-US" b="1">
                  <a:solidFill>
                    <a:srgbClr val="333333"/>
                  </a:solidFill>
                  <a:latin typeface="Arial"/>
                  <a:ea typeface="Arial"/>
                  <a:cs typeface="Arial"/>
                  <a:sym typeface="Arial"/>
                </a:rPr>
                <a:t> признак</a:t>
              </a:r>
              <a:r>
                <a:rPr lang="ru-RU" b="1">
                  <a:solidFill>
                    <a:srgbClr val="333333"/>
                  </a:solidFill>
                  <a:latin typeface="Arial"/>
                  <a:ea typeface="Arial"/>
                  <a:cs typeface="Arial"/>
                  <a:sym typeface="Arial"/>
                </a:rPr>
                <a:t>ов</a:t>
              </a:r>
              <a:r>
                <a:rPr lang="en-US" b="1">
                  <a:solidFill>
                    <a:srgbClr val="333333"/>
                  </a:solidFill>
                  <a:latin typeface="Arial"/>
                  <a:ea typeface="Arial"/>
                  <a:cs typeface="Arial"/>
                  <a:sym typeface="Arial"/>
                </a:rPr>
                <a:t>.</a:t>
              </a:r>
              <a:r>
                <a:rPr lang="en-US" b="0">
                  <a:solidFill>
                    <a:srgbClr val="333333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ru-RU" b="0">
                  <a:solidFill>
                    <a:srgbClr val="333333"/>
                  </a:solidFill>
                  <a:latin typeface="Arial"/>
                  <a:ea typeface="Arial"/>
                  <a:cs typeface="Arial"/>
                  <a:sym typeface="Arial"/>
                </a:rPr>
                <a:t>В полярных поординатах мы вычисляем радиус каждой точки от ствола, Алгоритм находит максимальный и средний радиус кроны, а также вычисляет дисперсию и перцентили распределения биомассы от центра к краям</a:t>
              </a:r>
              <a:endParaRPr b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2" name="Google Shape;314;g3e473cf74e9_0_599">
            <a:extLst>
              <a:ext uri="{FF2B5EF4-FFF2-40B4-BE49-F238E27FC236}">
                <a16:creationId xmlns:a16="http://schemas.microsoft.com/office/drawing/2014/main" id="{59A8F80E-CD74-93FF-AE13-EABE7501A688}"/>
              </a:ext>
            </a:extLst>
          </p:cNvPr>
          <p:cNvGrpSpPr/>
          <p:nvPr/>
        </p:nvGrpSpPr>
        <p:grpSpPr>
          <a:xfrm>
            <a:off x="4905375" y="2095500"/>
            <a:ext cx="2381400" cy="571500"/>
            <a:chOff x="4905375" y="2095500"/>
            <a:chExt cx="2381400" cy="571500"/>
          </a:xfrm>
        </p:grpSpPr>
        <p:sp>
          <p:nvSpPr>
            <p:cNvPr id="23" name="Google Shape;315;g3e473cf74e9_0_599">
              <a:extLst>
                <a:ext uri="{FF2B5EF4-FFF2-40B4-BE49-F238E27FC236}">
                  <a16:creationId xmlns:a16="http://schemas.microsoft.com/office/drawing/2014/main" id="{35B8894F-EE5E-DA49-7B26-2E9F98973E14}"/>
                </a:ext>
              </a:extLst>
            </p:cNvPr>
            <p:cNvSpPr/>
            <p:nvPr/>
          </p:nvSpPr>
          <p:spPr>
            <a:xfrm>
              <a:off x="4905375" y="2095500"/>
              <a:ext cx="2381400" cy="571500"/>
            </a:xfrm>
            <a:prstGeom prst="roundRect">
              <a:avLst>
                <a:gd name="adj" fmla="val 16666"/>
              </a:avLst>
            </a:prstGeom>
            <a:solidFill>
              <a:srgbClr val="F97316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316;g3e473cf74e9_0_599">
              <a:extLst>
                <a:ext uri="{FF2B5EF4-FFF2-40B4-BE49-F238E27FC236}">
                  <a16:creationId xmlns:a16="http://schemas.microsoft.com/office/drawing/2014/main" id="{5EF7BFCC-F916-0EA1-53BC-534C2EB5BF58}"/>
                </a:ext>
              </a:extLst>
            </p:cNvPr>
            <p:cNvSpPr txBox="1"/>
            <p:nvPr/>
          </p:nvSpPr>
          <p:spPr>
            <a:xfrm>
              <a:off x="4905375" y="2095500"/>
              <a:ext cx="23814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Математические признаки</a:t>
              </a:r>
              <a:endParaRPr sz="160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25" name="Google Shape;301;g3e473cf74e9_0_599">
            <a:extLst>
              <a:ext uri="{FF2B5EF4-FFF2-40B4-BE49-F238E27FC236}">
                <a16:creationId xmlns:a16="http://schemas.microsoft.com/office/drawing/2014/main" id="{7AB585C3-BD52-0630-58F2-084A5CE0E47C}"/>
              </a:ext>
            </a:extLst>
          </p:cNvPr>
          <p:cNvCxnSpPr/>
          <p:nvPr/>
        </p:nvCxnSpPr>
        <p:spPr>
          <a:xfrm>
            <a:off x="2857500" y="2952750"/>
            <a:ext cx="6477000" cy="0"/>
          </a:xfrm>
          <a:prstGeom prst="straightConnector1">
            <a:avLst/>
          </a:prstGeom>
          <a:solidFill>
            <a:srgbClr val="FFFFFF"/>
          </a:solidFill>
          <a:ln w="19050" cap="flat" cmpd="sng">
            <a:solidFill>
              <a:srgbClr val="F97316"/>
            </a:solidFill>
            <a:prstDash val="solid"/>
            <a:round/>
            <a:headEnd type="none" w="sm" len="sm"/>
            <a:tailEnd type="none" w="sm" len="sm"/>
          </a:ln>
        </p:spPr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C894ECE3-B4B9-250E-A9AA-82746F97A7DD}"/>
                  </a:ext>
                </a:extLst>
              </p:cNvPr>
              <p:cNvSpPr txBox="1"/>
              <p:nvPr/>
            </p:nvSpPr>
            <p:spPr>
              <a:xfrm>
                <a:off x="-191328" y="4750357"/>
                <a:ext cx="609765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  <m:r>
                        <a:rPr lang="ru-RU" sz="18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ru-RU" sz="1800" i="0">
                              <a:latin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d>
                            <m:d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b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ru-RU" sz="1800"/>
              </a:p>
            </p:txBody>
          </p:sp>
        </mc:Choice>
        <mc:Fallback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C894ECE3-B4B9-250E-A9AA-82746F97A7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91328" y="4750357"/>
                <a:ext cx="609765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F4989568-D72B-B3A5-729C-ECE84E39656B}"/>
                  </a:ext>
                </a:extLst>
              </p:cNvPr>
              <p:cNvSpPr txBox="1"/>
              <p:nvPr/>
            </p:nvSpPr>
            <p:spPr>
              <a:xfrm>
                <a:off x="-238539" y="5088045"/>
                <a:ext cx="6192078" cy="87126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800" i="1" smtClean="0">
                          <a:latin typeface="Cambria Math" panose="02040503050406030204" pitchFamily="18" charset="0"/>
                        </a:rPr>
                        <m:t>𝑉𝑎𝑟</m:t>
                      </m:r>
                      <m:d>
                        <m:d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</m:d>
                      <m:r>
                        <a:rPr lang="ru-RU" sz="18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p>
                            <m:sSup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ru-RU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sz="1800" i="1">
                                          <a:latin typeface="Cambria Math" panose="02040503050406030204" pitchFamily="18" charset="0"/>
                                        </a:rPr>
                                        <m:t>𝑍</m:t>
                                      </m:r>
                                    </m:e>
                                    <m:sub>
                                      <m:r>
                                        <a:rPr lang="ru-RU" sz="18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̅"/>
                                      <m:ctrlPr>
                                        <a:rPr lang="ru-RU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ru-RU" sz="1800" i="1">
                                          <a:latin typeface="Cambria Math" panose="02040503050406030204" pitchFamily="18" charset="0"/>
                                        </a:rPr>
                                        <m:t>𝑍</m:t>
                                      </m:r>
                                    </m:e>
                                  </m:acc>
                                </m:e>
                              </m:d>
                            </m:e>
                            <m:sup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ru-RU" sz="1800"/>
              </a:p>
            </p:txBody>
          </p:sp>
        </mc:Choice>
        <mc:Fallback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F4989568-D72B-B3A5-729C-ECE84E3965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38539" y="5088045"/>
                <a:ext cx="6192078" cy="87126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1" name="TextBox 260">
                <a:extLst>
                  <a:ext uri="{FF2B5EF4-FFF2-40B4-BE49-F238E27FC236}">
                    <a16:creationId xmlns:a16="http://schemas.microsoft.com/office/drawing/2014/main" id="{915D5523-819C-C450-AF07-9061024E7A82}"/>
                  </a:ext>
                </a:extLst>
              </p:cNvPr>
              <p:cNvSpPr txBox="1"/>
              <p:nvPr/>
            </p:nvSpPr>
            <p:spPr>
              <a:xfrm>
                <a:off x="-250963" y="5959309"/>
                <a:ext cx="621692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10</m:t>
                          </m:r>
                        </m:sub>
                      </m:sSub>
                      <m:r>
                        <a:rPr lang="ru-RU" sz="1800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25</m:t>
                          </m:r>
                        </m:sub>
                      </m:sSub>
                      <m:r>
                        <a:rPr lang="ru-RU" sz="1800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50</m:t>
                          </m:r>
                        </m:sub>
                      </m:sSub>
                      <m:r>
                        <a:rPr lang="ru-RU" sz="1800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75</m:t>
                          </m:r>
                        </m:sub>
                      </m:sSub>
                      <m:r>
                        <a:rPr lang="ru-RU" sz="1800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90</m:t>
                          </m:r>
                        </m:sub>
                      </m:sSub>
                    </m:oMath>
                  </m:oMathPara>
                </a14:m>
                <a:endParaRPr lang="ru-RU" sz="1800"/>
              </a:p>
            </p:txBody>
          </p:sp>
        </mc:Choice>
        <mc:Fallback>
          <p:sp>
            <p:nvSpPr>
              <p:cNvPr id="261" name="TextBox 260">
                <a:extLst>
                  <a:ext uri="{FF2B5EF4-FFF2-40B4-BE49-F238E27FC236}">
                    <a16:creationId xmlns:a16="http://schemas.microsoft.com/office/drawing/2014/main" id="{915D5523-819C-C450-AF07-9061024E7A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50963" y="5959309"/>
                <a:ext cx="6216926" cy="369332"/>
              </a:xfrm>
              <a:prstGeom prst="rect">
                <a:avLst/>
              </a:prstGeom>
              <a:blipFill>
                <a:blip r:embed="rId6"/>
                <a:stretch>
                  <a:fillRect b="-166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3" name="TextBox 292">
                <a:extLst>
                  <a:ext uri="{FF2B5EF4-FFF2-40B4-BE49-F238E27FC236}">
                    <a16:creationId xmlns:a16="http://schemas.microsoft.com/office/drawing/2014/main" id="{1E0ED7EA-C3DB-044C-F6C0-A0378D2EA475}"/>
                  </a:ext>
                </a:extLst>
              </p:cNvPr>
              <p:cNvSpPr txBox="1"/>
              <p:nvPr/>
            </p:nvSpPr>
            <p:spPr>
              <a:xfrm>
                <a:off x="6223687" y="4538638"/>
                <a:ext cx="6221626" cy="65601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ru-RU" sz="1800" i="1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ru-RU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sz="1800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ru-RU" sz="18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̅"/>
                                      <m:ctrlPr>
                                        <a:rPr lang="ru-RU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ru-RU" sz="1800" i="1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</m:acc>
                                </m:e>
                              </m:d>
                            </m:e>
                            <m:sup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ru-RU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sz="1800" i="1">
                                          <a:latin typeface="Cambria Math" panose="02040503050406030204" pitchFamily="18" charset="0"/>
                                        </a:rPr>
                                        <m:t>𝑌</m:t>
                                      </m:r>
                                    </m:e>
                                    <m:sub>
                                      <m:r>
                                        <a:rPr lang="ru-RU" sz="18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̅"/>
                                      <m:ctrlPr>
                                        <a:rPr lang="ru-RU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ru-RU" sz="1800" i="1">
                                          <a:latin typeface="Cambria Math" panose="02040503050406030204" pitchFamily="18" charset="0"/>
                                        </a:rPr>
                                        <m:t>𝑌</m:t>
                                      </m:r>
                                    </m:e>
                                  </m:acc>
                                </m:e>
                              </m:d>
                            </m:e>
                            <m:sup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  <a:endParaRPr lang="ru-RU" sz="1800"/>
              </a:p>
            </p:txBody>
          </p:sp>
        </mc:Choice>
        <mc:Fallback>
          <p:sp>
            <p:nvSpPr>
              <p:cNvPr id="293" name="TextBox 292">
                <a:extLst>
                  <a:ext uri="{FF2B5EF4-FFF2-40B4-BE49-F238E27FC236}">
                    <a16:creationId xmlns:a16="http://schemas.microsoft.com/office/drawing/2014/main" id="{1E0ED7EA-C3DB-044C-F6C0-A0378D2EA4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23687" y="4538638"/>
                <a:ext cx="6221626" cy="65601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5" name="TextBox 294">
                <a:extLst>
                  <a:ext uri="{FF2B5EF4-FFF2-40B4-BE49-F238E27FC236}">
                    <a16:creationId xmlns:a16="http://schemas.microsoft.com/office/drawing/2014/main" id="{CF96FC77-407E-22A9-5AF1-FB4491BBE8A7}"/>
                  </a:ext>
                </a:extLst>
              </p:cNvPr>
              <p:cNvSpPr txBox="1"/>
              <p:nvPr/>
            </p:nvSpPr>
            <p:spPr>
              <a:xfrm>
                <a:off x="6192795" y="5041572"/>
                <a:ext cx="6283410" cy="7630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  <m:r>
                        <a:rPr lang="ru-RU" sz="18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ru-RU" sz="1800" i="0">
                              <a:latin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d>
                            <m:d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ru-RU" sz="1800" i="1">
                          <a:latin typeface="Cambria Math" panose="02040503050406030204" pitchFamily="18" charset="0"/>
                        </a:rPr>
                        <m:t>; </m:t>
                      </m:r>
                      <m:sSub>
                        <m:sSub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𝑚𝑒𝑎𝑛</m:t>
                          </m:r>
                        </m:sub>
                      </m:sSub>
                      <m:r>
                        <a:rPr lang="ru-RU" sz="18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ru-RU"/>
              </a:p>
            </p:txBody>
          </p:sp>
        </mc:Choice>
        <mc:Fallback>
          <p:sp>
            <p:nvSpPr>
              <p:cNvPr id="295" name="TextBox 294">
                <a:extLst>
                  <a:ext uri="{FF2B5EF4-FFF2-40B4-BE49-F238E27FC236}">
                    <a16:creationId xmlns:a16="http://schemas.microsoft.com/office/drawing/2014/main" id="{CF96FC77-407E-22A9-5AF1-FB4491BBE8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2795" y="5041572"/>
                <a:ext cx="6283410" cy="76309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7" name="TextBox 296">
                <a:extLst>
                  <a:ext uri="{FF2B5EF4-FFF2-40B4-BE49-F238E27FC236}">
                    <a16:creationId xmlns:a16="http://schemas.microsoft.com/office/drawing/2014/main" id="{B6400C13-91FA-266D-EA56-8828F27CF655}"/>
                  </a:ext>
                </a:extLst>
              </p:cNvPr>
              <p:cNvSpPr txBox="1"/>
              <p:nvPr/>
            </p:nvSpPr>
            <p:spPr>
              <a:xfrm>
                <a:off x="6096000" y="5761432"/>
                <a:ext cx="628341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10</m:t>
                          </m:r>
                        </m:sub>
                      </m:sSub>
                      <m:d>
                        <m:d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d>
                      <m:r>
                        <a:rPr lang="ru-RU" sz="1800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25</m:t>
                          </m:r>
                        </m:sub>
                      </m:sSub>
                      <m:d>
                        <m:d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d>
                      <m:r>
                        <a:rPr lang="ru-RU" sz="1800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50</m:t>
                          </m:r>
                        </m:sub>
                      </m:sSub>
                      <m:d>
                        <m:d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d>
                      <m:r>
                        <a:rPr lang="ru-RU" sz="1800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75</m:t>
                          </m:r>
                        </m:sub>
                      </m:sSub>
                      <m:d>
                        <m:d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d>
                      <m:r>
                        <a:rPr lang="ru-RU" sz="1800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90</m:t>
                          </m:r>
                        </m:sub>
                      </m:sSub>
                      <m:d>
                        <m:d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d>
                    </m:oMath>
                  </m:oMathPara>
                </a14:m>
                <a:endParaRPr lang="ru-RU" sz="1800"/>
              </a:p>
            </p:txBody>
          </p:sp>
        </mc:Choice>
        <mc:Fallback>
          <p:sp>
            <p:nvSpPr>
              <p:cNvPr id="297" name="TextBox 296">
                <a:extLst>
                  <a:ext uri="{FF2B5EF4-FFF2-40B4-BE49-F238E27FC236}">
                    <a16:creationId xmlns:a16="http://schemas.microsoft.com/office/drawing/2014/main" id="{B6400C13-91FA-266D-EA56-8828F27CF6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5761432"/>
                <a:ext cx="6283410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5" name="Google Shape;295;g3e473cf74e9_0_599"/>
          <p:cNvGrpSpPr/>
          <p:nvPr/>
        </p:nvGrpSpPr>
        <p:grpSpPr>
          <a:xfrm>
            <a:off x="0" y="381000"/>
            <a:ext cx="11239500" cy="673500"/>
            <a:chOff x="0" y="381000"/>
            <a:chExt cx="11239500" cy="673500"/>
          </a:xfrm>
        </p:grpSpPr>
        <p:sp>
          <p:nvSpPr>
            <p:cNvPr id="296" name="Google Shape;296;g3e473cf74e9_0_599"/>
            <p:cNvSpPr/>
            <p:nvPr/>
          </p:nvSpPr>
          <p:spPr>
            <a:xfrm>
              <a:off x="0" y="381000"/>
              <a:ext cx="195900" cy="673500"/>
            </a:xfrm>
            <a:prstGeom prst="rect">
              <a:avLst/>
            </a:prstGeom>
            <a:solidFill>
              <a:srgbClr val="F97316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" name="Google Shape;297;g3e473cf74e9_0_599"/>
            <p:cNvSpPr/>
            <p:nvPr/>
          </p:nvSpPr>
          <p:spPr>
            <a:xfrm>
              <a:off x="267836" y="381000"/>
              <a:ext cx="195900" cy="673500"/>
            </a:xfrm>
            <a:prstGeom prst="rect">
              <a:avLst/>
            </a:prstGeom>
            <a:solidFill>
              <a:srgbClr val="F97316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" name="Google Shape;298;g3e473cf74e9_0_599"/>
            <p:cNvSpPr/>
            <p:nvPr/>
          </p:nvSpPr>
          <p:spPr>
            <a:xfrm>
              <a:off x="535673" y="381000"/>
              <a:ext cx="195900" cy="673500"/>
            </a:xfrm>
            <a:prstGeom prst="rect">
              <a:avLst/>
            </a:prstGeom>
            <a:solidFill>
              <a:srgbClr val="F97316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" name="Google Shape;299;g3e473cf74e9_0_599"/>
            <p:cNvSpPr txBox="1"/>
            <p:nvPr/>
          </p:nvSpPr>
          <p:spPr>
            <a:xfrm>
              <a:off x="952500" y="381000"/>
              <a:ext cx="10287000" cy="673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200" b="1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Извлечение математических признаков</a:t>
              </a:r>
              <a:endParaRPr sz="32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300" name="Google Shape;300;g3e473cf74e9_0_599"/>
          <p:cNvCxnSpPr/>
          <p:nvPr/>
        </p:nvCxnSpPr>
        <p:spPr>
          <a:xfrm>
            <a:off x="6096000" y="2667000"/>
            <a:ext cx="0" cy="285900"/>
          </a:xfrm>
          <a:prstGeom prst="straightConnector1">
            <a:avLst/>
          </a:prstGeom>
          <a:solidFill>
            <a:srgbClr val="FFFFFF"/>
          </a:solidFill>
          <a:ln w="19050" cap="flat" cmpd="sng">
            <a:solidFill>
              <a:srgbClr val="F97316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01" name="Google Shape;301;g3e473cf74e9_0_599"/>
          <p:cNvCxnSpPr/>
          <p:nvPr/>
        </p:nvCxnSpPr>
        <p:spPr>
          <a:xfrm>
            <a:off x="2857500" y="2952750"/>
            <a:ext cx="6477000" cy="0"/>
          </a:xfrm>
          <a:prstGeom prst="straightConnector1">
            <a:avLst/>
          </a:prstGeom>
          <a:solidFill>
            <a:srgbClr val="FFFFFF"/>
          </a:solidFill>
          <a:ln w="19050" cap="flat" cmpd="sng">
            <a:solidFill>
              <a:srgbClr val="F97316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02" name="Google Shape;302;g3e473cf74e9_0_599"/>
          <p:cNvCxnSpPr/>
          <p:nvPr/>
        </p:nvCxnSpPr>
        <p:spPr>
          <a:xfrm>
            <a:off x="2857500" y="2952750"/>
            <a:ext cx="0" cy="190500"/>
          </a:xfrm>
          <a:prstGeom prst="straightConnector1">
            <a:avLst/>
          </a:prstGeom>
          <a:solidFill>
            <a:srgbClr val="FFFFFF"/>
          </a:solidFill>
          <a:ln w="19050" cap="flat" cmpd="sng">
            <a:solidFill>
              <a:srgbClr val="F97316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03" name="Google Shape;303;g3e473cf74e9_0_599"/>
          <p:cNvCxnSpPr/>
          <p:nvPr/>
        </p:nvCxnSpPr>
        <p:spPr>
          <a:xfrm>
            <a:off x="9334500" y="2952750"/>
            <a:ext cx="0" cy="190500"/>
          </a:xfrm>
          <a:prstGeom prst="straightConnector1">
            <a:avLst/>
          </a:prstGeom>
          <a:solidFill>
            <a:srgbClr val="FFFFFF"/>
          </a:solidFill>
          <a:ln w="19050" cap="flat" cmpd="sng">
            <a:solidFill>
              <a:srgbClr val="F97316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304" name="Google Shape;304;g3e473cf74e9_0_599"/>
          <p:cNvGrpSpPr/>
          <p:nvPr/>
        </p:nvGrpSpPr>
        <p:grpSpPr>
          <a:xfrm>
            <a:off x="381000" y="3143250"/>
            <a:ext cx="4953000" cy="1718400"/>
            <a:chOff x="381000" y="3143250"/>
            <a:chExt cx="4953000" cy="1718400"/>
          </a:xfrm>
        </p:grpSpPr>
        <p:sp>
          <p:nvSpPr>
            <p:cNvPr id="305" name="Google Shape;305;g3e473cf74e9_0_599"/>
            <p:cNvSpPr/>
            <p:nvPr/>
          </p:nvSpPr>
          <p:spPr>
            <a:xfrm>
              <a:off x="381000" y="3143250"/>
              <a:ext cx="4953000" cy="476400"/>
            </a:xfrm>
            <a:prstGeom prst="roundRect">
              <a:avLst>
                <a:gd name="adj" fmla="val 10000"/>
              </a:avLst>
            </a:prstGeom>
            <a:solidFill>
              <a:srgbClr val="000000">
                <a:alpha val="0"/>
              </a:srgbClr>
            </a:solidFill>
            <a:ln w="19050" cap="flat" cmpd="sng">
              <a:solidFill>
                <a:srgbClr val="F9731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" name="Google Shape;306;g3e473cf74e9_0_599"/>
            <p:cNvSpPr txBox="1"/>
            <p:nvPr/>
          </p:nvSpPr>
          <p:spPr>
            <a:xfrm>
              <a:off x="381000" y="3143250"/>
              <a:ext cx="4953000" cy="476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1">
                  <a:solidFill>
                    <a:srgbClr val="F97316"/>
                  </a:solidFill>
                  <a:latin typeface="Arial"/>
                  <a:ea typeface="Arial"/>
                  <a:cs typeface="Arial"/>
                  <a:sym typeface="Arial"/>
                </a:rPr>
                <a:t>Плотность распределения по ярусам</a:t>
              </a:r>
              <a:endParaRPr sz="1400" b="1">
                <a:solidFill>
                  <a:srgbClr val="F9731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7" name="Google Shape;307;g3e473cf74e9_0_599"/>
            <p:cNvSpPr txBox="1"/>
            <p:nvPr/>
          </p:nvSpPr>
          <p:spPr>
            <a:xfrm>
              <a:off x="381000" y="3714750"/>
              <a:ext cx="4953000" cy="1146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b="1">
                  <a:solidFill>
                    <a:srgbClr val="333333"/>
                  </a:solidFill>
                  <a:latin typeface="Arial"/>
                  <a:ea typeface="Arial"/>
                  <a:cs typeface="Arial"/>
                  <a:sym typeface="Arial"/>
                </a:rPr>
                <a:t>3 признака.</a:t>
              </a:r>
              <a:r>
                <a:rPr lang="en-US" b="0">
                  <a:solidFill>
                    <a:srgbClr val="333333"/>
                  </a:solidFill>
                  <a:latin typeface="Arial"/>
                  <a:ea typeface="Arial"/>
                  <a:cs typeface="Arial"/>
                  <a:sym typeface="Arial"/>
                </a:rPr>
                <a:t> Высота делится на 3 равных яруса. Алгоритм вычисляет границы и долю точек в каждом слое.</a:t>
              </a:r>
              <a:endParaRPr b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marL="0" lvl="0" indent="0" algn="l" rtl="0">
                <a:spcBef>
                  <a:spcPts val="800"/>
                </a:spcBef>
                <a:spcAft>
                  <a:spcPts val="0"/>
                </a:spcAft>
                <a:buNone/>
              </a:pPr>
              <a:r>
                <a:rPr lang="en-US" b="0">
                  <a:solidFill>
                    <a:srgbClr val="333333"/>
                  </a:solidFill>
                  <a:latin typeface="Arial"/>
                  <a:ea typeface="Arial"/>
                  <a:cs typeface="Arial"/>
                  <a:sym typeface="Arial"/>
                </a:rPr>
                <a:t>Используется индикаторная функция для подсчета доли точек в интервалах высот.</a:t>
              </a:r>
              <a:endParaRPr b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08" name="Google Shape;308;g3e473cf74e9_0_599"/>
          <p:cNvGrpSpPr/>
          <p:nvPr/>
        </p:nvGrpSpPr>
        <p:grpSpPr>
          <a:xfrm>
            <a:off x="6858000" y="3143319"/>
            <a:ext cx="5036820" cy="1718212"/>
            <a:chOff x="6858000" y="3143249"/>
            <a:chExt cx="5036820" cy="2070385"/>
          </a:xfrm>
        </p:grpSpPr>
        <p:sp>
          <p:nvSpPr>
            <p:cNvPr id="309" name="Google Shape;309;g3e473cf74e9_0_599"/>
            <p:cNvSpPr/>
            <p:nvPr/>
          </p:nvSpPr>
          <p:spPr>
            <a:xfrm>
              <a:off x="6858000" y="3143249"/>
              <a:ext cx="4953000" cy="573779"/>
            </a:xfrm>
            <a:prstGeom prst="roundRect">
              <a:avLst>
                <a:gd name="adj" fmla="val 10000"/>
              </a:avLst>
            </a:prstGeom>
            <a:solidFill>
              <a:srgbClr val="000000">
                <a:alpha val="0"/>
              </a:srgbClr>
            </a:solidFill>
            <a:ln w="19050" cap="flat" cmpd="sng">
              <a:solidFill>
                <a:srgbClr val="F9731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" name="Google Shape;310;g3e473cf74e9_0_599"/>
            <p:cNvSpPr txBox="1"/>
            <p:nvPr/>
          </p:nvSpPr>
          <p:spPr>
            <a:xfrm>
              <a:off x="6941820" y="3257795"/>
              <a:ext cx="4953000" cy="344233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1400" b="1">
                  <a:solidFill>
                    <a:srgbClr val="F97316"/>
                  </a:solidFill>
                  <a:latin typeface="Arial"/>
                  <a:ea typeface="Arial"/>
                  <a:cs typeface="Arial"/>
                  <a:sym typeface="Arial"/>
                </a:rPr>
                <a:t>Главные компоненты и форма облака</a:t>
              </a:r>
              <a:endParaRPr sz="1400" b="1">
                <a:solidFill>
                  <a:srgbClr val="F9731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1" name="Google Shape;311;g3e473cf74e9_0_599"/>
            <p:cNvSpPr txBox="1"/>
            <p:nvPr/>
          </p:nvSpPr>
          <p:spPr>
            <a:xfrm>
              <a:off x="6858000" y="3831660"/>
              <a:ext cx="4953000" cy="1381974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b="1">
                  <a:solidFill>
                    <a:srgbClr val="333333"/>
                  </a:solidFill>
                  <a:latin typeface="Arial"/>
                  <a:ea typeface="Arial"/>
                  <a:cs typeface="Arial"/>
                  <a:sym typeface="Arial"/>
                </a:rPr>
                <a:t>4</a:t>
              </a:r>
              <a:r>
                <a:rPr lang="en-US" b="1">
                  <a:solidFill>
                    <a:srgbClr val="333333"/>
                  </a:solidFill>
                  <a:latin typeface="Arial"/>
                  <a:ea typeface="Arial"/>
                  <a:cs typeface="Arial"/>
                  <a:sym typeface="Arial"/>
                </a:rPr>
                <a:t> признака.</a:t>
              </a:r>
              <a:r>
                <a:rPr lang="en-US" b="0">
                  <a:solidFill>
                    <a:srgbClr val="333333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r>
                <a:rPr lang="ru-RU" b="0">
                  <a:solidFill>
                    <a:srgbClr val="333333"/>
                  </a:solidFill>
                  <a:latin typeface="Arial"/>
                  <a:ea typeface="Arial"/>
                  <a:cs typeface="Arial"/>
                  <a:sym typeface="Arial"/>
                </a:rPr>
                <a:t>Инвариантный метод анализа формы 3D-объекта через матрицу ковариации. Алгоритм извлекает собственные числа, которые позволяют компьютеру математически отличить форму шара, не привязываясь к конкретным координатам пространства.</a:t>
              </a:r>
            </a:p>
          </p:txBody>
        </p:sp>
      </p:grpSp>
      <p:grpSp>
        <p:nvGrpSpPr>
          <p:cNvPr id="314" name="Google Shape;314;g3e473cf74e9_0_599"/>
          <p:cNvGrpSpPr/>
          <p:nvPr/>
        </p:nvGrpSpPr>
        <p:grpSpPr>
          <a:xfrm>
            <a:off x="4905375" y="2095500"/>
            <a:ext cx="2381400" cy="571500"/>
            <a:chOff x="4905375" y="2095500"/>
            <a:chExt cx="2381400" cy="571500"/>
          </a:xfrm>
        </p:grpSpPr>
        <p:sp>
          <p:nvSpPr>
            <p:cNvPr id="315" name="Google Shape;315;g3e473cf74e9_0_599"/>
            <p:cNvSpPr/>
            <p:nvPr/>
          </p:nvSpPr>
          <p:spPr>
            <a:xfrm>
              <a:off x="4905375" y="2095500"/>
              <a:ext cx="2381400" cy="571500"/>
            </a:xfrm>
            <a:prstGeom prst="roundRect">
              <a:avLst>
                <a:gd name="adj" fmla="val 16666"/>
              </a:avLst>
            </a:prstGeom>
            <a:solidFill>
              <a:srgbClr val="F97316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Google Shape;316;g3e473cf74e9_0_599"/>
            <p:cNvSpPr txBox="1"/>
            <p:nvPr/>
          </p:nvSpPr>
          <p:spPr>
            <a:xfrm>
              <a:off x="4905375" y="2095500"/>
              <a:ext cx="23814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Математические признаки</a:t>
              </a:r>
              <a:endParaRPr sz="160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17" name="Google Shape;317;g3e473cf74e9_0_599"/>
          <p:cNvSpPr txBox="1"/>
          <p:nvPr/>
        </p:nvSpPr>
        <p:spPr>
          <a:xfrm>
            <a:off x="952500" y="1047750"/>
            <a:ext cx="102870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/>
              <a:t>Чтобы научить «Случайный лес» различать деревья независимо от угла обзора, мы применили инвариантные к вращению параметры. Алгоритм переводит координаты в цилиндрическую систему и вычисляет 22 уникальные характеристики, которые описывают форму кроны со всех сторон.</a:t>
            </a:r>
            <a:endParaRPr lang="ru-RU" sz="16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" name="Google Shape;123;p2">
            <a:extLst>
              <a:ext uri="{FF2B5EF4-FFF2-40B4-BE49-F238E27FC236}">
                <a16:creationId xmlns:a16="http://schemas.microsoft.com/office/drawing/2014/main" id="{A6012498-1614-23E4-6E37-2D826DE23707}"/>
              </a:ext>
            </a:extLst>
          </p:cNvPr>
          <p:cNvCxnSpPr/>
          <p:nvPr/>
        </p:nvCxnSpPr>
        <p:spPr>
          <a:xfrm rot="10800000">
            <a:off x="838203" y="6485308"/>
            <a:ext cx="10515600" cy="0"/>
          </a:xfrm>
          <a:prstGeom prst="straightConnector1">
            <a:avLst/>
          </a:prstGeom>
          <a:noFill/>
          <a:ln w="57150" cap="flat" cmpd="sng">
            <a:solidFill>
              <a:srgbClr val="F97316"/>
            </a:solidFill>
            <a:prstDash val="solid"/>
            <a:miter lim="8000"/>
            <a:headEnd type="none" w="sm" len="sm"/>
            <a:tailEnd type="none" w="sm" len="sm"/>
          </a:ln>
        </p:spPr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08355BE-8282-1B49-28C8-673DAEBDD6A3}"/>
                  </a:ext>
                </a:extLst>
              </p:cNvPr>
              <p:cNvSpPr txBox="1"/>
              <p:nvPr/>
            </p:nvSpPr>
            <p:spPr>
              <a:xfrm>
                <a:off x="-191529" y="4762650"/>
                <a:ext cx="6098058" cy="4031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  <m:r>
                        <a:rPr lang="ru-RU" sz="1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  <m:r>
                        <a:rPr lang="ru-RU" sz="1800" i="1">
                          <a:latin typeface="Cambria Math" panose="02040503050406030204" pitchFamily="18" charset="0"/>
                        </a:rPr>
                        <m:t>⋅0.33; </m:t>
                      </m:r>
                      <m:sSub>
                        <m:sSub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66</m:t>
                          </m:r>
                        </m:sub>
                      </m:sSub>
                      <m:r>
                        <a:rPr lang="ru-RU" sz="1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  <m:r>
                        <a:rPr lang="ru-RU" sz="1800" i="1">
                          <a:latin typeface="Cambria Math" panose="02040503050406030204" pitchFamily="18" charset="0"/>
                        </a:rPr>
                        <m:t>⋅0.66</m:t>
                      </m:r>
                    </m:oMath>
                  </m:oMathPara>
                </a14:m>
                <a:endParaRPr lang="ru-RU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08355BE-8282-1B49-28C8-673DAEBDD6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91529" y="4762650"/>
                <a:ext cx="6098058" cy="403124"/>
              </a:xfrm>
              <a:prstGeom prst="rect">
                <a:avLst/>
              </a:prstGeom>
              <a:blipFill>
                <a:blip r:embed="rId4"/>
                <a:stretch>
                  <a:fillRect b="-2272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E0D58EA-0DB7-D38D-550B-44B5E0D33FC5}"/>
                  </a:ext>
                </a:extLst>
              </p:cNvPr>
              <p:cNvSpPr txBox="1"/>
              <p:nvPr/>
            </p:nvSpPr>
            <p:spPr>
              <a:xfrm>
                <a:off x="-237867" y="5177991"/>
                <a:ext cx="6190734" cy="87126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800" i="1" smtClean="0">
                          <a:latin typeface="Cambria Math" panose="02040503050406030204" pitchFamily="18" charset="0"/>
                        </a:rPr>
                        <m:t>𝑅𝑎𝑡𝑖</m:t>
                      </m:r>
                      <m:sSub>
                        <m:sSub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𝑜</m:t>
                          </m:r>
                        </m:e>
                        <m:sub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𝑏𝑜𝑡𝑡𝑜𝑚</m:t>
                          </m:r>
                        </m:sub>
                      </m:sSub>
                      <m:r>
                        <a:rPr lang="ru-RU" sz="18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b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&lt;</m:t>
                              </m:r>
                              <m:sSub>
                                <m:sSubPr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33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ru-RU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E0D58EA-0DB7-D38D-550B-44B5E0D33F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37867" y="5177991"/>
                <a:ext cx="6190734" cy="87126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FCC24C5-3F76-1EB5-B716-6168DAC7E14F}"/>
                  </a:ext>
                </a:extLst>
              </p:cNvPr>
              <p:cNvSpPr txBox="1"/>
              <p:nvPr/>
            </p:nvSpPr>
            <p:spPr>
              <a:xfrm>
                <a:off x="6228080" y="4742359"/>
                <a:ext cx="6212840" cy="87126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80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ru-RU" sz="18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d>
                            <m:d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̅"/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</m:acc>
                            </m:e>
                          </m:d>
                          <m:sSup>
                            <m:sSup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ru-RU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sz="1800" i="1">
                                          <a:latin typeface="Cambria Math" panose="02040503050406030204" pitchFamily="18" charset="0"/>
                                        </a:rPr>
                                        <m:t>𝑃</m:t>
                                      </m:r>
                                    </m:e>
                                    <m:sub>
                                      <m:r>
                                        <a:rPr lang="ru-RU" sz="18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ru-RU" sz="18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̅"/>
                                      <m:ctrlPr>
                                        <a:rPr lang="ru-RU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ru-RU" sz="1800" i="1">
                                          <a:latin typeface="Cambria Math" panose="02040503050406030204" pitchFamily="18" charset="0"/>
                                        </a:rPr>
                                        <m:t>𝑃</m:t>
                                      </m:r>
                                    </m:e>
                                  </m:acc>
                                </m:e>
                              </m:d>
                            </m:e>
                            <m:sup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ru-RU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FCC24C5-3F76-1EB5-B716-6168DAC7E1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28080" y="4742359"/>
                <a:ext cx="6212840" cy="87126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9DC763A-806F-CF2B-3923-7735894B079F}"/>
                  </a:ext>
                </a:extLst>
              </p:cNvPr>
              <p:cNvSpPr txBox="1"/>
              <p:nvPr/>
            </p:nvSpPr>
            <p:spPr>
              <a:xfrm>
                <a:off x="6164580" y="5530598"/>
                <a:ext cx="6339840" cy="6636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ru-RU" sz="1800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ru-RU" sz="1800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ru-RU" sz="1800" i="1">
                          <a:latin typeface="Cambria Math" panose="02040503050406030204" pitchFamily="18" charset="0"/>
                        </a:rPr>
                        <m:t> </m:t>
                      </m:r>
                      <m:r>
                        <m:rPr>
                          <m:nor/>
                        </m:rPr>
                        <a:rPr lang="ru-RU" sz="1800" i="0">
                          <a:latin typeface="Cambria Math" panose="02040503050406030204" pitchFamily="18" charset="0"/>
                        </a:rPr>
                        <m:t>и</m:t>
                      </m:r>
                      <m:r>
                        <a:rPr lang="ru-RU" sz="1800" i="1">
                          <a:latin typeface="Cambria Math" panose="02040503050406030204" pitchFamily="18" charset="0"/>
                        </a:rPr>
                        <m:t> </m:t>
                      </m:r>
                      <m:r>
                        <a:rPr lang="ru-RU" sz="1800" i="1">
                          <a:latin typeface="Cambria Math" panose="02040503050406030204" pitchFamily="18" charset="0"/>
                        </a:rPr>
                        <m:t>𝑅𝑎𝑡𝑖𝑜</m:t>
                      </m:r>
                      <m:r>
                        <a:rPr lang="ru-RU" sz="18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ru-RU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9DC763A-806F-CF2B-3923-7735894B07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4580" y="5530598"/>
                <a:ext cx="6339840" cy="66364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3" name="Google Shape;323;p8"/>
          <p:cNvGrpSpPr/>
          <p:nvPr/>
        </p:nvGrpSpPr>
        <p:grpSpPr>
          <a:xfrm>
            <a:off x="0" y="381000"/>
            <a:ext cx="11239500" cy="673500"/>
            <a:chOff x="0" y="381000"/>
            <a:chExt cx="11239500" cy="673500"/>
          </a:xfrm>
        </p:grpSpPr>
        <p:sp>
          <p:nvSpPr>
            <p:cNvPr id="324" name="Google Shape;324;p8"/>
            <p:cNvSpPr/>
            <p:nvPr/>
          </p:nvSpPr>
          <p:spPr>
            <a:xfrm>
              <a:off x="0" y="381000"/>
              <a:ext cx="195900" cy="673500"/>
            </a:xfrm>
            <a:prstGeom prst="rect">
              <a:avLst/>
            </a:prstGeom>
            <a:solidFill>
              <a:srgbClr val="F97316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" name="Google Shape;325;p8"/>
            <p:cNvSpPr/>
            <p:nvPr/>
          </p:nvSpPr>
          <p:spPr>
            <a:xfrm>
              <a:off x="267836" y="381000"/>
              <a:ext cx="195900" cy="673500"/>
            </a:xfrm>
            <a:prstGeom prst="rect">
              <a:avLst/>
            </a:prstGeom>
            <a:solidFill>
              <a:srgbClr val="F97316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" name="Google Shape;326;p8"/>
            <p:cNvSpPr/>
            <p:nvPr/>
          </p:nvSpPr>
          <p:spPr>
            <a:xfrm>
              <a:off x="535673" y="381000"/>
              <a:ext cx="195900" cy="673500"/>
            </a:xfrm>
            <a:prstGeom prst="rect">
              <a:avLst/>
            </a:prstGeom>
            <a:solidFill>
              <a:srgbClr val="F97316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" name="Google Shape;327;p8"/>
            <p:cNvSpPr txBox="1"/>
            <p:nvPr/>
          </p:nvSpPr>
          <p:spPr>
            <a:xfrm>
              <a:off x="952500" y="381000"/>
              <a:ext cx="10287000" cy="673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200" b="1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Обучение модели Random Forest</a:t>
              </a:r>
              <a:endParaRPr sz="32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28" name="Google Shape;328;p8"/>
          <p:cNvSpPr/>
          <p:nvPr/>
        </p:nvSpPr>
        <p:spPr>
          <a:xfrm>
            <a:off x="762000" y="1333500"/>
            <a:ext cx="6160200" cy="4836300"/>
          </a:xfrm>
          <a:prstGeom prst="roundRect">
            <a:avLst>
              <a:gd name="adj" fmla="val 2083"/>
            </a:avLst>
          </a:prstGeom>
          <a:solidFill>
            <a:srgbClr val="FFF9F2"/>
          </a:solidFill>
          <a:ln w="9525" cap="flat" cmpd="sng">
            <a:solidFill>
              <a:srgbClr val="F9731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9" name="Google Shape;329;p8"/>
          <p:cNvSpPr txBox="1">
            <a:spLocks noGrp="1"/>
          </p:cNvSpPr>
          <p:nvPr>
            <p:ph type="body" idx="1"/>
          </p:nvPr>
        </p:nvSpPr>
        <p:spPr>
          <a:xfrm>
            <a:off x="938213" y="1384854"/>
            <a:ext cx="5810400" cy="4191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F97316"/>
                </a:solidFill>
                <a:latin typeface="Arial"/>
                <a:ea typeface="Arial"/>
                <a:cs typeface="Arial"/>
                <a:sym typeface="Arial"/>
              </a:rPr>
              <a:t>Результаты обучения</a:t>
            </a:r>
            <a:endParaRPr sz="1600" b="1">
              <a:solidFill>
                <a:srgbClr val="F9731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333333"/>
                </a:solidFill>
              </a:rPr>
              <a:t>Подготовленная таблица признаков, включающая 17 геометрических метрик, была загружена в модель Случайного леса.</a:t>
            </a:r>
            <a:endParaRPr sz="1600">
              <a:solidFill>
                <a:srgbClr val="333333"/>
              </a:solidFill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333333"/>
                </a:solidFill>
              </a:rPr>
              <a:t>Для обучения данные были разделены в пропорции 80/20. Была использована стратификация, чтобы сохранить исходное распределение пород: алгоритм учился на 80 процентах деревьев, а проверял себя на оставшихся 20.</a:t>
            </a:r>
            <a:endParaRPr sz="1600">
              <a:solidFill>
                <a:srgbClr val="333333"/>
              </a:solidFill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333333"/>
                </a:solidFill>
              </a:rPr>
              <a:t>Модель была сконфигурирована с 200 независимыми решающими деревьями. Обучение заняло всего пару секунд, так как алгоритм работал с легкими таблицами, а не с тяжелой 3D-графикой.</a:t>
            </a:r>
            <a:endParaRPr sz="1600">
              <a:solidFill>
                <a:srgbClr val="333333"/>
              </a:solidFill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333333"/>
                </a:solidFill>
              </a:rPr>
              <a:t>Базовая точность составила почти 80%, что является отличным стартовым результатом.</a:t>
            </a:r>
            <a:endParaRPr sz="1600" b="0">
              <a:solidFill>
                <a:srgbClr val="33333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0" name="Google Shape;330;p8"/>
          <p:cNvPicPr preferRelativeResize="0"/>
          <p:nvPr/>
        </p:nvPicPr>
        <p:blipFill rotWithShape="1">
          <a:blip r:embed="rId4">
            <a:alphaModFix/>
          </a:blip>
          <a:srcRect t="30" b="30"/>
          <a:stretch/>
        </p:blipFill>
        <p:spPr>
          <a:xfrm>
            <a:off x="7114003" y="1336872"/>
            <a:ext cx="4572000" cy="1479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1" name="Google Shape;331;p8"/>
          <p:cNvPicPr preferRelativeResize="0"/>
          <p:nvPr/>
        </p:nvPicPr>
        <p:blipFill rotWithShape="1">
          <a:blip r:embed="rId5">
            <a:alphaModFix/>
          </a:blip>
          <a:srcRect l="1314" r="1324"/>
          <a:stretch/>
        </p:blipFill>
        <p:spPr>
          <a:xfrm>
            <a:off x="7114003" y="3000375"/>
            <a:ext cx="4572000" cy="2902200"/>
          </a:xfrm>
          <a:prstGeom prst="rect">
            <a:avLst/>
          </a:prstGeom>
          <a:noFill/>
          <a:ln>
            <a:noFill/>
          </a:ln>
        </p:spPr>
      </p:pic>
      <p:sp>
        <p:nvSpPr>
          <p:cNvPr id="332" name="Google Shape;332;p8"/>
          <p:cNvSpPr/>
          <p:nvPr/>
        </p:nvSpPr>
        <p:spPr>
          <a:xfrm>
            <a:off x="7114000" y="1336875"/>
            <a:ext cx="4572000" cy="4836300"/>
          </a:xfrm>
          <a:prstGeom prst="roundRect">
            <a:avLst>
              <a:gd name="adj" fmla="val 5000"/>
            </a:avLst>
          </a:prstGeom>
          <a:solidFill>
            <a:srgbClr val="000000">
              <a:alpha val="0"/>
            </a:srgbClr>
          </a:solidFill>
          <a:ln w="19050" cap="flat" cmpd="sng">
            <a:solidFill>
              <a:srgbClr val="F9731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" name="Google Shape;123;p2">
            <a:extLst>
              <a:ext uri="{FF2B5EF4-FFF2-40B4-BE49-F238E27FC236}">
                <a16:creationId xmlns:a16="http://schemas.microsoft.com/office/drawing/2014/main" id="{D34DB3A8-C071-C696-9888-FAB9DED69598}"/>
              </a:ext>
            </a:extLst>
          </p:cNvPr>
          <p:cNvCxnSpPr/>
          <p:nvPr/>
        </p:nvCxnSpPr>
        <p:spPr>
          <a:xfrm rot="10800000">
            <a:off x="838203" y="6485308"/>
            <a:ext cx="10515600" cy="0"/>
          </a:xfrm>
          <a:prstGeom prst="straightConnector1">
            <a:avLst/>
          </a:prstGeom>
          <a:noFill/>
          <a:ln w="57150" cap="flat" cmpd="sng">
            <a:solidFill>
              <a:srgbClr val="F97316"/>
            </a:solidFill>
            <a:prstDash val="solid"/>
            <a:miter lim="8000"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3e473cf74e9_76_340"/>
          <p:cNvSpPr/>
          <p:nvPr/>
        </p:nvSpPr>
        <p:spPr>
          <a:xfrm>
            <a:off x="476250" y="1336875"/>
            <a:ext cx="8924100" cy="4572000"/>
          </a:xfrm>
          <a:prstGeom prst="roundRect">
            <a:avLst>
              <a:gd name="adj" fmla="val 2083"/>
            </a:avLst>
          </a:prstGeom>
          <a:solidFill>
            <a:srgbClr val="EEFFF4"/>
          </a:solidFill>
          <a:ln w="9525" cap="flat" cmpd="sng">
            <a:solidFill>
              <a:srgbClr val="22C55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39" name="Google Shape;339;g3e473cf74e9_76_340"/>
          <p:cNvGrpSpPr/>
          <p:nvPr/>
        </p:nvGrpSpPr>
        <p:grpSpPr>
          <a:xfrm>
            <a:off x="0" y="381000"/>
            <a:ext cx="11239500" cy="673500"/>
            <a:chOff x="0" y="381000"/>
            <a:chExt cx="11239500" cy="673500"/>
          </a:xfrm>
        </p:grpSpPr>
        <p:sp>
          <p:nvSpPr>
            <p:cNvPr id="340" name="Google Shape;340;g3e473cf74e9_76_340"/>
            <p:cNvSpPr/>
            <p:nvPr/>
          </p:nvSpPr>
          <p:spPr>
            <a:xfrm>
              <a:off x="0" y="381000"/>
              <a:ext cx="195900" cy="673500"/>
            </a:xfrm>
            <a:prstGeom prst="rect">
              <a:avLst/>
            </a:prstGeom>
            <a:solidFill>
              <a:srgbClr val="22C55E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" name="Google Shape;341;g3e473cf74e9_76_340"/>
            <p:cNvSpPr/>
            <p:nvPr/>
          </p:nvSpPr>
          <p:spPr>
            <a:xfrm>
              <a:off x="267836" y="381000"/>
              <a:ext cx="195900" cy="673500"/>
            </a:xfrm>
            <a:prstGeom prst="rect">
              <a:avLst/>
            </a:prstGeom>
            <a:solidFill>
              <a:srgbClr val="22C55E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" name="Google Shape;342;g3e473cf74e9_76_340"/>
            <p:cNvSpPr/>
            <p:nvPr/>
          </p:nvSpPr>
          <p:spPr>
            <a:xfrm>
              <a:off x="535673" y="381000"/>
              <a:ext cx="195900" cy="673500"/>
            </a:xfrm>
            <a:prstGeom prst="rect">
              <a:avLst/>
            </a:prstGeom>
            <a:solidFill>
              <a:srgbClr val="22C55E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" name="Google Shape;343;g3e473cf74e9_76_340"/>
            <p:cNvSpPr txBox="1"/>
            <p:nvPr/>
          </p:nvSpPr>
          <p:spPr>
            <a:xfrm>
              <a:off x="952500" y="381000"/>
              <a:ext cx="10287000" cy="673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200" b="1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Принцип работы нейросети PointNet++</a:t>
              </a:r>
              <a:endParaRPr sz="32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45" name="Google Shape;345;g3e473cf74e9_76_340"/>
          <p:cNvSpPr txBox="1"/>
          <p:nvPr/>
        </p:nvSpPr>
        <p:spPr>
          <a:xfrm>
            <a:off x="654175" y="1414793"/>
            <a:ext cx="8590200" cy="42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5803D"/>
                </a:solidFill>
                <a:latin typeface="Arial"/>
                <a:ea typeface="Arial"/>
                <a:cs typeface="Arial"/>
                <a:sym typeface="Arial"/>
              </a:rPr>
              <a:t>Как PointNet++ представляет дерево</a:t>
            </a:r>
            <a:endParaRPr sz="1600" b="1">
              <a:solidFill>
                <a:srgbClr val="15803D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333333"/>
                </a:solidFill>
              </a:rPr>
              <a:t>Весь процесс работы нейросети можно разделить на четыре логических шага:</a:t>
            </a:r>
            <a:endParaRPr sz="1600">
              <a:solidFill>
                <a:srgbClr val="333333"/>
              </a:solidFill>
            </a:endParaRPr>
          </a:p>
          <a:p>
            <a:pPr marL="365760" lvl="0" indent="-23876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33333"/>
              </a:buClr>
              <a:buSzPts val="1600"/>
              <a:buChar char="●"/>
            </a:pPr>
            <a:r>
              <a:rPr lang="en-US" sz="1600">
                <a:solidFill>
                  <a:srgbClr val="333333"/>
                </a:solidFill>
              </a:rPr>
              <a:t>Локальный анализ: Сеть получает облако из 2048 точек и выбирает 1024 опорных центра. Вокруг них строятся сферы. Координаты точек внутри сфер умножаются на обучаемые матрицы весов, превращаясь в 256 геометрических признаков. Затем операция Max Pooling выбирает самые яркие признаки и «схлопывает» каждую сферу в одну точку.</a:t>
            </a:r>
            <a:endParaRPr sz="1600">
              <a:solidFill>
                <a:srgbClr val="333333"/>
              </a:solidFill>
            </a:endParaRPr>
          </a:p>
          <a:p>
            <a:pPr marL="365760" lvl="0" indent="-23876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600"/>
              <a:buChar char="●"/>
            </a:pPr>
            <a:r>
              <a:rPr lang="en-US" sz="1600">
                <a:solidFill>
                  <a:srgbClr val="333333"/>
                </a:solidFill>
              </a:rPr>
              <a:t>Укрупнение масштаба: Из 1024 точек алгоритм выбирает 256 новых центров. Радиус сфер увеличивается – теперь сеть смотрит на целые ветви. Признаки расширяются до 512, и снова применяется Max Pooling.</a:t>
            </a:r>
            <a:endParaRPr sz="1600">
              <a:solidFill>
                <a:srgbClr val="333333"/>
              </a:solidFill>
            </a:endParaRPr>
          </a:p>
          <a:p>
            <a:pPr marL="365760" lvl="0" indent="-23876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600"/>
              <a:buChar char="●"/>
            </a:pPr>
            <a:r>
              <a:rPr lang="en-US" sz="1600">
                <a:solidFill>
                  <a:srgbClr val="333333"/>
                </a:solidFill>
              </a:rPr>
              <a:t>Цифровой слепок: Вся информация от оставшихся 256 кусков кроны сливается в единый вектор из 512 чисел. Финальные слои сжимают это представление дерева до шести процентов вероятности (для каждой породы).</a:t>
            </a:r>
            <a:endParaRPr sz="1600">
              <a:solidFill>
                <a:srgbClr val="333333"/>
              </a:solidFill>
            </a:endParaRPr>
          </a:p>
          <a:p>
            <a:pPr marL="365760" lvl="0" indent="-23876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600"/>
              <a:buChar char="●"/>
            </a:pPr>
            <a:r>
              <a:rPr lang="en-US" sz="1600">
                <a:solidFill>
                  <a:srgbClr val="333333"/>
                </a:solidFill>
              </a:rPr>
              <a:t>Обучение: Сделав предсказание, сеть проверяет правильный ответ. Если она ошиблась, алгоритм делает шаг назад и чуть-чуть подправляет числа во всех матрицах весов, чтобы в следующий раз ответить точнее</a:t>
            </a:r>
            <a:endParaRPr sz="1600">
              <a:solidFill>
                <a:srgbClr val="333333"/>
              </a:solidFill>
            </a:endParaRPr>
          </a:p>
        </p:txBody>
      </p:sp>
      <p:sp>
        <p:nvSpPr>
          <p:cNvPr id="346" name="Google Shape;346;g3e473cf74e9_76_340"/>
          <p:cNvSpPr/>
          <p:nvPr/>
        </p:nvSpPr>
        <p:spPr>
          <a:xfrm>
            <a:off x="9612350" y="1336875"/>
            <a:ext cx="2453400" cy="4572000"/>
          </a:xfrm>
          <a:prstGeom prst="roundRect">
            <a:avLst>
              <a:gd name="adj" fmla="val 5000"/>
            </a:avLst>
          </a:prstGeom>
          <a:solidFill>
            <a:srgbClr val="000000">
              <a:alpha val="0"/>
            </a:srgbClr>
          </a:solidFill>
          <a:ln w="28575" cap="flat" cmpd="sng">
            <a:solidFill>
              <a:srgbClr val="8BE0A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47" name="Google Shape;347;g3e473cf74e9_76_34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847583" y="2276475"/>
            <a:ext cx="1982953" cy="28237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" name="Google Shape;123;p2">
            <a:extLst>
              <a:ext uri="{FF2B5EF4-FFF2-40B4-BE49-F238E27FC236}">
                <a16:creationId xmlns:a16="http://schemas.microsoft.com/office/drawing/2014/main" id="{ECAAFED8-48A7-95D0-4486-78DBEA6A8915}"/>
              </a:ext>
            </a:extLst>
          </p:cNvPr>
          <p:cNvCxnSpPr/>
          <p:nvPr/>
        </p:nvCxnSpPr>
        <p:spPr>
          <a:xfrm rot="10800000">
            <a:off x="838203" y="6485308"/>
            <a:ext cx="10515600" cy="0"/>
          </a:xfrm>
          <a:prstGeom prst="straightConnector1">
            <a:avLst/>
          </a:prstGeom>
          <a:noFill/>
          <a:ln w="57150" cap="flat" cmpd="sng">
            <a:solidFill>
              <a:srgbClr val="22C55E"/>
            </a:solidFill>
            <a:prstDash val="solid"/>
            <a:miter lim="8000"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g3e473cf74e9_76_708"/>
          <p:cNvSpPr/>
          <p:nvPr/>
        </p:nvSpPr>
        <p:spPr>
          <a:xfrm>
            <a:off x="5222950" y="1171050"/>
            <a:ext cx="6552600" cy="4911600"/>
          </a:xfrm>
          <a:prstGeom prst="roundRect">
            <a:avLst>
              <a:gd name="adj" fmla="val 2083"/>
            </a:avLst>
          </a:prstGeom>
          <a:solidFill>
            <a:srgbClr val="EEFFF4"/>
          </a:solidFill>
          <a:ln w="9525" cap="flat" cmpd="sng">
            <a:solidFill>
              <a:srgbClr val="22C55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53" name="Google Shape;353;g3e473cf74e9_76_708"/>
          <p:cNvGrpSpPr/>
          <p:nvPr/>
        </p:nvGrpSpPr>
        <p:grpSpPr>
          <a:xfrm>
            <a:off x="0" y="381000"/>
            <a:ext cx="11239500" cy="673500"/>
            <a:chOff x="0" y="381000"/>
            <a:chExt cx="11239500" cy="673500"/>
          </a:xfrm>
        </p:grpSpPr>
        <p:sp>
          <p:nvSpPr>
            <p:cNvPr id="354" name="Google Shape;354;g3e473cf74e9_76_708"/>
            <p:cNvSpPr/>
            <p:nvPr/>
          </p:nvSpPr>
          <p:spPr>
            <a:xfrm>
              <a:off x="0" y="381000"/>
              <a:ext cx="195900" cy="673500"/>
            </a:xfrm>
            <a:prstGeom prst="rect">
              <a:avLst/>
            </a:prstGeom>
            <a:solidFill>
              <a:srgbClr val="22C55E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" name="Google Shape;355;g3e473cf74e9_76_708"/>
            <p:cNvSpPr/>
            <p:nvPr/>
          </p:nvSpPr>
          <p:spPr>
            <a:xfrm>
              <a:off x="267836" y="381000"/>
              <a:ext cx="195900" cy="673500"/>
            </a:xfrm>
            <a:prstGeom prst="rect">
              <a:avLst/>
            </a:prstGeom>
            <a:solidFill>
              <a:srgbClr val="22C55E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" name="Google Shape;356;g3e473cf74e9_76_708"/>
            <p:cNvSpPr/>
            <p:nvPr/>
          </p:nvSpPr>
          <p:spPr>
            <a:xfrm>
              <a:off x="535673" y="381000"/>
              <a:ext cx="195900" cy="673500"/>
            </a:xfrm>
            <a:prstGeom prst="rect">
              <a:avLst/>
            </a:prstGeom>
            <a:solidFill>
              <a:srgbClr val="22C55E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Google Shape;357;g3e473cf74e9_76_708"/>
            <p:cNvSpPr txBox="1"/>
            <p:nvPr/>
          </p:nvSpPr>
          <p:spPr>
            <a:xfrm>
              <a:off x="952500" y="381000"/>
              <a:ext cx="10287000" cy="673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200" b="1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Аугментация данных</a:t>
              </a:r>
              <a:endParaRPr sz="32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59" name="Google Shape;359;g3e473cf74e9_76_708"/>
          <p:cNvSpPr txBox="1"/>
          <p:nvPr/>
        </p:nvSpPr>
        <p:spPr>
          <a:xfrm>
            <a:off x="5375350" y="1123105"/>
            <a:ext cx="6277800" cy="475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5803D"/>
                </a:solidFill>
                <a:latin typeface="Arial"/>
                <a:ea typeface="Arial"/>
                <a:cs typeface="Arial"/>
                <a:sym typeface="Arial"/>
              </a:rPr>
              <a:t>Борьба с переобучением PointNet++</a:t>
            </a:r>
            <a:endParaRPr sz="1600" b="1">
              <a:solidFill>
                <a:srgbClr val="15803D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333333"/>
                </a:solidFill>
              </a:rPr>
              <a:t>Главный враг глубоких нейросетей –  это переобучение. Если показывать программе одни и те же идеальные деревья, она просто запомнить их наизусть, но ошибется в реальном лесу.</a:t>
            </a:r>
            <a:endParaRPr sz="1600">
              <a:solidFill>
                <a:srgbClr val="333333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333333"/>
                </a:solidFill>
              </a:rPr>
              <a:t>Для комплексного решения этой проблемы было применено два метода. Первый – динамическое искажение данных. Прямо во время обучения программа случайным образом вращала деревья вокруг своей оси и добавляла легкий шум к координатам, имитируя погрешность лазерного сканера. В итоге сеть видела каждое дерево с сотен разных ракурсов и училась понимать истинную форму кроны.</a:t>
            </a:r>
            <a:endParaRPr sz="1600">
              <a:solidFill>
                <a:srgbClr val="333333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1000"/>
              </a:spcAft>
              <a:buNone/>
            </a:pPr>
            <a:r>
              <a:rPr lang="en-US" sz="1600">
                <a:solidFill>
                  <a:srgbClr val="333333"/>
                </a:solidFill>
              </a:rPr>
              <a:t>Второй метод – функция Dropout, встроенная в саму архитектуру сети. Во время обучения этот алгоритм временно и случайным образом «отключал» 50% связей между нейронами в финальном классификаторе. Сеть заставляли распознавать березу или ель, опираясь лишь на половину доступной информации. Такой подход не дает алгоритму привыкнуть к конкретным признакам и делает модель максимально надежной на новых данных.</a:t>
            </a:r>
            <a:endParaRPr sz="1600">
              <a:solidFill>
                <a:srgbClr val="333333"/>
              </a:solidFill>
            </a:endParaRPr>
          </a:p>
        </p:txBody>
      </p:sp>
      <p:sp>
        <p:nvSpPr>
          <p:cNvPr id="360" name="Google Shape;360;g3e473cf74e9_76_708"/>
          <p:cNvSpPr/>
          <p:nvPr/>
        </p:nvSpPr>
        <p:spPr>
          <a:xfrm>
            <a:off x="380975" y="1325725"/>
            <a:ext cx="4679700" cy="4572000"/>
          </a:xfrm>
          <a:prstGeom prst="roundRect">
            <a:avLst>
              <a:gd name="adj" fmla="val 2083"/>
            </a:avLst>
          </a:prstGeom>
          <a:solidFill>
            <a:schemeClr val="lt1"/>
          </a:solidFill>
          <a:ln w="9525" cap="flat" cmpd="sng">
            <a:solidFill>
              <a:srgbClr val="22C55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61" name="Google Shape;361;g3e473cf74e9_76_708"/>
          <p:cNvPicPr preferRelativeResize="0"/>
          <p:nvPr/>
        </p:nvPicPr>
        <p:blipFill rotWithShape="1">
          <a:blip r:embed="rId4">
            <a:alphaModFix/>
          </a:blip>
          <a:srcRect t="2272" b="2272"/>
          <a:stretch/>
        </p:blipFill>
        <p:spPr>
          <a:xfrm>
            <a:off x="1173201" y="1524000"/>
            <a:ext cx="762000" cy="1714500"/>
          </a:xfrm>
          <a:prstGeom prst="rect">
            <a:avLst/>
          </a:prstGeom>
          <a:noFill/>
          <a:ln>
            <a:noFill/>
          </a:ln>
        </p:spPr>
      </p:pic>
      <p:sp>
        <p:nvSpPr>
          <p:cNvPr id="362" name="Google Shape;362;g3e473cf74e9_76_708"/>
          <p:cNvSpPr txBox="1"/>
          <p:nvPr/>
        </p:nvSpPr>
        <p:spPr>
          <a:xfrm>
            <a:off x="982701" y="3286125"/>
            <a:ext cx="11430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15803D"/>
                </a:solidFill>
                <a:latin typeface="Arial"/>
                <a:ea typeface="Arial"/>
                <a:cs typeface="Arial"/>
                <a:sym typeface="Arial"/>
              </a:rPr>
              <a:t>Оригинал</a:t>
            </a:r>
            <a:endParaRPr sz="1200" b="1">
              <a:solidFill>
                <a:srgbClr val="15803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63" name="Google Shape;363;g3e473cf74e9_76_708"/>
          <p:cNvPicPr preferRelativeResize="0"/>
          <p:nvPr/>
        </p:nvPicPr>
        <p:blipFill rotWithShape="1">
          <a:blip r:embed="rId5">
            <a:alphaModFix/>
          </a:blip>
          <a:srcRect t="12224" b="12224"/>
          <a:stretch/>
        </p:blipFill>
        <p:spPr>
          <a:xfrm>
            <a:off x="3363951" y="1524000"/>
            <a:ext cx="762000" cy="1714500"/>
          </a:xfrm>
          <a:prstGeom prst="rect">
            <a:avLst/>
          </a:prstGeom>
          <a:noFill/>
          <a:ln>
            <a:noFill/>
          </a:ln>
        </p:spPr>
      </p:pic>
      <p:sp>
        <p:nvSpPr>
          <p:cNvPr id="364" name="Google Shape;364;g3e473cf74e9_76_708"/>
          <p:cNvSpPr txBox="1"/>
          <p:nvPr/>
        </p:nvSpPr>
        <p:spPr>
          <a:xfrm>
            <a:off x="3173451" y="3286125"/>
            <a:ext cx="11430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15803D"/>
                </a:solidFill>
                <a:latin typeface="Arial"/>
                <a:ea typeface="Arial"/>
                <a:cs typeface="Arial"/>
                <a:sym typeface="Arial"/>
              </a:rPr>
              <a:t>Поворот</a:t>
            </a:r>
            <a:endParaRPr sz="1200" b="1">
              <a:solidFill>
                <a:srgbClr val="15803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65" name="Google Shape;365;g3e473cf74e9_76_708"/>
          <p:cNvPicPr preferRelativeResize="0"/>
          <p:nvPr/>
        </p:nvPicPr>
        <p:blipFill rotWithShape="1">
          <a:blip r:embed="rId6">
            <a:alphaModFix/>
          </a:blip>
          <a:srcRect t="2714" b="2723"/>
          <a:stretch/>
        </p:blipFill>
        <p:spPr>
          <a:xfrm>
            <a:off x="1173201" y="3762375"/>
            <a:ext cx="762000" cy="1714500"/>
          </a:xfrm>
          <a:prstGeom prst="rect">
            <a:avLst/>
          </a:prstGeom>
          <a:noFill/>
          <a:ln>
            <a:noFill/>
          </a:ln>
        </p:spPr>
      </p:pic>
      <p:sp>
        <p:nvSpPr>
          <p:cNvPr id="366" name="Google Shape;366;g3e473cf74e9_76_708"/>
          <p:cNvSpPr txBox="1"/>
          <p:nvPr/>
        </p:nvSpPr>
        <p:spPr>
          <a:xfrm>
            <a:off x="982701" y="5524500"/>
            <a:ext cx="11430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15803D"/>
                </a:solidFill>
                <a:latin typeface="Arial"/>
                <a:ea typeface="Arial"/>
                <a:cs typeface="Arial"/>
                <a:sym typeface="Arial"/>
              </a:rPr>
              <a:t>Шум</a:t>
            </a:r>
            <a:endParaRPr sz="1200" b="1">
              <a:solidFill>
                <a:srgbClr val="15803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67" name="Google Shape;367;g3e473cf74e9_76_708"/>
          <p:cNvPicPr preferRelativeResize="0"/>
          <p:nvPr/>
        </p:nvPicPr>
        <p:blipFill rotWithShape="1">
          <a:blip r:embed="rId7">
            <a:alphaModFix/>
          </a:blip>
          <a:srcRect t="4446" b="4446"/>
          <a:stretch/>
        </p:blipFill>
        <p:spPr>
          <a:xfrm>
            <a:off x="3363951" y="3762375"/>
            <a:ext cx="762000" cy="1714500"/>
          </a:xfrm>
          <a:prstGeom prst="rect">
            <a:avLst/>
          </a:prstGeom>
          <a:noFill/>
          <a:ln>
            <a:noFill/>
          </a:ln>
        </p:spPr>
      </p:pic>
      <p:sp>
        <p:nvSpPr>
          <p:cNvPr id="368" name="Google Shape;368;g3e473cf74e9_76_708"/>
          <p:cNvSpPr txBox="1"/>
          <p:nvPr/>
        </p:nvSpPr>
        <p:spPr>
          <a:xfrm>
            <a:off x="3173451" y="5524500"/>
            <a:ext cx="11430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15803D"/>
                </a:solidFill>
                <a:latin typeface="Arial"/>
                <a:ea typeface="Arial"/>
                <a:cs typeface="Arial"/>
                <a:sym typeface="Arial"/>
              </a:rPr>
              <a:t>Поворот + Шум</a:t>
            </a:r>
            <a:endParaRPr sz="1200" b="1">
              <a:solidFill>
                <a:srgbClr val="15803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" name="Google Shape;123;p2">
            <a:extLst>
              <a:ext uri="{FF2B5EF4-FFF2-40B4-BE49-F238E27FC236}">
                <a16:creationId xmlns:a16="http://schemas.microsoft.com/office/drawing/2014/main" id="{CB2A73A6-D020-277A-4E05-94CCA8F5C2BF}"/>
              </a:ext>
            </a:extLst>
          </p:cNvPr>
          <p:cNvCxnSpPr/>
          <p:nvPr/>
        </p:nvCxnSpPr>
        <p:spPr>
          <a:xfrm rot="10800000">
            <a:off x="838203" y="6485308"/>
            <a:ext cx="10515600" cy="0"/>
          </a:xfrm>
          <a:prstGeom prst="straightConnector1">
            <a:avLst/>
          </a:prstGeom>
          <a:noFill/>
          <a:ln w="57150" cap="flat" cmpd="sng">
            <a:solidFill>
              <a:srgbClr val="22C55E"/>
            </a:solidFill>
            <a:prstDash val="solid"/>
            <a:miter lim="8000"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g3e473cf74e9_121_281"/>
          <p:cNvSpPr/>
          <p:nvPr/>
        </p:nvSpPr>
        <p:spPr>
          <a:xfrm>
            <a:off x="476250" y="1336875"/>
            <a:ext cx="6950400" cy="4848000"/>
          </a:xfrm>
          <a:prstGeom prst="roundRect">
            <a:avLst>
              <a:gd name="adj" fmla="val 2083"/>
            </a:avLst>
          </a:prstGeom>
          <a:solidFill>
            <a:srgbClr val="EEFFF4"/>
          </a:solidFill>
          <a:ln w="9525" cap="flat" cmpd="sng">
            <a:solidFill>
              <a:srgbClr val="22C55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74" name="Google Shape;374;g3e473cf74e9_121_281"/>
          <p:cNvGrpSpPr/>
          <p:nvPr/>
        </p:nvGrpSpPr>
        <p:grpSpPr>
          <a:xfrm>
            <a:off x="0" y="381000"/>
            <a:ext cx="11239500" cy="673500"/>
            <a:chOff x="0" y="381000"/>
            <a:chExt cx="11239500" cy="673500"/>
          </a:xfrm>
        </p:grpSpPr>
        <p:sp>
          <p:nvSpPr>
            <p:cNvPr id="375" name="Google Shape;375;g3e473cf74e9_121_281"/>
            <p:cNvSpPr/>
            <p:nvPr/>
          </p:nvSpPr>
          <p:spPr>
            <a:xfrm>
              <a:off x="0" y="381000"/>
              <a:ext cx="195900" cy="673500"/>
            </a:xfrm>
            <a:prstGeom prst="rect">
              <a:avLst/>
            </a:prstGeom>
            <a:solidFill>
              <a:srgbClr val="22C55E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Google Shape;376;g3e473cf74e9_121_281"/>
            <p:cNvSpPr/>
            <p:nvPr/>
          </p:nvSpPr>
          <p:spPr>
            <a:xfrm>
              <a:off x="267836" y="381000"/>
              <a:ext cx="195900" cy="673500"/>
            </a:xfrm>
            <a:prstGeom prst="rect">
              <a:avLst/>
            </a:prstGeom>
            <a:solidFill>
              <a:srgbClr val="22C55E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Google Shape;377;g3e473cf74e9_121_281"/>
            <p:cNvSpPr/>
            <p:nvPr/>
          </p:nvSpPr>
          <p:spPr>
            <a:xfrm>
              <a:off x="535673" y="381000"/>
              <a:ext cx="195900" cy="673500"/>
            </a:xfrm>
            <a:prstGeom prst="rect">
              <a:avLst/>
            </a:prstGeom>
            <a:solidFill>
              <a:srgbClr val="22C55E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Google Shape;378;g3e473cf74e9_121_281"/>
            <p:cNvSpPr txBox="1"/>
            <p:nvPr/>
          </p:nvSpPr>
          <p:spPr>
            <a:xfrm>
              <a:off x="952500" y="381000"/>
              <a:ext cx="10287000" cy="673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200" b="1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Процесс обучения нейросети</a:t>
              </a:r>
              <a:endParaRPr sz="32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80" name="Google Shape;380;g3e473cf74e9_121_281"/>
          <p:cNvSpPr txBox="1"/>
          <p:nvPr/>
        </p:nvSpPr>
        <p:spPr>
          <a:xfrm>
            <a:off x="665325" y="1326552"/>
            <a:ext cx="6582900" cy="4431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91400" tIns="91400" rIns="91400" bIns="91400" anchor="t" anchorCtr="0">
            <a:no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5803D"/>
                </a:solidFill>
                <a:latin typeface="Arial"/>
                <a:ea typeface="Arial"/>
                <a:cs typeface="Arial"/>
                <a:sym typeface="Arial"/>
              </a:rPr>
              <a:t>Обучение PointNet++</a:t>
            </a:r>
            <a:endParaRPr sz="1600" b="1">
              <a:solidFill>
                <a:srgbClr val="15803D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333333"/>
                </a:solidFill>
              </a:rPr>
              <a:t>Обучение нейросети проходило на графическом процессоре и заняло сто циклов (эпох). Процесс контролировался в режиме реального времени, что позволило нам следить за отсутствием переобучения. На графиках видно классическое правильное поведение: линия ошибки стремительно падает, а точность распознавания растет и фиксируется на высоком уровне.</a:t>
            </a:r>
            <a:endParaRPr sz="1600">
              <a:solidFill>
                <a:srgbClr val="333333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333333"/>
                </a:solidFill>
              </a:rPr>
              <a:t>Чтобы достичь максимум точности, был использован умный планировщик шага обучения (Scheduler). Когда программа замечала, что точность на проверочной выборке перестает расти, она плавно уменьшала learning rate в два раза. Это позволило алгоритму перейти от грубой корректировки весов к аккуратной настройке параметров на финальных этапах. Стратегия сохранения гарантировала, что на жесткий диск была записана именно та версия весов сети, которая показала наилучший исторический результат на чистых данных.</a:t>
            </a:r>
            <a:endParaRPr sz="1600">
              <a:solidFill>
                <a:srgbClr val="333333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sz="1600">
              <a:solidFill>
                <a:srgbClr val="333333"/>
              </a:solidFill>
            </a:endParaRPr>
          </a:p>
        </p:txBody>
      </p:sp>
      <p:sp>
        <p:nvSpPr>
          <p:cNvPr id="381" name="Google Shape;381;g3e473cf74e9_121_281"/>
          <p:cNvSpPr/>
          <p:nvPr/>
        </p:nvSpPr>
        <p:spPr>
          <a:xfrm>
            <a:off x="7571675" y="381000"/>
            <a:ext cx="4494000" cy="5930400"/>
          </a:xfrm>
          <a:prstGeom prst="roundRect">
            <a:avLst>
              <a:gd name="adj" fmla="val 4999"/>
            </a:avLst>
          </a:prstGeom>
          <a:solidFill>
            <a:srgbClr val="FFFFFF"/>
          </a:solidFill>
          <a:ln w="28575" cap="flat" cmpd="sng">
            <a:solidFill>
              <a:srgbClr val="8BE0A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82" name="Google Shape;382;g3e473cf74e9_121_28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738962" y="490649"/>
            <a:ext cx="3936275" cy="2751054"/>
          </a:xfrm>
          <a:prstGeom prst="rect">
            <a:avLst/>
          </a:prstGeom>
          <a:noFill/>
          <a:ln>
            <a:noFill/>
          </a:ln>
        </p:spPr>
      </p:pic>
      <p:pic>
        <p:nvPicPr>
          <p:cNvPr id="383" name="Google Shape;383;g3e473cf74e9_121_28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841275" y="3488853"/>
            <a:ext cx="3936275" cy="274929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" name="Google Shape;123;p2">
            <a:extLst>
              <a:ext uri="{FF2B5EF4-FFF2-40B4-BE49-F238E27FC236}">
                <a16:creationId xmlns:a16="http://schemas.microsoft.com/office/drawing/2014/main" id="{67BA5A27-C963-1132-A28E-29B8E1D97627}"/>
              </a:ext>
            </a:extLst>
          </p:cNvPr>
          <p:cNvCxnSpPr/>
          <p:nvPr/>
        </p:nvCxnSpPr>
        <p:spPr>
          <a:xfrm rot="10800000">
            <a:off x="838203" y="6485308"/>
            <a:ext cx="10515600" cy="0"/>
          </a:xfrm>
          <a:prstGeom prst="straightConnector1">
            <a:avLst/>
          </a:prstGeom>
          <a:noFill/>
          <a:ln w="57150" cap="flat" cmpd="sng">
            <a:solidFill>
              <a:srgbClr val="22C55E"/>
            </a:solidFill>
            <a:prstDash val="solid"/>
            <a:miter lim="8000"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3e473cf74e9_121_477"/>
          <p:cNvSpPr txBox="1">
            <a:spLocks noGrp="1"/>
          </p:cNvSpPr>
          <p:nvPr>
            <p:ph type="title"/>
          </p:nvPr>
        </p:nvSpPr>
        <p:spPr>
          <a:xfrm>
            <a:off x="952500" y="381000"/>
            <a:ext cx="10515600" cy="673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latin typeface="Arial"/>
                <a:ea typeface="Arial"/>
                <a:cs typeface="Arial"/>
                <a:sym typeface="Arial"/>
              </a:rPr>
              <a:t>Финальный тест моделей</a:t>
            </a:r>
            <a:endParaRPr sz="32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89" name="Google Shape;389;g3e473cf74e9_121_477"/>
          <p:cNvGrpSpPr/>
          <p:nvPr/>
        </p:nvGrpSpPr>
        <p:grpSpPr>
          <a:xfrm>
            <a:off x="0" y="381000"/>
            <a:ext cx="731573" cy="673500"/>
            <a:chOff x="0" y="381000"/>
            <a:chExt cx="731573" cy="673500"/>
          </a:xfrm>
        </p:grpSpPr>
        <p:sp>
          <p:nvSpPr>
            <p:cNvPr id="390" name="Google Shape;390;g3e473cf74e9_121_477"/>
            <p:cNvSpPr/>
            <p:nvPr/>
          </p:nvSpPr>
          <p:spPr>
            <a:xfrm>
              <a:off x="0" y="381000"/>
              <a:ext cx="195900" cy="673500"/>
            </a:xfrm>
            <a:prstGeom prst="rect">
              <a:avLst/>
            </a:prstGeom>
            <a:solidFill>
              <a:srgbClr val="0F9ED5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" name="Google Shape;391;g3e473cf74e9_121_477"/>
            <p:cNvSpPr/>
            <p:nvPr/>
          </p:nvSpPr>
          <p:spPr>
            <a:xfrm>
              <a:off x="267836" y="381000"/>
              <a:ext cx="195900" cy="673500"/>
            </a:xfrm>
            <a:prstGeom prst="rect">
              <a:avLst/>
            </a:prstGeom>
            <a:solidFill>
              <a:srgbClr val="0F9ED5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Google Shape;392;g3e473cf74e9_121_477"/>
            <p:cNvSpPr/>
            <p:nvPr/>
          </p:nvSpPr>
          <p:spPr>
            <a:xfrm>
              <a:off x="535673" y="381000"/>
              <a:ext cx="195900" cy="673500"/>
            </a:xfrm>
            <a:prstGeom prst="rect">
              <a:avLst/>
            </a:prstGeom>
            <a:solidFill>
              <a:srgbClr val="0F9ED5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93" name="Google Shape;393;g3e473cf74e9_121_477"/>
          <p:cNvSpPr/>
          <p:nvPr/>
        </p:nvSpPr>
        <p:spPr>
          <a:xfrm>
            <a:off x="731575" y="1201200"/>
            <a:ext cx="6374700" cy="4836600"/>
          </a:xfrm>
          <a:prstGeom prst="roundRect">
            <a:avLst>
              <a:gd name="adj" fmla="val 2631"/>
            </a:avLst>
          </a:prstGeom>
          <a:solidFill>
            <a:srgbClr val="F8FAFC"/>
          </a:solidFill>
          <a:ln w="9525" cap="flat" cmpd="sng">
            <a:solidFill>
              <a:srgbClr val="0F9ED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394" name="Google Shape;394;g3e473cf74e9_121_477"/>
          <p:cNvCxnSpPr/>
          <p:nvPr/>
        </p:nvCxnSpPr>
        <p:spPr>
          <a:xfrm rot="10800000">
            <a:off x="838203" y="6485308"/>
            <a:ext cx="10515600" cy="0"/>
          </a:xfrm>
          <a:prstGeom prst="straightConnector1">
            <a:avLst/>
          </a:prstGeom>
          <a:noFill/>
          <a:ln w="57150" cap="flat" cmpd="sng">
            <a:solidFill>
              <a:srgbClr val="0F9ED5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395" name="Google Shape;395;g3e473cf74e9_121_477"/>
          <p:cNvSpPr/>
          <p:nvPr/>
        </p:nvSpPr>
        <p:spPr>
          <a:xfrm>
            <a:off x="7281750" y="1333500"/>
            <a:ext cx="4186200" cy="4572000"/>
          </a:xfrm>
          <a:prstGeom prst="roundRect">
            <a:avLst>
              <a:gd name="adj" fmla="val 2083"/>
            </a:avLst>
          </a:prstGeom>
          <a:solidFill>
            <a:srgbClr val="000000">
              <a:alpha val="0"/>
            </a:srgbClr>
          </a:solidFill>
          <a:ln w="9525" cap="flat" cmpd="sng">
            <a:solidFill>
              <a:srgbClr val="0F9ED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96" name="Google Shape;396;g3e473cf74e9_121_47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15550" y="1499150"/>
            <a:ext cx="2438400" cy="2228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97" name="Google Shape;397;g3e473cf74e9_121_47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455525" y="1499150"/>
            <a:ext cx="2835575" cy="286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98" name="Google Shape;398;g3e473cf74e9_121_47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515900" y="4408113"/>
            <a:ext cx="1748400" cy="1397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99" name="Google Shape;399;g3e473cf74e9_121_47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9363192" y="4408125"/>
            <a:ext cx="1505183" cy="1397075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g3e473cf74e9_121_477"/>
          <p:cNvSpPr txBox="1"/>
          <p:nvPr/>
        </p:nvSpPr>
        <p:spPr>
          <a:xfrm>
            <a:off x="930025" y="1333500"/>
            <a:ext cx="5977800" cy="4538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90475" tIns="90475" rIns="90475" bIns="9047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600" b="1">
                <a:solidFill>
                  <a:srgbClr val="0F9ED5"/>
                </a:solidFill>
                <a:latin typeface="Arial"/>
                <a:ea typeface="Arial"/>
                <a:cs typeface="Arial"/>
                <a:sym typeface="Arial"/>
              </a:rPr>
              <a:t>Отложенная выборка</a:t>
            </a:r>
            <a:endParaRPr sz="1480">
              <a:solidFill>
                <a:srgbClr val="333333"/>
              </a:solidFill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en-US" sz="1600" b="0" i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Для объективного сравнения алгоритмов</a:t>
            </a:r>
            <a:r>
              <a:rPr lang="en-US" sz="1600">
                <a:solidFill>
                  <a:srgbClr val="333333"/>
                </a:solidFill>
              </a:rPr>
              <a:t> были</a:t>
            </a:r>
            <a:r>
              <a:rPr lang="en-US" sz="1600" b="0" i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 отобра</a:t>
            </a:r>
            <a:r>
              <a:rPr lang="en-US" sz="1600">
                <a:solidFill>
                  <a:srgbClr val="333333"/>
                </a:solidFill>
              </a:rPr>
              <a:t>ны</a:t>
            </a:r>
            <a:r>
              <a:rPr lang="en-US" sz="1600" b="0" i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 24 контрольных дерева </a:t>
            </a:r>
            <a:r>
              <a:rPr lang="en-US" sz="1600">
                <a:solidFill>
                  <a:srgbClr val="333333"/>
                </a:solidFill>
              </a:rPr>
              <a:t>–</a:t>
            </a:r>
            <a:r>
              <a:rPr lang="en-US" sz="1600" b="0" i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 по 4 экземпляра каждого вида. Эти данные не использовались на этапе обучения.</a:t>
            </a:r>
            <a:endParaRPr sz="1600" b="0" i="0">
              <a:solidFill>
                <a:srgbClr val="333333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125"/>
              </a:spcBef>
              <a:spcAft>
                <a:spcPts val="0"/>
              </a:spcAft>
              <a:buNone/>
            </a:pPr>
            <a:r>
              <a:rPr lang="en-US" sz="1600" b="0" i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В процессе тренировки каждое облако точек динамически сжималось или  расширялось до 2048 единиц через случайную выборку.</a:t>
            </a:r>
            <a:endParaRPr sz="1600">
              <a:solidFill>
                <a:srgbClr val="333333"/>
              </a:solidFill>
            </a:endParaRPr>
          </a:p>
          <a:p>
            <a:pPr marL="0" lvl="0" indent="0" algn="l" rtl="0">
              <a:spcBef>
                <a:spcPts val="1125"/>
              </a:spcBef>
              <a:spcAft>
                <a:spcPts val="0"/>
              </a:spcAft>
              <a:buNone/>
            </a:pPr>
            <a:r>
              <a:rPr lang="en-US" sz="1600" b="0" i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Чтобы </a:t>
            </a:r>
            <a:r>
              <a:rPr lang="en-US" sz="1600">
                <a:solidFill>
                  <a:srgbClr val="333333"/>
                </a:solidFill>
              </a:rPr>
              <a:t>провести объективное </a:t>
            </a:r>
            <a:r>
              <a:rPr lang="en-US" sz="1600" b="0" i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финальн</a:t>
            </a:r>
            <a:r>
              <a:rPr lang="en-US" sz="1600">
                <a:solidFill>
                  <a:srgbClr val="333333"/>
                </a:solidFill>
              </a:rPr>
              <a:t>ое</a:t>
            </a:r>
            <a:r>
              <a:rPr lang="en-US" sz="1600" b="0" i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600">
                <a:solidFill>
                  <a:srgbClr val="333333"/>
                </a:solidFill>
              </a:rPr>
              <a:t>тестирование</a:t>
            </a:r>
            <a:r>
              <a:rPr lang="en-US" sz="1600" b="0" i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,</a:t>
            </a:r>
            <a:r>
              <a:rPr lang="en-US" sz="1600">
                <a:solidFill>
                  <a:srgbClr val="333333"/>
                </a:solidFill>
              </a:rPr>
              <a:t> над</a:t>
            </a:r>
            <a:r>
              <a:rPr lang="en-US" sz="1600" b="0" i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 кажд</a:t>
            </a:r>
            <a:r>
              <a:rPr lang="en-US" sz="1600">
                <a:solidFill>
                  <a:srgbClr val="333333"/>
                </a:solidFill>
              </a:rPr>
              <a:t>ым</a:t>
            </a:r>
            <a:r>
              <a:rPr lang="en-US" sz="1600" b="0" i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 отложенн</a:t>
            </a:r>
            <a:r>
              <a:rPr lang="en-US" sz="1600">
                <a:solidFill>
                  <a:srgbClr val="333333"/>
                </a:solidFill>
              </a:rPr>
              <a:t>ым</a:t>
            </a:r>
            <a:r>
              <a:rPr lang="en-US" sz="1600" b="0" i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 деревом были проведены </a:t>
            </a:r>
            <a:r>
              <a:rPr lang="en-US" sz="1600">
                <a:solidFill>
                  <a:srgbClr val="333333"/>
                </a:solidFill>
              </a:rPr>
              <a:t>следующие</a:t>
            </a:r>
            <a:r>
              <a:rPr lang="en-US" sz="1600" b="0" i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 трансформаци</a:t>
            </a:r>
            <a:r>
              <a:rPr lang="en-US" sz="1600">
                <a:solidFill>
                  <a:srgbClr val="333333"/>
                </a:solidFill>
              </a:rPr>
              <a:t>и</a:t>
            </a:r>
            <a:r>
              <a:rPr lang="en-US" sz="1600" b="0" i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: оно стократно поворачивалось под произвольным углом, и каждый раз заново проходило через алгоритм разрежения.</a:t>
            </a:r>
            <a:endParaRPr sz="1600" b="0" i="0">
              <a:solidFill>
                <a:srgbClr val="333333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125"/>
              </a:spcBef>
              <a:spcAft>
                <a:spcPts val="0"/>
              </a:spcAft>
              <a:buNone/>
            </a:pPr>
            <a:r>
              <a:rPr lang="en-US" sz="1600" b="0" i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Суммарно модели выполнили 2400 предсказаний. Такая нагрузка имитирует реальные условия эксплуатации, когда беспилотник приближается к объекту в лесу с любого произвольного ракурса.</a:t>
            </a:r>
            <a:endParaRPr sz="1600" b="0" i="0">
              <a:solidFill>
                <a:srgbClr val="333333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5" name="Google Shape;405;g3e473cf74e9_121_689"/>
          <p:cNvGrpSpPr/>
          <p:nvPr/>
        </p:nvGrpSpPr>
        <p:grpSpPr>
          <a:xfrm>
            <a:off x="0" y="381000"/>
            <a:ext cx="11239500" cy="673500"/>
            <a:chOff x="0" y="381000"/>
            <a:chExt cx="11239500" cy="673500"/>
          </a:xfrm>
        </p:grpSpPr>
        <p:sp>
          <p:nvSpPr>
            <p:cNvPr id="406" name="Google Shape;406;g3e473cf74e9_121_689"/>
            <p:cNvSpPr/>
            <p:nvPr/>
          </p:nvSpPr>
          <p:spPr>
            <a:xfrm>
              <a:off x="0" y="381000"/>
              <a:ext cx="195900" cy="673500"/>
            </a:xfrm>
            <a:prstGeom prst="rect">
              <a:avLst/>
            </a:prstGeom>
            <a:solidFill>
              <a:srgbClr val="F97316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" name="Google Shape;407;g3e473cf74e9_121_689"/>
            <p:cNvSpPr/>
            <p:nvPr/>
          </p:nvSpPr>
          <p:spPr>
            <a:xfrm>
              <a:off x="267836" y="381000"/>
              <a:ext cx="195900" cy="673500"/>
            </a:xfrm>
            <a:prstGeom prst="rect">
              <a:avLst/>
            </a:prstGeom>
            <a:solidFill>
              <a:srgbClr val="F97316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Google Shape;408;g3e473cf74e9_121_689"/>
            <p:cNvSpPr/>
            <p:nvPr/>
          </p:nvSpPr>
          <p:spPr>
            <a:xfrm>
              <a:off x="535673" y="381000"/>
              <a:ext cx="195900" cy="673500"/>
            </a:xfrm>
            <a:prstGeom prst="rect">
              <a:avLst/>
            </a:prstGeom>
            <a:solidFill>
              <a:srgbClr val="F97316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" name="Google Shape;409;g3e473cf74e9_121_689"/>
            <p:cNvSpPr txBox="1"/>
            <p:nvPr/>
          </p:nvSpPr>
          <p:spPr>
            <a:xfrm>
              <a:off x="952500" y="381000"/>
              <a:ext cx="10287000" cy="673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200" b="1">
                  <a:latin typeface="Arial"/>
                  <a:ea typeface="Arial"/>
                  <a:cs typeface="Arial"/>
                  <a:sym typeface="Arial"/>
                </a:rPr>
                <a:t>Финальный тест моделей</a:t>
              </a:r>
              <a:endParaRPr sz="32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10" name="Google Shape;410;g3e473cf74e9_121_689"/>
          <p:cNvSpPr/>
          <p:nvPr/>
        </p:nvSpPr>
        <p:spPr>
          <a:xfrm>
            <a:off x="339700" y="1333500"/>
            <a:ext cx="5526000" cy="4836300"/>
          </a:xfrm>
          <a:prstGeom prst="roundRect">
            <a:avLst>
              <a:gd name="adj" fmla="val 2083"/>
            </a:avLst>
          </a:prstGeom>
          <a:solidFill>
            <a:srgbClr val="FFF9F2"/>
          </a:solidFill>
          <a:ln w="9525" cap="flat" cmpd="sng">
            <a:solidFill>
              <a:srgbClr val="F9731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1" name="Google Shape;411;g3e473cf74e9_121_689"/>
          <p:cNvSpPr txBox="1">
            <a:spLocks noGrp="1"/>
          </p:cNvSpPr>
          <p:nvPr>
            <p:ph type="body" idx="1"/>
          </p:nvPr>
        </p:nvSpPr>
        <p:spPr>
          <a:xfrm>
            <a:off x="492175" y="1533700"/>
            <a:ext cx="5206200" cy="4472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F97316"/>
                </a:solidFill>
                <a:latin typeface="Arial"/>
                <a:ea typeface="Arial"/>
                <a:cs typeface="Arial"/>
                <a:sym typeface="Arial"/>
              </a:rPr>
              <a:t>Матрица ошибок: Случайный лес</a:t>
            </a:r>
            <a:endParaRPr sz="1600" b="1">
              <a:solidFill>
                <a:srgbClr val="F9731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333333"/>
                </a:solidFill>
              </a:rPr>
              <a:t>Здесь представлена матрица ошибок классического алгоритма по итогам масштабного стресс-теста. Тёмная диагональ означает правильные ответы, и мы видим, что математическая модель уверенно справилась с задачей.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333333"/>
                </a:solidFill>
              </a:rPr>
              <a:t>Она почти безошибочно распознает ольху и сосну. Однако есть явная проблема с лиственными породами. Из 400 тестовых попыток алгоритм не угадал березу в четверти случаев. Остальные деревья он перепутал с осиной и сосной.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333333"/>
                </a:solidFill>
              </a:rPr>
              <a:t>Это происходит потому, что классическая статистика описывает лишь общие контуры дерева. У березы и осины очень похожая округлая форма кроны, поэтому их числовые показатели сливаются, и алгоритму просто не хватает данных для точного ответа.</a:t>
            </a:r>
          </a:p>
        </p:txBody>
      </p:sp>
      <p:sp>
        <p:nvSpPr>
          <p:cNvPr id="412" name="Google Shape;412;g3e473cf74e9_121_689"/>
          <p:cNvSpPr/>
          <p:nvPr/>
        </p:nvSpPr>
        <p:spPr>
          <a:xfrm>
            <a:off x="6021650" y="1681500"/>
            <a:ext cx="5876100" cy="4140300"/>
          </a:xfrm>
          <a:prstGeom prst="roundRect">
            <a:avLst>
              <a:gd name="adj" fmla="val 5000"/>
            </a:avLst>
          </a:prstGeom>
          <a:solidFill>
            <a:srgbClr val="000000">
              <a:alpha val="0"/>
            </a:srgbClr>
          </a:solidFill>
          <a:ln w="19050" cap="flat" cmpd="sng">
            <a:solidFill>
              <a:srgbClr val="F9731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" name="Google Shape;123;p2">
            <a:extLst>
              <a:ext uri="{FF2B5EF4-FFF2-40B4-BE49-F238E27FC236}">
                <a16:creationId xmlns:a16="http://schemas.microsoft.com/office/drawing/2014/main" id="{18810086-8E81-EECA-B84B-593527F79475}"/>
              </a:ext>
            </a:extLst>
          </p:cNvPr>
          <p:cNvCxnSpPr/>
          <p:nvPr/>
        </p:nvCxnSpPr>
        <p:spPr>
          <a:xfrm rot="10800000">
            <a:off x="838203" y="6485308"/>
            <a:ext cx="10515600" cy="0"/>
          </a:xfrm>
          <a:prstGeom prst="straightConnector1">
            <a:avLst/>
          </a:prstGeom>
          <a:noFill/>
          <a:ln w="57150" cap="flat" cmpd="sng">
            <a:solidFill>
              <a:srgbClr val="F97316"/>
            </a:solidFill>
            <a:prstDash val="solid"/>
            <a:miter lim="8000"/>
            <a:headEnd type="none" w="sm" len="sm"/>
            <a:tailEnd type="none" w="sm" len="sm"/>
          </a:ln>
        </p:spPr>
      </p:cxn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75E71399-CC66-7546-56E6-1734C406A3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3574" y="1838960"/>
            <a:ext cx="5661866" cy="389146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9" name="Google Shape;419;g3e473cf74e9_121_894"/>
          <p:cNvGrpSpPr/>
          <p:nvPr/>
        </p:nvGrpSpPr>
        <p:grpSpPr>
          <a:xfrm>
            <a:off x="0" y="381000"/>
            <a:ext cx="11239500" cy="673500"/>
            <a:chOff x="0" y="381000"/>
            <a:chExt cx="11239500" cy="673500"/>
          </a:xfrm>
        </p:grpSpPr>
        <p:sp>
          <p:nvSpPr>
            <p:cNvPr id="420" name="Google Shape;420;g3e473cf74e9_121_894"/>
            <p:cNvSpPr/>
            <p:nvPr/>
          </p:nvSpPr>
          <p:spPr>
            <a:xfrm>
              <a:off x="0" y="381000"/>
              <a:ext cx="195900" cy="673500"/>
            </a:xfrm>
            <a:prstGeom prst="rect">
              <a:avLst/>
            </a:prstGeom>
            <a:solidFill>
              <a:srgbClr val="F97316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Google Shape;421;g3e473cf74e9_121_894"/>
            <p:cNvSpPr/>
            <p:nvPr/>
          </p:nvSpPr>
          <p:spPr>
            <a:xfrm>
              <a:off x="267836" y="381000"/>
              <a:ext cx="195900" cy="673500"/>
            </a:xfrm>
            <a:prstGeom prst="rect">
              <a:avLst/>
            </a:prstGeom>
            <a:solidFill>
              <a:srgbClr val="F97316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Google Shape;422;g3e473cf74e9_121_894"/>
            <p:cNvSpPr/>
            <p:nvPr/>
          </p:nvSpPr>
          <p:spPr>
            <a:xfrm>
              <a:off x="535673" y="381000"/>
              <a:ext cx="195900" cy="673500"/>
            </a:xfrm>
            <a:prstGeom prst="rect">
              <a:avLst/>
            </a:prstGeom>
            <a:solidFill>
              <a:srgbClr val="F97316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Google Shape;423;g3e473cf74e9_121_894"/>
            <p:cNvSpPr txBox="1"/>
            <p:nvPr/>
          </p:nvSpPr>
          <p:spPr>
            <a:xfrm>
              <a:off x="952500" y="381000"/>
              <a:ext cx="10287000" cy="673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200" b="1">
                  <a:latin typeface="Arial"/>
                  <a:ea typeface="Arial"/>
                  <a:cs typeface="Arial"/>
                  <a:sym typeface="Arial"/>
                </a:rPr>
                <a:t>Логика принятия решений Random Forest</a:t>
              </a:r>
              <a:endParaRPr sz="32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24" name="Google Shape;424;g3e473cf74e9_121_894"/>
          <p:cNvSpPr/>
          <p:nvPr/>
        </p:nvSpPr>
        <p:spPr>
          <a:xfrm>
            <a:off x="6698006" y="1299692"/>
            <a:ext cx="5295900" cy="4663785"/>
          </a:xfrm>
          <a:prstGeom prst="roundRect">
            <a:avLst>
              <a:gd name="adj" fmla="val 2083"/>
            </a:avLst>
          </a:prstGeom>
          <a:solidFill>
            <a:srgbClr val="FFF9F2"/>
          </a:solidFill>
          <a:ln w="9525" cap="flat" cmpd="sng">
            <a:solidFill>
              <a:srgbClr val="F9731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5" name="Google Shape;425;g3e473cf74e9_121_894"/>
          <p:cNvSpPr txBox="1">
            <a:spLocks noGrp="1"/>
          </p:cNvSpPr>
          <p:nvPr>
            <p:ph type="body" idx="1"/>
          </p:nvPr>
        </p:nvSpPr>
        <p:spPr>
          <a:xfrm>
            <a:off x="6853181" y="1249234"/>
            <a:ext cx="5027100" cy="4176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F97316"/>
                </a:solidFill>
                <a:latin typeface="Arial"/>
                <a:ea typeface="Arial"/>
                <a:cs typeface="Arial"/>
                <a:sym typeface="Arial"/>
              </a:rPr>
              <a:t>Важность признаков</a:t>
            </a:r>
            <a:endParaRPr sz="1600" b="1">
              <a:solidFill>
                <a:srgbClr val="F9731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333333"/>
                </a:solidFill>
              </a:rPr>
              <a:t>Несмотря на ошибки, у классического машинного обучения есть огромное преимущество: абсолютная прозрачность. Нам точно известно, на что именно смотрит алгоритм.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333333"/>
                </a:solidFill>
              </a:rPr>
              <a:t>График важности признаков показывает, что самым ценным параметром стала густота веток в средней трети ствола. Именно этот показатель позволяет легко отделить пушистые хвойные деревья от лиственных, у которых середина ствола часто голая.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333333"/>
                </a:solidFill>
              </a:rPr>
              <a:t>На втором месте оказались абсолютная высота и показатели вертикального профиля.</a:t>
            </a:r>
            <a:endParaRPr lang="en-US" sz="1600">
              <a:solidFill>
                <a:srgbClr val="333333"/>
              </a:solidFill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333333"/>
                </a:solidFill>
              </a:rPr>
              <a:t>А вот распределение кроны по ширине (средний радиус) оказалось наименее полезным. Машине важно понимать именно структуру дерева по высоте, а не просто насколько широко раскинулись ветки.</a:t>
            </a:r>
            <a:endParaRPr sz="1600">
              <a:solidFill>
                <a:srgbClr val="333333"/>
              </a:solidFill>
            </a:endParaRPr>
          </a:p>
        </p:txBody>
      </p:sp>
      <p:sp>
        <p:nvSpPr>
          <p:cNvPr id="426" name="Google Shape;426;g3e473cf74e9_121_894"/>
          <p:cNvSpPr/>
          <p:nvPr/>
        </p:nvSpPr>
        <p:spPr>
          <a:xfrm>
            <a:off x="196181" y="1158242"/>
            <a:ext cx="6280800" cy="5171435"/>
          </a:xfrm>
          <a:prstGeom prst="roundRect">
            <a:avLst>
              <a:gd name="adj" fmla="val 5000"/>
            </a:avLst>
          </a:prstGeom>
          <a:solidFill>
            <a:srgbClr val="000000">
              <a:alpha val="0"/>
            </a:srgbClr>
          </a:solidFill>
          <a:ln w="19050" cap="flat" cmpd="sng">
            <a:solidFill>
              <a:srgbClr val="FA954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" name="Google Shape;123;p2">
            <a:extLst>
              <a:ext uri="{FF2B5EF4-FFF2-40B4-BE49-F238E27FC236}">
                <a16:creationId xmlns:a16="http://schemas.microsoft.com/office/drawing/2014/main" id="{D223A4C1-0169-495F-7130-A584AC6813B3}"/>
              </a:ext>
            </a:extLst>
          </p:cNvPr>
          <p:cNvCxnSpPr/>
          <p:nvPr/>
        </p:nvCxnSpPr>
        <p:spPr>
          <a:xfrm rot="10800000">
            <a:off x="838203" y="6485308"/>
            <a:ext cx="10515600" cy="0"/>
          </a:xfrm>
          <a:prstGeom prst="straightConnector1">
            <a:avLst/>
          </a:prstGeom>
          <a:noFill/>
          <a:ln w="57150" cap="flat" cmpd="sng">
            <a:solidFill>
              <a:srgbClr val="F97316"/>
            </a:solidFill>
            <a:prstDash val="solid"/>
            <a:miter lim="8000"/>
            <a:headEnd type="none" w="sm" len="sm"/>
            <a:tailEnd type="none" w="sm" len="sm"/>
          </a:ln>
        </p:spPr>
      </p:cxn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49443853-1B00-B4B2-E159-63EF855A31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306" y="1249234"/>
            <a:ext cx="6024854" cy="4986296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g3e473cf74e9_121_707"/>
          <p:cNvSpPr/>
          <p:nvPr/>
        </p:nvSpPr>
        <p:spPr>
          <a:xfrm>
            <a:off x="6537325" y="1270213"/>
            <a:ext cx="5209500" cy="4548900"/>
          </a:xfrm>
          <a:prstGeom prst="roundRect">
            <a:avLst>
              <a:gd name="adj" fmla="val 2083"/>
            </a:avLst>
          </a:prstGeom>
          <a:solidFill>
            <a:srgbClr val="EEFFF4"/>
          </a:solidFill>
          <a:ln w="9525" cap="flat" cmpd="sng">
            <a:solidFill>
              <a:srgbClr val="22C55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34" name="Google Shape;434;g3e473cf74e9_121_707"/>
          <p:cNvGrpSpPr/>
          <p:nvPr/>
        </p:nvGrpSpPr>
        <p:grpSpPr>
          <a:xfrm>
            <a:off x="0" y="381000"/>
            <a:ext cx="11239500" cy="673500"/>
            <a:chOff x="0" y="381000"/>
            <a:chExt cx="11239500" cy="673500"/>
          </a:xfrm>
        </p:grpSpPr>
        <p:sp>
          <p:nvSpPr>
            <p:cNvPr id="435" name="Google Shape;435;g3e473cf74e9_121_707"/>
            <p:cNvSpPr/>
            <p:nvPr/>
          </p:nvSpPr>
          <p:spPr>
            <a:xfrm>
              <a:off x="0" y="381000"/>
              <a:ext cx="195900" cy="673500"/>
            </a:xfrm>
            <a:prstGeom prst="rect">
              <a:avLst/>
            </a:prstGeom>
            <a:solidFill>
              <a:srgbClr val="22C55E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Google Shape;436;g3e473cf74e9_121_707"/>
            <p:cNvSpPr/>
            <p:nvPr/>
          </p:nvSpPr>
          <p:spPr>
            <a:xfrm>
              <a:off x="267836" y="381000"/>
              <a:ext cx="195900" cy="673500"/>
            </a:xfrm>
            <a:prstGeom prst="rect">
              <a:avLst/>
            </a:prstGeom>
            <a:solidFill>
              <a:srgbClr val="22C55E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g3e473cf74e9_121_707"/>
            <p:cNvSpPr/>
            <p:nvPr/>
          </p:nvSpPr>
          <p:spPr>
            <a:xfrm>
              <a:off x="535673" y="381000"/>
              <a:ext cx="195900" cy="673500"/>
            </a:xfrm>
            <a:prstGeom prst="rect">
              <a:avLst/>
            </a:prstGeom>
            <a:solidFill>
              <a:srgbClr val="22C55E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g3e473cf74e9_121_707"/>
            <p:cNvSpPr txBox="1"/>
            <p:nvPr/>
          </p:nvSpPr>
          <p:spPr>
            <a:xfrm>
              <a:off x="952500" y="381000"/>
              <a:ext cx="10287000" cy="673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200" b="1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Финальный тест моделей</a:t>
              </a:r>
              <a:endParaRPr sz="32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40" name="Google Shape;440;g3e473cf74e9_121_707"/>
          <p:cNvSpPr txBox="1">
            <a:spLocks noGrp="1"/>
          </p:cNvSpPr>
          <p:nvPr>
            <p:ph type="body" idx="1"/>
          </p:nvPr>
        </p:nvSpPr>
        <p:spPr>
          <a:xfrm>
            <a:off x="6684475" y="1178166"/>
            <a:ext cx="4915200" cy="4453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95250" tIns="95250" rIns="95250" bIns="95250" anchor="t" anchorCtr="0">
            <a:no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5803D"/>
                </a:solidFill>
                <a:latin typeface="Arial"/>
                <a:ea typeface="Arial"/>
                <a:cs typeface="Arial"/>
                <a:sym typeface="Arial"/>
              </a:rPr>
              <a:t>Матрица ошибок: PointNet++</a:t>
            </a:r>
            <a:endParaRPr sz="1600" b="1">
              <a:solidFill>
                <a:srgbClr val="15803D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333333"/>
                </a:solidFill>
              </a:rPr>
              <a:t>Матрица ошибок глубокой нейросети выглядит совершенно иначе. Темная линия правильных ответов здесь гораздо плотнее, а путаница между породами практически исчезла.</a:t>
            </a:r>
            <a:endParaRPr sz="1600">
              <a:solidFill>
                <a:srgbClr val="333333"/>
              </a:solidFill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333333"/>
                </a:solidFill>
              </a:rPr>
              <a:t>PointNet++ продемонстрировал впечатляющую стабильность. Нейросеть успешно разделила все хвойные породы, не допуская путаницы между елью, пихтой и сосной.Она сфокусировалась на истинной трехмерной структуре веток, а не на простых габаритах кроны.</a:t>
            </a:r>
            <a:endParaRPr sz="1600">
              <a:solidFill>
                <a:srgbClr val="333333"/>
              </a:solidFill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333333"/>
                </a:solidFill>
              </a:rPr>
              <a:t>Ошибки остались только в самых сложных биологических случаях, когда сеть изредка путает березу с осиной. Однако даже в этой трудной ситуации общее количество промахов оказалось в разы меньше, чем у математической модели.</a:t>
            </a:r>
            <a:endParaRPr sz="1600">
              <a:solidFill>
                <a:srgbClr val="333333"/>
              </a:solidFill>
            </a:endParaRPr>
          </a:p>
        </p:txBody>
      </p:sp>
      <p:sp>
        <p:nvSpPr>
          <p:cNvPr id="441" name="Google Shape;441;g3e473cf74e9_121_707"/>
          <p:cNvSpPr/>
          <p:nvPr/>
        </p:nvSpPr>
        <p:spPr>
          <a:xfrm>
            <a:off x="456675" y="1543000"/>
            <a:ext cx="5876100" cy="4140300"/>
          </a:xfrm>
          <a:prstGeom prst="roundRect">
            <a:avLst>
              <a:gd name="adj" fmla="val 5134"/>
            </a:avLst>
          </a:prstGeom>
          <a:solidFill>
            <a:srgbClr val="FFFFFF"/>
          </a:solidFill>
          <a:ln w="19050" cap="flat" cmpd="sng">
            <a:solidFill>
              <a:srgbClr val="22C55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42" name="Google Shape;442;g3e473cf74e9_121_70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99575" y="1661401"/>
            <a:ext cx="5627475" cy="3877554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cxnSp>
        <p:nvCxnSpPr>
          <p:cNvPr id="2" name="Google Shape;123;p2">
            <a:extLst>
              <a:ext uri="{FF2B5EF4-FFF2-40B4-BE49-F238E27FC236}">
                <a16:creationId xmlns:a16="http://schemas.microsoft.com/office/drawing/2014/main" id="{ED87AA31-C926-5590-666B-4E4372133E10}"/>
              </a:ext>
            </a:extLst>
          </p:cNvPr>
          <p:cNvCxnSpPr/>
          <p:nvPr/>
        </p:nvCxnSpPr>
        <p:spPr>
          <a:xfrm rot="10800000">
            <a:off x="838203" y="6485308"/>
            <a:ext cx="10515600" cy="0"/>
          </a:xfrm>
          <a:prstGeom prst="straightConnector1">
            <a:avLst/>
          </a:prstGeom>
          <a:noFill/>
          <a:ln w="57150" cap="flat" cmpd="sng">
            <a:solidFill>
              <a:srgbClr val="22C55E"/>
            </a:solidFill>
            <a:prstDash val="solid"/>
            <a:miter lim="8000"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Google Shape;447;g3e473cf74e9_121_936"/>
          <p:cNvSpPr txBox="1">
            <a:spLocks noGrp="1"/>
          </p:cNvSpPr>
          <p:nvPr>
            <p:ph type="title"/>
          </p:nvPr>
        </p:nvSpPr>
        <p:spPr>
          <a:xfrm>
            <a:off x="952500" y="381000"/>
            <a:ext cx="10515600" cy="673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latin typeface="Arial"/>
                <a:ea typeface="Arial"/>
                <a:cs typeface="Arial"/>
                <a:sym typeface="Arial"/>
              </a:rPr>
              <a:t>Финальный тест моделей</a:t>
            </a:r>
            <a:endParaRPr sz="32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48" name="Google Shape;448;g3e473cf74e9_121_936"/>
          <p:cNvGrpSpPr/>
          <p:nvPr/>
        </p:nvGrpSpPr>
        <p:grpSpPr>
          <a:xfrm>
            <a:off x="0" y="381000"/>
            <a:ext cx="731573" cy="673500"/>
            <a:chOff x="0" y="381000"/>
            <a:chExt cx="731573" cy="673500"/>
          </a:xfrm>
        </p:grpSpPr>
        <p:sp>
          <p:nvSpPr>
            <p:cNvPr id="449" name="Google Shape;449;g3e473cf74e9_121_936"/>
            <p:cNvSpPr/>
            <p:nvPr/>
          </p:nvSpPr>
          <p:spPr>
            <a:xfrm>
              <a:off x="0" y="381000"/>
              <a:ext cx="195900" cy="673500"/>
            </a:xfrm>
            <a:prstGeom prst="rect">
              <a:avLst/>
            </a:prstGeom>
            <a:solidFill>
              <a:srgbClr val="0F9ED5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g3e473cf74e9_121_936"/>
            <p:cNvSpPr/>
            <p:nvPr/>
          </p:nvSpPr>
          <p:spPr>
            <a:xfrm>
              <a:off x="267836" y="381000"/>
              <a:ext cx="195900" cy="673500"/>
            </a:xfrm>
            <a:prstGeom prst="rect">
              <a:avLst/>
            </a:prstGeom>
            <a:solidFill>
              <a:srgbClr val="0F9ED5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Google Shape;451;g3e473cf74e9_121_936"/>
            <p:cNvSpPr/>
            <p:nvPr/>
          </p:nvSpPr>
          <p:spPr>
            <a:xfrm>
              <a:off x="535673" y="381000"/>
              <a:ext cx="195900" cy="673500"/>
            </a:xfrm>
            <a:prstGeom prst="rect">
              <a:avLst/>
            </a:prstGeom>
            <a:solidFill>
              <a:srgbClr val="0F9ED5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52" name="Google Shape;452;g3e473cf74e9_121_936"/>
          <p:cNvSpPr/>
          <p:nvPr/>
        </p:nvSpPr>
        <p:spPr>
          <a:xfrm>
            <a:off x="350575" y="1333500"/>
            <a:ext cx="5677500" cy="4880700"/>
          </a:xfrm>
          <a:prstGeom prst="roundRect">
            <a:avLst>
              <a:gd name="adj" fmla="val 2631"/>
            </a:avLst>
          </a:prstGeom>
          <a:solidFill>
            <a:srgbClr val="F8FAFC"/>
          </a:solidFill>
          <a:ln w="9525" cap="flat" cmpd="sng">
            <a:solidFill>
              <a:srgbClr val="0F9ED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53" name="Google Shape;453;g3e473cf74e9_121_936"/>
          <p:cNvCxnSpPr/>
          <p:nvPr/>
        </p:nvCxnSpPr>
        <p:spPr>
          <a:xfrm rot="10800000">
            <a:off x="838203" y="6485308"/>
            <a:ext cx="10515600" cy="0"/>
          </a:xfrm>
          <a:prstGeom prst="straightConnector1">
            <a:avLst/>
          </a:prstGeom>
          <a:noFill/>
          <a:ln w="57150" cap="flat" cmpd="sng">
            <a:solidFill>
              <a:srgbClr val="0F9ED5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454" name="Google Shape;454;g3e473cf74e9_121_936"/>
          <p:cNvSpPr/>
          <p:nvPr/>
        </p:nvSpPr>
        <p:spPr>
          <a:xfrm>
            <a:off x="6164950" y="2037350"/>
            <a:ext cx="5834100" cy="3424200"/>
          </a:xfrm>
          <a:prstGeom prst="roundRect">
            <a:avLst>
              <a:gd name="adj" fmla="val 2083"/>
            </a:avLst>
          </a:prstGeom>
          <a:solidFill>
            <a:srgbClr val="000000">
              <a:alpha val="0"/>
            </a:srgbClr>
          </a:solidFill>
          <a:ln w="9525" cap="flat" cmpd="sng">
            <a:solidFill>
              <a:srgbClr val="0F9ED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5" name="Google Shape;455;g3e473cf74e9_121_936"/>
          <p:cNvSpPr txBox="1"/>
          <p:nvPr/>
        </p:nvSpPr>
        <p:spPr>
          <a:xfrm>
            <a:off x="457100" y="1467350"/>
            <a:ext cx="5620500" cy="4564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90475" tIns="90475" rIns="90475" bIns="9047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0F9ED5"/>
                </a:solidFill>
                <a:latin typeface="Arial"/>
                <a:ea typeface="Arial"/>
                <a:cs typeface="Arial"/>
                <a:sym typeface="Arial"/>
              </a:rPr>
              <a:t>Итоговое сравнение</a:t>
            </a:r>
            <a:endParaRPr sz="1480">
              <a:solidFill>
                <a:srgbClr val="333333"/>
              </a:solidFill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333333"/>
                </a:solidFill>
              </a:rPr>
              <a:t>Финальная диаграмма подводит объективный итог нашего масштабного тестирования со случайным вращением деревьев. На ней наглядно видно превосходство глубокого обучения по всем ключевым параметрам.</a:t>
            </a: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333333"/>
                </a:solidFill>
              </a:rPr>
              <a:t>Несмотря на то, что классический метод показал очень достойный результат (около 90%), общая точность нейросети PointNet++ уверенно превысила 92%.</a:t>
            </a:r>
          </a:p>
          <a:p>
            <a:pPr lvl="0">
              <a:spcBef>
                <a:spcPts val="900"/>
              </a:spcBef>
            </a:pPr>
            <a:r>
              <a:rPr lang="ru-RU" sz="1600">
                <a:solidFill>
                  <a:srgbClr val="333333"/>
                </a:solidFill>
              </a:rPr>
              <a:t>Особенно важен итоговый показатель качества – F-мера, который учитывает баланс всех возможных ошибок. Нейросеть опережает классическую модель почти на три процента. Это доказывает: способность алгоритма глубокого обучения самостоятельно находить сложные геометрические узоры веток работает стабильнее и точнее, чем жесткие математические формулы.</a:t>
            </a:r>
            <a:endParaRPr sz="1600" b="0" i="0">
              <a:solidFill>
                <a:srgbClr val="33333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F29216B-5B81-CA70-D8E9-F83BDF0B41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300" y="2129058"/>
            <a:ext cx="5725612" cy="3083022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Google Shape;461;g3e473cf74e9_162_3"/>
          <p:cNvSpPr txBox="1">
            <a:spLocks noGrp="1"/>
          </p:cNvSpPr>
          <p:nvPr>
            <p:ph type="title"/>
          </p:nvPr>
        </p:nvSpPr>
        <p:spPr>
          <a:xfrm>
            <a:off x="952500" y="381000"/>
            <a:ext cx="10515600" cy="673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latin typeface="Arial"/>
                <a:ea typeface="Arial"/>
                <a:cs typeface="Arial"/>
                <a:sym typeface="Arial"/>
              </a:rPr>
              <a:t>Заключение</a:t>
            </a:r>
            <a:endParaRPr sz="32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62" name="Google Shape;462;g3e473cf74e9_162_3"/>
          <p:cNvGrpSpPr/>
          <p:nvPr/>
        </p:nvGrpSpPr>
        <p:grpSpPr>
          <a:xfrm>
            <a:off x="0" y="381000"/>
            <a:ext cx="731573" cy="673500"/>
            <a:chOff x="0" y="381000"/>
            <a:chExt cx="731573" cy="673500"/>
          </a:xfrm>
        </p:grpSpPr>
        <p:sp>
          <p:nvSpPr>
            <p:cNvPr id="463" name="Google Shape;463;g3e473cf74e9_162_3"/>
            <p:cNvSpPr/>
            <p:nvPr/>
          </p:nvSpPr>
          <p:spPr>
            <a:xfrm>
              <a:off x="0" y="381000"/>
              <a:ext cx="195900" cy="673500"/>
            </a:xfrm>
            <a:prstGeom prst="rect">
              <a:avLst/>
            </a:prstGeom>
            <a:solidFill>
              <a:srgbClr val="0F9ED5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Google Shape;464;g3e473cf74e9_162_3"/>
            <p:cNvSpPr/>
            <p:nvPr/>
          </p:nvSpPr>
          <p:spPr>
            <a:xfrm>
              <a:off x="267836" y="381000"/>
              <a:ext cx="195900" cy="673500"/>
            </a:xfrm>
            <a:prstGeom prst="rect">
              <a:avLst/>
            </a:prstGeom>
            <a:solidFill>
              <a:srgbClr val="0F9ED5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Google Shape;465;g3e473cf74e9_162_3"/>
            <p:cNvSpPr/>
            <p:nvPr/>
          </p:nvSpPr>
          <p:spPr>
            <a:xfrm>
              <a:off x="535673" y="381000"/>
              <a:ext cx="195900" cy="673500"/>
            </a:xfrm>
            <a:prstGeom prst="rect">
              <a:avLst/>
            </a:prstGeom>
            <a:solidFill>
              <a:srgbClr val="0F9ED5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66" name="Google Shape;466;g3e473cf74e9_162_3"/>
          <p:cNvSpPr/>
          <p:nvPr/>
        </p:nvSpPr>
        <p:spPr>
          <a:xfrm>
            <a:off x="838075" y="1333500"/>
            <a:ext cx="10515600" cy="3807458"/>
          </a:xfrm>
          <a:prstGeom prst="roundRect">
            <a:avLst>
              <a:gd name="adj" fmla="val 2631"/>
            </a:avLst>
          </a:prstGeom>
          <a:solidFill>
            <a:srgbClr val="F8FAFC"/>
          </a:solidFill>
          <a:ln w="9525" cap="flat" cmpd="sng">
            <a:solidFill>
              <a:srgbClr val="0F9ED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67" name="Google Shape;467;g3e473cf74e9_162_3"/>
          <p:cNvCxnSpPr/>
          <p:nvPr/>
        </p:nvCxnSpPr>
        <p:spPr>
          <a:xfrm rot="10800000">
            <a:off x="838203" y="6485308"/>
            <a:ext cx="10515600" cy="0"/>
          </a:xfrm>
          <a:prstGeom prst="straightConnector1">
            <a:avLst/>
          </a:prstGeom>
          <a:noFill/>
          <a:ln w="57150" cap="flat" cmpd="sng">
            <a:solidFill>
              <a:srgbClr val="0F9ED5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468" name="Google Shape;468;g3e473cf74e9_162_3"/>
          <p:cNvSpPr txBox="1"/>
          <p:nvPr/>
        </p:nvSpPr>
        <p:spPr>
          <a:xfrm>
            <a:off x="1094350" y="1507950"/>
            <a:ext cx="9911700" cy="363301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90475" tIns="90475" rIns="90475" bIns="9047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0F9ED5"/>
                </a:solidFill>
                <a:latin typeface="Arial"/>
                <a:ea typeface="Arial"/>
                <a:cs typeface="Arial"/>
                <a:sym typeface="Arial"/>
              </a:rPr>
              <a:t>Итоговый вывод</a:t>
            </a:r>
            <a:endParaRPr sz="1600" b="1">
              <a:solidFill>
                <a:srgbClr val="0F9ED5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ru-RU" sz="1580">
                <a:solidFill>
                  <a:srgbClr val="333333"/>
                </a:solidFill>
              </a:rPr>
              <a:t>Исследование на практике доказало, что классические методы машинного обучения достигли своего предела в задачах сложного пространственного анализа. Ручное конструирование математических признаков хорошо работает в базовых сценариях, но неизбежно дает сбои при столкновении с похожими по форме деревьями в реалистичных условиях леса.</a:t>
            </a: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ru-RU" sz="1580">
                <a:solidFill>
                  <a:srgbClr val="333333"/>
                </a:solidFill>
              </a:rPr>
              <a:t>Архитектура PointNet++ оказалась наиболее точным и надежным инструментом. Способность алгоритма самостоятельно находить скрытые узоры ветвей прямо в «сыром» массиве точек делает модель абсолютно устойчивой к пространственным искажениям и погрешностям сканирования.</a:t>
            </a: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ru-RU" sz="1580">
                <a:solidFill>
                  <a:srgbClr val="333333"/>
                </a:solidFill>
              </a:rPr>
              <a:t>В перспективе разработанный подход можно масштабировать. Если объединить текущую модель с алгоритмами сегментации, которые будут автоматически «вырезать» границы отдельных крон из сплошного леса, мы получим полностью автономную систему для оперативной инвентаризации лесных ресурсов.</a:t>
            </a:r>
            <a:endParaRPr sz="1580">
              <a:solidFill>
                <a:srgbClr val="333333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151</TotalTime>
  <Words>2388</Words>
  <Application>Microsoft Office PowerPoint</Application>
  <PresentationFormat>Широкоэкранный</PresentationFormat>
  <Paragraphs>154</Paragraphs>
  <Slides>22</Slides>
  <Notes>22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22</vt:i4>
      </vt:variant>
    </vt:vector>
  </HeadingPairs>
  <TitlesOfParts>
    <vt:vector size="27" baseType="lpstr">
      <vt:lpstr>Times New Roman</vt:lpstr>
      <vt:lpstr>Cambria Math</vt:lpstr>
      <vt:lpstr>Play</vt:lpstr>
      <vt:lpstr>Arial</vt:lpstr>
      <vt:lpstr>Тема Office</vt:lpstr>
      <vt:lpstr>КЛАССИФИКАЦИЯ ВИДОВ ДЕРЕВЬЕВ НА ОСНОВЕ МАССИВОВ ТОЧЕК LiDAR С ПРИМЕНЕНИЕМ НЕЙРОННЫХ СЕТЕЙ</vt:lpstr>
      <vt:lpstr>Презентация PowerPoint</vt:lpstr>
      <vt:lpstr>Презентация PowerPoint</vt:lpstr>
      <vt:lpstr>Задачи исследования</vt:lpstr>
      <vt:lpstr>Презентация PowerPoint</vt:lpstr>
      <vt:lpstr>Методы классификации 3D-данных LiDAR</vt:lpstr>
      <vt:lpstr>Презентация PowerPoint</vt:lpstr>
      <vt:lpstr>Презентация PowerPoint</vt:lpstr>
      <vt:lpstr>Исходные данные и их недостатки</vt:lpstr>
      <vt:lpstr>Исходные данные и их недостатки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Финальный тест моделей</vt:lpstr>
      <vt:lpstr>Презентация PowerPoint</vt:lpstr>
      <vt:lpstr>Презентация PowerPoint</vt:lpstr>
      <vt:lpstr>Презентация PowerPoint</vt:lpstr>
      <vt:lpstr>Финальный тест моделей</vt:lpstr>
      <vt:lpstr>Заключение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Илья Гречихин</dc:creator>
  <cp:lastModifiedBy>Илья Гречихин</cp:lastModifiedBy>
  <cp:revision>9</cp:revision>
  <dcterms:created xsi:type="dcterms:W3CDTF">2026-05-24T08:32:09Z</dcterms:created>
  <dcterms:modified xsi:type="dcterms:W3CDTF">2026-06-13T10:29:35Z</dcterms:modified>
</cp:coreProperties>
</file>