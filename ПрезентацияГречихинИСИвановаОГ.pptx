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Play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gwglLulpscBVUNgw7ymZQzP5eb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7316"/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7d2992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e47d2992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8b1442e0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8b1442e01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8b1442e01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8b1442e01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473cf74e9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473cf74e9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473cf74e9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473cf74e9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473cf74e9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473cf74e9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473cf74e9_76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473cf74e9_76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473cf74e9_76_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473cf74e9_76_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473cf74e9_121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e473cf74e9_121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473cf74e9_121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473cf74e9_121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473cf74e9_121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e473cf74e9_121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473cf74e9_121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3e473cf74e9_121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473cf74e9_121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3e473cf74e9_121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473cf74e9_121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e473cf74e9_121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473cf74e9_16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e473cf74e9_16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>
                <a:solidFill>
                  <a:srgbClr val="767676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9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body" idx="2"/>
          </p:nvPr>
        </p:nvSpPr>
        <p:spPr>
          <a:xfrm>
            <a:off x="6172200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839784" y="2505071"/>
            <a:ext cx="5157782" cy="36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4"/>
          </p:nvPr>
        </p:nvSpPr>
        <p:spPr>
          <a:xfrm>
            <a:off x="6172200" y="2505071"/>
            <a:ext cx="5183184" cy="36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1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>
            <a:spLocks noGrp="1"/>
          </p:cNvSpPr>
          <p:nvPr>
            <p:ph type="pic" idx="2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1"/>
          </p:nvPr>
        </p:nvSpPr>
        <p:spPr>
          <a:xfrm rot="5400000">
            <a:off x="3920335" y="-1256505"/>
            <a:ext cx="4351336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>
            <a:spLocks noGrp="1"/>
          </p:cNvSpPr>
          <p:nvPr>
            <p:ph type="title"/>
          </p:nvPr>
        </p:nvSpPr>
        <p:spPr>
          <a:xfrm rot="5400000">
            <a:off x="7133436" y="1956596"/>
            <a:ext cx="5811834" cy="262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body" idx="1"/>
          </p:nvPr>
        </p:nvSpPr>
        <p:spPr>
          <a:xfrm rot="5400000">
            <a:off x="1799434" y="-596102"/>
            <a:ext cx="5811834" cy="773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sz="4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"/>
          <p:cNvGrpSpPr/>
          <p:nvPr/>
        </p:nvGrpSpPr>
        <p:grpSpPr>
          <a:xfrm>
            <a:off x="710375" y="2762100"/>
            <a:ext cx="1905000" cy="285900"/>
            <a:chOff x="762000" y="4191000"/>
            <a:chExt cx="1905000" cy="285900"/>
          </a:xfrm>
        </p:grpSpPr>
        <p:sp>
          <p:nvSpPr>
            <p:cNvPr id="86" name="Google Shape;86;p1"/>
            <p:cNvSpPr/>
            <p:nvPr/>
          </p:nvSpPr>
          <p:spPr>
            <a:xfrm>
              <a:off x="762000" y="4191000"/>
              <a:ext cx="1905000" cy="954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762000" y="4381500"/>
              <a:ext cx="952500" cy="954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6000905" y="2859891"/>
            <a:ext cx="5673366" cy="3448517"/>
            <a:chOff x="6477000" y="3048000"/>
            <a:chExt cx="4857750" cy="2952750"/>
          </a:xfrm>
        </p:grpSpPr>
        <p:pic>
          <p:nvPicPr>
            <p:cNvPr id="89" name="Google Shape;89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477000" y="3048000"/>
              <a:ext cx="4762500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"/>
            <p:cNvSpPr/>
            <p:nvPr/>
          </p:nvSpPr>
          <p:spPr>
            <a:xfrm>
              <a:off x="6572250" y="3143250"/>
              <a:ext cx="4762500" cy="2857500"/>
            </a:xfrm>
            <a:prstGeom prst="roundRect">
              <a:avLst>
                <a:gd name="adj" fmla="val 16666"/>
              </a:avLst>
            </a:prstGeom>
            <a:solidFill>
              <a:srgbClr val="000000">
                <a:alpha val="0"/>
              </a:srgbClr>
            </a:solidFill>
            <a:ln w="2225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710375" y="190500"/>
            <a:ext cx="81783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КЛАССИФИКАЦИЯ ВИДОВ ДЕРЕВЬЕВ НА ОСНОВЕ МАССИВОВ ТОЧЕК LiDAR С ПРИМЕНЕНИЕМ НЕЙРОННЫХ СЕТЕЙ</a:t>
            </a:r>
            <a:endParaRPr sz="4200" b="1" i="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subTitle" idx="1"/>
          </p:nvPr>
        </p:nvSpPr>
        <p:spPr>
          <a:xfrm>
            <a:off x="762000" y="5057925"/>
            <a:ext cx="52389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Студенты группы Б9123-02.03.01сцт:</a:t>
            </a:r>
            <a:endParaRPr sz="1600" b="1" i="0">
              <a:solidFill>
                <a:srgbClr val="15608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Гречихин Илья Сергеевич</a:t>
            </a:r>
            <a:endParaRPr sz="16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Иванова Ольга Геннадьевна</a:t>
            </a:r>
            <a:endParaRPr sz="16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Руководитель: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Амосова Е. В.</a:t>
            </a:r>
            <a:endParaRPr sz="16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г. Владивосток, 2026 г.</a:t>
            </a:r>
            <a:endParaRPr sz="1400" b="0" i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g3e47d299208_0_0"/>
          <p:cNvGrpSpPr/>
          <p:nvPr/>
        </p:nvGrpSpPr>
        <p:grpSpPr>
          <a:xfrm>
            <a:off x="640075" y="192419"/>
            <a:ext cx="10909625" cy="1334483"/>
            <a:chOff x="640080" y="90268"/>
            <a:chExt cx="10909625" cy="1814882"/>
          </a:xfrm>
        </p:grpSpPr>
        <p:sp>
          <p:nvSpPr>
            <p:cNvPr id="98" name="Google Shape;98;g3e47d299208_0_0"/>
            <p:cNvSpPr/>
            <p:nvPr/>
          </p:nvSpPr>
          <p:spPr>
            <a:xfrm>
              <a:off x="640080" y="476250"/>
              <a:ext cx="10907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/>
            </a:p>
          </p:txBody>
        </p:sp>
        <p:sp>
          <p:nvSpPr>
            <p:cNvPr id="99" name="Google Shape;99;g3e47d299208_0_0"/>
            <p:cNvSpPr txBox="1"/>
            <p:nvPr/>
          </p:nvSpPr>
          <p:spPr>
            <a:xfrm>
              <a:off x="642305" y="90268"/>
              <a:ext cx="10907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200" b="1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Цель и актуальность исследования</a:t>
              </a:r>
              <a:endParaRPr sz="3200" b="1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00" name="Google Shape;100;g3e47d299208_0_0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101" name="Google Shape;101;g3e47d299208_0_0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g3e47d299208_0_0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g3e47d299208_0_0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4" name="Google Shape;104;g3e47d299208_0_0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5" name="Google Shape;105;g3e47d299208_0_0"/>
          <p:cNvSpPr/>
          <p:nvPr/>
        </p:nvSpPr>
        <p:spPr>
          <a:xfrm>
            <a:off x="4949700" y="1995250"/>
            <a:ext cx="6404100" cy="3373500"/>
          </a:xfrm>
          <a:prstGeom prst="roundRect">
            <a:avLst>
              <a:gd name="adj" fmla="val 2631"/>
            </a:avLst>
          </a:prstGeom>
          <a:solidFill>
            <a:srgbClr val="F8FAFC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e47d299208_0_0"/>
          <p:cNvSpPr txBox="1"/>
          <p:nvPr/>
        </p:nvSpPr>
        <p:spPr>
          <a:xfrm>
            <a:off x="5056050" y="2271900"/>
            <a:ext cx="6191400" cy="30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Цель исследования:</a:t>
            </a:r>
            <a:r>
              <a:rPr lang="en-US" sz="1600"/>
              <a:t> адаптация и обучение алгоритмов машинного и глубокого обучения для автоматической классификации видов деревьев на основе трехмерных облаков точек лазерного сканирования.</a:t>
            </a:r>
            <a:endParaRPr sz="1600"/>
          </a:p>
          <a:p>
            <a:pPr marL="0" lvl="0" indent="0" algn="l" rt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600" b="1"/>
              <a:t>Актуальность исследования:</a:t>
            </a:r>
            <a:r>
              <a:rPr lang="en-US" sz="1600"/>
              <a:t> Мониторинг обширных и труднодоступных лесов – сложная, но важная задача. Традиционная наземная оценка лесов требует слишком много времени и человеческих ресурсов. Съемка с обычных камер или спутников также имеет ограничения: она показывает только верхнюю часть крон и не всегда позволяет точно определить породу дерева.</a:t>
            </a:r>
            <a:endParaRPr sz="1600"/>
          </a:p>
        </p:txBody>
      </p:sp>
      <p:grpSp>
        <p:nvGrpSpPr>
          <p:cNvPr id="107" name="Google Shape;107;g3e47d299208_0_0"/>
          <p:cNvGrpSpPr/>
          <p:nvPr/>
        </p:nvGrpSpPr>
        <p:grpSpPr>
          <a:xfrm>
            <a:off x="430481" y="2199380"/>
            <a:ext cx="4362168" cy="2940380"/>
            <a:chOff x="7162800" y="2176655"/>
            <a:chExt cx="4362168" cy="2940380"/>
          </a:xfrm>
        </p:grpSpPr>
        <p:pic>
          <p:nvPicPr>
            <p:cNvPr id="108" name="Google Shape;108;g3e47d299208_0_0"/>
            <p:cNvPicPr preferRelativeResize="0"/>
            <p:nvPr/>
          </p:nvPicPr>
          <p:blipFill rotWithShape="1">
            <a:blip r:embed="rId4">
              <a:alphaModFix/>
            </a:blip>
            <a:srcRect l="7813" r="7813"/>
            <a:stretch/>
          </p:blipFill>
          <p:spPr>
            <a:xfrm>
              <a:off x="7162800" y="2176655"/>
              <a:ext cx="4286400" cy="2857500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</p:pic>
        <p:sp>
          <p:nvSpPr>
            <p:cNvPr id="109" name="Google Shape;109;g3e47d299208_0_0"/>
            <p:cNvSpPr/>
            <p:nvPr/>
          </p:nvSpPr>
          <p:spPr>
            <a:xfrm>
              <a:off x="7238568" y="2259535"/>
              <a:ext cx="4286400" cy="28575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>
            <a:off x="640075" y="2036625"/>
            <a:ext cx="6404100" cy="3373500"/>
          </a:xfrm>
          <a:prstGeom prst="roundRect">
            <a:avLst>
              <a:gd name="adj" fmla="val 2631"/>
            </a:avLst>
          </a:prstGeom>
          <a:solidFill>
            <a:srgbClr val="F8FAFC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640075" y="192419"/>
            <a:ext cx="10909625" cy="1334483"/>
            <a:chOff x="640080" y="90268"/>
            <a:chExt cx="10909625" cy="1814882"/>
          </a:xfrm>
        </p:grpSpPr>
        <p:sp>
          <p:nvSpPr>
            <p:cNvPr id="116" name="Google Shape;116;p2"/>
            <p:cNvSpPr/>
            <p:nvPr/>
          </p:nvSpPr>
          <p:spPr>
            <a:xfrm>
              <a:off x="640080" y="476250"/>
              <a:ext cx="10907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642305" y="90268"/>
              <a:ext cx="10907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latin typeface="Play"/>
                  <a:ea typeface="Play"/>
                  <a:cs typeface="Play"/>
                  <a:sym typeface="Play"/>
                </a:rPr>
                <a:t>Цель и актуальность исследования</a:t>
              </a:r>
              <a:endParaRPr sz="3200" b="1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18" name="Google Shape;118;p2"/>
          <p:cNvSpPr txBox="1"/>
          <p:nvPr/>
        </p:nvSpPr>
        <p:spPr>
          <a:xfrm>
            <a:off x="746425" y="2313275"/>
            <a:ext cx="6191400" cy="30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В связи с вышесказанным лесному хозяйству нужны новые методы. Эту проблему успешно решает технология лазерного сканирования LiDAR. Она создает детализированные трехмерные копии деревьев в виде облаков точек, которые повторяют уникальную форму стволов и ветвей.</a:t>
            </a:r>
            <a:endParaRPr sz="1600"/>
          </a:p>
          <a:p>
            <a:pPr marL="0" lvl="0" indent="0" algn="l" rt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600"/>
              <a:t>Чтобы не анализировать такие огромные массивы 3D-данных вручную, в данной работе применяются современные нейронные сети. Они позволяют автоматизировать процесс и с высокой точностью распознавать виды деревьев, что необходимо для грамотного и оперативного управления лесными ресурсами.</a:t>
            </a:r>
            <a:endParaRPr sz="1600"/>
          </a:p>
        </p:txBody>
      </p:sp>
      <p:grpSp>
        <p:nvGrpSpPr>
          <p:cNvPr id="119" name="Google Shape;119;p2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120" name="Google Shape;120;p2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3" name="Google Shape;123;p2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24" name="Google Shape;124;p2"/>
          <p:cNvGrpSpPr/>
          <p:nvPr/>
        </p:nvGrpSpPr>
        <p:grpSpPr>
          <a:xfrm>
            <a:off x="7345898" y="2189150"/>
            <a:ext cx="4378874" cy="2940250"/>
            <a:chOff x="7143750" y="2381250"/>
            <a:chExt cx="4378874" cy="2940250"/>
          </a:xfrm>
        </p:grpSpPr>
        <p:pic>
          <p:nvPicPr>
            <p:cNvPr id="125" name="Google Shape;125;p2" descr="A high-tech visualization of a 3D LiDAR point cloud scan of a dense forest in the Russian Far East, showing detailed tree structures in neon green and blue against a dark background, professional scientific aesthetic."/>
            <p:cNvPicPr preferRelativeResize="0"/>
            <p:nvPr/>
          </p:nvPicPr>
          <p:blipFill rotWithShape="1">
            <a:blip r:embed="rId4">
              <a:alphaModFix/>
            </a:blip>
            <a:srcRect t="16667" b="16667"/>
            <a:stretch/>
          </p:blipFill>
          <p:spPr>
            <a:xfrm>
              <a:off x="7143750" y="2381250"/>
              <a:ext cx="4286400" cy="2857500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</p:pic>
        <p:sp>
          <p:nvSpPr>
            <p:cNvPr id="126" name="Google Shape;126;p2"/>
            <p:cNvSpPr/>
            <p:nvPr/>
          </p:nvSpPr>
          <p:spPr>
            <a:xfrm>
              <a:off x="7236224" y="2464000"/>
              <a:ext cx="4286400" cy="28575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>
            <a:spLocks noGrp="1"/>
          </p:cNvSpPr>
          <p:nvPr>
            <p:ph type="title"/>
          </p:nvPr>
        </p:nvSpPr>
        <p:spPr>
          <a:xfrm>
            <a:off x="1031235" y="393602"/>
            <a:ext cx="9942600" cy="64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Задачи </a:t>
            </a: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32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сследования</a:t>
            </a:r>
            <a:endParaRPr sz="3200" b="1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3"/>
          <p:cNvGrpSpPr/>
          <p:nvPr/>
        </p:nvGrpSpPr>
        <p:grpSpPr>
          <a:xfrm>
            <a:off x="762000" y="1524000"/>
            <a:ext cx="10668000" cy="2286000"/>
            <a:chOff x="762000" y="1524000"/>
            <a:chExt cx="10668000" cy="2286000"/>
          </a:xfrm>
        </p:grpSpPr>
        <p:sp>
          <p:nvSpPr>
            <p:cNvPr id="133" name="Google Shape;133;p3"/>
            <p:cNvSpPr/>
            <p:nvPr/>
          </p:nvSpPr>
          <p:spPr>
            <a:xfrm>
              <a:off x="762000" y="1524000"/>
              <a:ext cx="10668000" cy="2286000"/>
            </a:xfrm>
            <a:prstGeom prst="roundRect">
              <a:avLst>
                <a:gd name="adj" fmla="val 4166"/>
              </a:avLst>
            </a:prstGeom>
            <a:solidFill>
              <a:srgbClr val="F8FAFC"/>
            </a:solidFill>
            <a:ln w="9525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952500" y="1619250"/>
              <a:ext cx="10287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Задачи:</a:t>
              </a:r>
              <a:endParaRPr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1) Подготовить размеченную выборку облаков точек отдельных деревьев для выбранных видов.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2) Адаптировать и обучить модели классификации, опирающиеся как на классическое машинное обучение, так и на глубокие нейронные сети.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3) Сравнить результаты качества категоризации у различных нейросетевых моделей и выделить наиболее подходящую.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5" name="Google Shape;135;p3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36" name="Google Shape;136;p3"/>
          <p:cNvGrpSpPr/>
          <p:nvPr/>
        </p:nvGrpSpPr>
        <p:grpSpPr>
          <a:xfrm>
            <a:off x="762000" y="4000500"/>
            <a:ext cx="5238900" cy="1333500"/>
            <a:chOff x="762000" y="4000500"/>
            <a:chExt cx="5238900" cy="1333500"/>
          </a:xfrm>
        </p:grpSpPr>
        <p:sp>
          <p:nvSpPr>
            <p:cNvPr id="137" name="Google Shape;137;p3"/>
            <p:cNvSpPr/>
            <p:nvPr/>
          </p:nvSpPr>
          <p:spPr>
            <a:xfrm>
              <a:off x="762000" y="4000500"/>
              <a:ext cx="5238900" cy="1333500"/>
            </a:xfrm>
            <a:prstGeom prst="roundRect">
              <a:avLst>
                <a:gd name="adj" fmla="val 7142"/>
              </a:avLst>
            </a:prstGeom>
            <a:solidFill>
              <a:srgbClr val="F8FAFC"/>
            </a:solidFill>
            <a:ln w="9525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952500" y="4143375"/>
              <a:ext cx="485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Объект исследования:</a:t>
              </a:r>
              <a:endParaRPr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Тр</a:t>
              </a:r>
              <a:r>
                <a:rPr lang="en-US" sz="1600">
                  <a:solidFill>
                    <a:srgbClr val="333333"/>
                  </a:solidFill>
                </a:rPr>
                <a:t>ё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хмерные массивы точек лазерного сканирования лесных массивов.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3"/>
          <p:cNvGrpSpPr/>
          <p:nvPr/>
        </p:nvGrpSpPr>
        <p:grpSpPr>
          <a:xfrm>
            <a:off x="6191250" y="4000500"/>
            <a:ext cx="5238900" cy="1333500"/>
            <a:chOff x="6191250" y="4000500"/>
            <a:chExt cx="5238900" cy="1333500"/>
          </a:xfrm>
        </p:grpSpPr>
        <p:sp>
          <p:nvSpPr>
            <p:cNvPr id="140" name="Google Shape;140;p3"/>
            <p:cNvSpPr/>
            <p:nvPr/>
          </p:nvSpPr>
          <p:spPr>
            <a:xfrm>
              <a:off x="6191250" y="4000500"/>
              <a:ext cx="5238900" cy="1333500"/>
            </a:xfrm>
            <a:prstGeom prst="roundRect">
              <a:avLst>
                <a:gd name="adj" fmla="val 7142"/>
              </a:avLst>
            </a:prstGeom>
            <a:solidFill>
              <a:srgbClr val="F8FAFC"/>
            </a:solidFill>
            <a:ln w="9525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6381750" y="4143375"/>
              <a:ext cx="485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Предмет исследования:</a:t>
              </a:r>
              <a:endParaRPr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Нейросетевые методы и архитектуры для классификации видов деревьев по трёхмерным облакам точек.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3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143" name="Google Shape;143;p3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5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151" name="Google Shape;151;p5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Особенности и ограничения LiDAR-данных</a:t>
              </a:r>
              <a:endParaRPr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5"/>
          <p:cNvGrpSpPr/>
          <p:nvPr/>
        </p:nvGrpSpPr>
        <p:grpSpPr>
          <a:xfrm>
            <a:off x="762000" y="1183806"/>
            <a:ext cx="6667500" cy="4993996"/>
            <a:chOff x="762000" y="1333500"/>
            <a:chExt cx="6667500" cy="4572000"/>
          </a:xfrm>
        </p:grpSpPr>
        <p:sp>
          <p:nvSpPr>
            <p:cNvPr id="156" name="Google Shape;156;p5"/>
            <p:cNvSpPr/>
            <p:nvPr/>
          </p:nvSpPr>
          <p:spPr>
            <a:xfrm>
              <a:off x="762000" y="1333500"/>
              <a:ext cx="6667500" cy="4572000"/>
            </a:xfrm>
            <a:prstGeom prst="roundRect">
              <a:avLst>
                <a:gd name="adj" fmla="val 2083"/>
              </a:avLst>
            </a:prstGeom>
            <a:solidFill>
              <a:srgbClr val="F8FAFC"/>
            </a:solidFill>
            <a:ln w="9525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952500" y="1524000"/>
              <a:ext cx="6286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Специфика формата LAS/LAZ</a:t>
              </a:r>
              <a:endParaRPr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Результатом сканирования является неструктурированное облако точек. Каждая точка описывается вектором атрибутов: координатами (X, Y, Z), интенсивностью, параметрами возврата и кодом классификации.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Фундаментальные ограничения:</a:t>
              </a:r>
              <a:endParaRPr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Инвариантность: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точки не имеют порядка; алгоритм должен распознавать объект независимо от последовательности данных.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Неравномерность данных и </a:t>
              </a:r>
              <a:r>
                <a:rPr lang="en-US" sz="1600" b="1">
                  <a:solidFill>
                    <a:srgbClr val="333333"/>
                  </a:solidFill>
                </a:rPr>
                <a:t>«слепые зоны»</a:t>
              </a:r>
              <a:r>
                <a:rPr lang="en-US" sz="1100">
                  <a:solidFill>
                    <a:schemeClr val="dk1"/>
                  </a:solidFill>
                </a:rPr>
                <a:t> </a:t>
              </a:r>
              <a:r>
                <a:rPr lang="en-US" sz="160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плотность падает с расстоянием, а кроны создают «слепые зоны», нарушая целостность.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Отсутствие топологии: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нет явных связей; вычисление форм требует огромных затрат без индексации.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Масштаб и шум: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гигабайтные объемы содержат ложные отражения от атмосферы и птиц.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8" name="Google Shape;158;p5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59" name="Google Shape;15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6200" y="1660075"/>
            <a:ext cx="4005150" cy="401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7561375" y="1510200"/>
            <a:ext cx="4323600" cy="4313400"/>
          </a:xfrm>
          <a:prstGeom prst="roundRect">
            <a:avLst>
              <a:gd name="adj" fmla="val 2083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6"/>
          <p:cNvCxnSpPr/>
          <p:nvPr/>
        </p:nvCxnSpPr>
        <p:spPr>
          <a:xfrm>
            <a:off x="6096000" y="1530750"/>
            <a:ext cx="0" cy="4764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6"/>
          <p:cNvCxnSpPr/>
          <p:nvPr/>
        </p:nvCxnSpPr>
        <p:spPr>
          <a:xfrm>
            <a:off x="3048000" y="2007000"/>
            <a:ext cx="60960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Google Shape;167;p6"/>
          <p:cNvCxnSpPr/>
          <p:nvPr/>
        </p:nvCxnSpPr>
        <p:spPr>
          <a:xfrm>
            <a:off x="3048000" y="2007000"/>
            <a:ext cx="0" cy="2859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Google Shape;168;p6"/>
          <p:cNvCxnSpPr/>
          <p:nvPr/>
        </p:nvCxnSpPr>
        <p:spPr>
          <a:xfrm>
            <a:off x="9144000" y="2007000"/>
            <a:ext cx="0" cy="2859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9" name="Google Shape;169;p6"/>
          <p:cNvGrpSpPr/>
          <p:nvPr/>
        </p:nvGrpSpPr>
        <p:grpSpPr>
          <a:xfrm>
            <a:off x="4191000" y="1054500"/>
            <a:ext cx="3810000" cy="476400"/>
            <a:chOff x="4191000" y="762000"/>
            <a:chExt cx="3810000" cy="476400"/>
          </a:xfrm>
        </p:grpSpPr>
        <p:sp>
          <p:nvSpPr>
            <p:cNvPr id="170" name="Google Shape;170;p6"/>
            <p:cNvSpPr/>
            <p:nvPr/>
          </p:nvSpPr>
          <p:spPr>
            <a:xfrm>
              <a:off x="4191000" y="762000"/>
              <a:ext cx="3810000" cy="476400"/>
            </a:xfrm>
            <a:prstGeom prst="roundRect">
              <a:avLst>
                <a:gd name="adj" fmla="val 20000"/>
              </a:avLst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4191000" y="76200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Сырое облако точек LiDAR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6"/>
          <p:cNvGrpSpPr/>
          <p:nvPr/>
        </p:nvGrpSpPr>
        <p:grpSpPr>
          <a:xfrm>
            <a:off x="1143000" y="2292750"/>
            <a:ext cx="3810000" cy="381000"/>
            <a:chOff x="1143000" y="2000250"/>
            <a:chExt cx="3810000" cy="381000"/>
          </a:xfrm>
        </p:grpSpPr>
        <p:sp>
          <p:nvSpPr>
            <p:cNvPr id="173" name="Google Shape;173;p6"/>
            <p:cNvSpPr/>
            <p:nvPr/>
          </p:nvSpPr>
          <p:spPr>
            <a:xfrm>
              <a:off x="1143000" y="2000250"/>
              <a:ext cx="3810000" cy="3810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9525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1143000" y="20002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Классическое машинное обучение</a:t>
              </a:r>
              <a:endParaRPr sz="14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6"/>
          <p:cNvGrpSpPr/>
          <p:nvPr/>
        </p:nvGrpSpPr>
        <p:grpSpPr>
          <a:xfrm>
            <a:off x="7239000" y="2292750"/>
            <a:ext cx="3810000" cy="381000"/>
            <a:chOff x="7239000" y="2000250"/>
            <a:chExt cx="3810000" cy="381000"/>
          </a:xfrm>
        </p:grpSpPr>
        <p:sp>
          <p:nvSpPr>
            <p:cNvPr id="176" name="Google Shape;176;p6"/>
            <p:cNvSpPr/>
            <p:nvPr/>
          </p:nvSpPr>
          <p:spPr>
            <a:xfrm>
              <a:off x="7239000" y="2000250"/>
              <a:ext cx="3810000" cy="3810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9525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7239000" y="20002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Глубокое машинное обучение</a:t>
              </a:r>
              <a:endParaRPr sz="14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6"/>
          <p:cNvGrpSpPr/>
          <p:nvPr/>
        </p:nvGrpSpPr>
        <p:grpSpPr>
          <a:xfrm>
            <a:off x="762000" y="2769051"/>
            <a:ext cx="4572000" cy="3217012"/>
            <a:chOff x="762000" y="2476500"/>
            <a:chExt cx="4572000" cy="3619500"/>
          </a:xfrm>
        </p:grpSpPr>
        <p:sp>
          <p:nvSpPr>
            <p:cNvPr id="179" name="Google Shape;179;p6"/>
            <p:cNvSpPr/>
            <p:nvPr/>
          </p:nvSpPr>
          <p:spPr>
            <a:xfrm>
              <a:off x="762000" y="2476500"/>
              <a:ext cx="4572000" cy="3619500"/>
            </a:xfrm>
            <a:prstGeom prst="roundRect">
              <a:avLst>
                <a:gd name="adj" fmla="val 2631"/>
              </a:avLst>
            </a:prstGeom>
            <a:solidFill>
              <a:srgbClr val="F8FAFC"/>
            </a:solidFill>
            <a:ln w="9525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952500" y="2619375"/>
              <a:ext cx="4191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SVM: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600">
                  <a:solidFill>
                    <a:srgbClr val="333333"/>
                  </a:solidFill>
                </a:rPr>
                <a:t>Ищет идеальную математическую границу, чтобы отделить деревья разных пород друг от друга.</a:t>
              </a:r>
              <a:endParaRPr sz="1600">
                <a:solidFill>
                  <a:srgbClr val="333333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K-NN: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Классифицирует объект на основе большинства голосов его ближайших соседей в наборе данных.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9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Random Forest:</a:t>
              </a:r>
              <a:r>
                <a:rPr lang="en-US" sz="1600">
                  <a:solidFill>
                    <a:srgbClr val="333333"/>
                  </a:solidFill>
                </a:rPr>
                <a:t> Ансамбль решающих деревьев, усредняющий прогнозы для повышения точности и стабильности.</a:t>
              </a:r>
              <a:endParaRPr sz="1600">
                <a:solidFill>
                  <a:srgbClr val="333333"/>
                </a:solidFill>
              </a:endParaRPr>
            </a:p>
          </p:txBody>
        </p:sp>
      </p:grpSp>
      <p:grpSp>
        <p:nvGrpSpPr>
          <p:cNvPr id="181" name="Google Shape;181;p6"/>
          <p:cNvGrpSpPr/>
          <p:nvPr/>
        </p:nvGrpSpPr>
        <p:grpSpPr>
          <a:xfrm>
            <a:off x="6858000" y="2769008"/>
            <a:ext cx="4572000" cy="3217012"/>
            <a:chOff x="6858000" y="2476500"/>
            <a:chExt cx="4572000" cy="3619500"/>
          </a:xfrm>
        </p:grpSpPr>
        <p:sp>
          <p:nvSpPr>
            <p:cNvPr id="182" name="Google Shape;182;p6"/>
            <p:cNvSpPr/>
            <p:nvPr/>
          </p:nvSpPr>
          <p:spPr>
            <a:xfrm>
              <a:off x="6858000" y="2476500"/>
              <a:ext cx="4572000" cy="3619500"/>
            </a:xfrm>
            <a:prstGeom prst="roundRect">
              <a:avLst>
                <a:gd name="adj" fmla="val 2631"/>
              </a:avLst>
            </a:prstGeom>
            <a:solidFill>
              <a:srgbClr val="F8FAFC"/>
            </a:solidFill>
            <a:ln w="9525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7048500" y="2619375"/>
              <a:ext cx="4191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Воксельные 3D CNN: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600">
                  <a:solidFill>
                    <a:srgbClr val="333333"/>
                  </a:solidFill>
                </a:rPr>
                <a:t>Преобразовывают 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облако в регулярную сетку </a:t>
              </a:r>
              <a:r>
                <a:rPr lang="en-US" sz="1600">
                  <a:solidFill>
                    <a:srgbClr val="333333"/>
                  </a:solidFill>
                </a:rPr>
                <a:t>вокселей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, применяя стандартные 3D-свертки.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Проекционные Multi-view CNN: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Генерируют 2D-виды объекта с разных ракурсов для анализа обычной сверткой.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9ED5"/>
                  </a:solidFill>
                  <a:latin typeface="Arial"/>
                  <a:ea typeface="Arial"/>
                  <a:cs typeface="Arial"/>
                  <a:sym typeface="Arial"/>
                </a:rPr>
                <a:t>PointNet++: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Прямая обработка сырых координат с иерархическим извлечением локальных признаков.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6"/>
          <p:cNvSpPr txBox="1">
            <a:spLocks noGrp="1"/>
          </p:cNvSpPr>
          <p:nvPr>
            <p:ph type="title"/>
          </p:nvPr>
        </p:nvSpPr>
        <p:spPr>
          <a:xfrm>
            <a:off x="762003" y="410250"/>
            <a:ext cx="10515600" cy="61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47625" tIns="47625" rIns="47625" bIns="476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Методы классификации 3D-данных LiDAR</a:t>
            </a:r>
            <a:endParaRPr sz="3200" b="1" i="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86" name="Google Shape;186;p6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187" name="Google Shape;187;p6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7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195" name="Google Shape;195;p7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Базовая модель: Алгоритм «Случайный лес»</a:t>
              </a:r>
              <a:endParaRPr sz="32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7"/>
          <p:cNvGrpSpPr/>
          <p:nvPr/>
        </p:nvGrpSpPr>
        <p:grpSpPr>
          <a:xfrm>
            <a:off x="762025" y="1333500"/>
            <a:ext cx="4978805" cy="4572000"/>
            <a:chOff x="762002" y="1333500"/>
            <a:chExt cx="5388900" cy="4572000"/>
          </a:xfrm>
        </p:grpSpPr>
        <p:sp>
          <p:nvSpPr>
            <p:cNvPr id="200" name="Google Shape;200;p7"/>
            <p:cNvSpPr/>
            <p:nvPr/>
          </p:nvSpPr>
          <p:spPr>
            <a:xfrm>
              <a:off x="762002" y="1333500"/>
              <a:ext cx="5388900" cy="4572000"/>
            </a:xfrm>
            <a:prstGeom prst="roundRect">
              <a:avLst>
                <a:gd name="adj" fmla="val 2083"/>
              </a:avLst>
            </a:prstGeom>
            <a:solidFill>
              <a:srgbClr val="FFF9F2"/>
            </a:solidFill>
            <a:ln w="9525" cap="flat" cmpd="sng">
              <a:solidFill>
                <a:srgbClr val="F973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7"/>
            <p:cNvSpPr txBox="1"/>
            <p:nvPr/>
          </p:nvSpPr>
          <p:spPr>
            <a:xfrm>
              <a:off x="952499" y="1524000"/>
              <a:ext cx="5064000" cy="4191000"/>
            </a:xfrm>
            <a:prstGeom prst="rect">
              <a:avLst/>
            </a:prstGeom>
            <a:solidFill>
              <a:srgbClr val="FFF9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>
                  <a:solidFill>
                    <a:srgbClr val="F97316"/>
                  </a:solidFill>
                  <a:latin typeface="Arial"/>
                  <a:ea typeface="Arial"/>
                  <a:cs typeface="Arial"/>
                  <a:sym typeface="Arial"/>
                </a:rPr>
                <a:t>Принцип работы Random Forest</a:t>
              </a:r>
              <a:endParaRPr sz="1600" b="1" i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В качестве базовой модели </a:t>
              </a:r>
              <a:r>
                <a:rPr lang="en-US" sz="1600">
                  <a:solidFill>
                    <a:srgbClr val="333333"/>
                  </a:solidFill>
                </a:rPr>
                <a:t>был</a:t>
              </a: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выбра</a:t>
              </a:r>
              <a:r>
                <a:rPr lang="en-US" sz="1600">
                  <a:solidFill>
                    <a:srgbClr val="333333"/>
                  </a:solidFill>
                </a:rPr>
                <a:t>н</a:t>
              </a: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алгоритм «Случайный лес» (Random Forest). Это классический и очень надежный метод.</a:t>
              </a:r>
              <a:endParaRPr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Суть заключается в создании </a:t>
              </a:r>
              <a:r>
                <a:rPr lang="en-US" sz="1600">
                  <a:solidFill>
                    <a:srgbClr val="333333"/>
                  </a:solidFill>
                </a:rPr>
                <a:t>«комитета»</a:t>
              </a: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из сотен независимых решающих деревьев. Алгоритм ищет оптимальные правила на основе входных параметров.</a:t>
              </a:r>
              <a:endParaRPr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Голосование: финальный ответ принимается большинством голосов всех деревьев.</a:t>
              </a:r>
              <a:endParaRPr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Прозрачность: метод быстрый и легко интерпретируемый.</a:t>
              </a:r>
              <a:endParaRPr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Пример: </a:t>
              </a:r>
              <a:r>
                <a:rPr lang="en-US" sz="1600">
                  <a:solidFill>
                    <a:srgbClr val="333333"/>
                  </a:solidFill>
                </a:rPr>
                <a:t>«</a:t>
              </a: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Если высота &gt; 15м и ветки внизу </a:t>
              </a:r>
              <a:r>
                <a:rPr lang="en-US" sz="1600">
                  <a:solidFill>
                    <a:srgbClr val="333333"/>
                  </a:solidFill>
                </a:rPr>
                <a:t>–</a:t>
              </a: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это ель</a:t>
              </a:r>
              <a:r>
                <a:rPr lang="en-US" sz="1600">
                  <a:solidFill>
                    <a:srgbClr val="333333"/>
                  </a:solidFill>
                </a:rPr>
                <a:t>»</a:t>
              </a:r>
              <a:r>
                <a:rPr lang="en-US" sz="1600" b="0" i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p7"/>
          <p:cNvSpPr/>
          <p:nvPr/>
        </p:nvSpPr>
        <p:spPr>
          <a:xfrm>
            <a:off x="5938900" y="1820525"/>
            <a:ext cx="5876100" cy="339270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2725" y="2021325"/>
            <a:ext cx="5588750" cy="292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D4A0A003-1056-3EE4-13D1-E67302365671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F97316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g3a8b1442e01_0_602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210" name="Google Shape;210;g3a8b1442e01_0_602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g3a8b1442e01_0_602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g3a8b1442e01_0_602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g3a8b1442e01_0_602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Глубокая нейронная сеть PointNet++</a:t>
              </a:r>
              <a:endPara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g3a8b1442e01_0_602"/>
          <p:cNvGrpSpPr/>
          <p:nvPr/>
        </p:nvGrpSpPr>
        <p:grpSpPr>
          <a:xfrm>
            <a:off x="5966823" y="1694684"/>
            <a:ext cx="6160200" cy="4159464"/>
            <a:chOff x="-2661052" y="1333500"/>
            <a:chExt cx="6160200" cy="4572000"/>
          </a:xfrm>
        </p:grpSpPr>
        <p:sp>
          <p:nvSpPr>
            <p:cNvPr id="215" name="Google Shape;215;g3a8b1442e01_0_602"/>
            <p:cNvSpPr/>
            <p:nvPr/>
          </p:nvSpPr>
          <p:spPr>
            <a:xfrm>
              <a:off x="-2661052" y="1333500"/>
              <a:ext cx="6160200" cy="4572000"/>
            </a:xfrm>
            <a:prstGeom prst="roundRect">
              <a:avLst>
                <a:gd name="adj" fmla="val 2083"/>
              </a:avLst>
            </a:prstGeom>
            <a:solidFill>
              <a:srgbClr val="EEFFF4"/>
            </a:solidFill>
            <a:ln w="9525" cap="flat" cmpd="sng">
              <a:solidFill>
                <a:srgbClr val="22C5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g3a8b1442e01_0_602"/>
            <p:cNvSpPr txBox="1"/>
            <p:nvPr/>
          </p:nvSpPr>
          <p:spPr>
            <a:xfrm>
              <a:off x="-2484949" y="1524000"/>
              <a:ext cx="5808000" cy="4191000"/>
            </a:xfrm>
            <a:prstGeom prst="rect">
              <a:avLst/>
            </a:prstGeom>
            <a:solidFill>
              <a:srgbClr val="EEFFF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Принцип иерархического анализа</a:t>
              </a:r>
              <a:endParaRPr sz="16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Противовесом Случайному лесу выступает нейронная сеть PointNet++. Вместо общих формул она использует принцип локального осмотра.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Сеть равномерно раскидывает </a:t>
              </a:r>
              <a:r>
                <a:rPr lang="en-US" sz="1600">
                  <a:solidFill>
                    <a:srgbClr val="333333"/>
                  </a:solidFill>
                </a:rPr>
                <a:t>«якоря» </a:t>
              </a: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по всему дереву, захватывает ближайших соседей в сферы и изучает их переплетения.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Сначала распознаются мелкие детали: кусочки коры и изгибы веток.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302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Затем данные объединяются в макроструктуры: форму целой кроны.</a:t>
              </a:r>
              <a:endPara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00" i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Цель: сравнить математические признаки человека и скрытый анализ нейросети.</a:t>
              </a:r>
              <a:endParaRPr sz="1600" i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g3a8b1442e01_0_602"/>
          <p:cNvSpPr/>
          <p:nvPr/>
        </p:nvSpPr>
        <p:spPr>
          <a:xfrm>
            <a:off x="217225" y="2332025"/>
            <a:ext cx="5616600" cy="28710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1905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g3a8b1442e01_0_6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388" y="2559750"/>
            <a:ext cx="5482276" cy="227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4ABE882C-6683-4EFB-60D5-02980E9BCA03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22C55E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8b1442e01_0_1515"/>
          <p:cNvSpPr/>
          <p:nvPr/>
        </p:nvSpPr>
        <p:spPr>
          <a:xfrm>
            <a:off x="5818775" y="1333500"/>
            <a:ext cx="5649300" cy="4572000"/>
          </a:xfrm>
          <a:prstGeom prst="roundRect">
            <a:avLst>
              <a:gd name="adj" fmla="val 2083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a8b1442e01_0_1515"/>
          <p:cNvSpPr txBox="1">
            <a:spLocks noGrp="1"/>
          </p:cNvSpPr>
          <p:nvPr>
            <p:ph type="title"/>
          </p:nvPr>
        </p:nvSpPr>
        <p:spPr>
          <a:xfrm>
            <a:off x="952500" y="381000"/>
            <a:ext cx="10515600" cy="67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Исходные данные и их недостатки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a8b1442e01_0_1515"/>
          <p:cNvSpPr txBox="1">
            <a:spLocks noGrp="1"/>
          </p:cNvSpPr>
          <p:nvPr>
            <p:ph type="body" idx="1"/>
          </p:nvPr>
        </p:nvSpPr>
        <p:spPr>
          <a:xfrm>
            <a:off x="5944449" y="4999850"/>
            <a:ext cx="1648500" cy="52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1092"/>
              </a:spcBef>
              <a:spcAft>
                <a:spcPts val="0"/>
              </a:spcAft>
              <a:buNone/>
            </a:pPr>
            <a:r>
              <a:rPr lang="en-US" sz="1748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Берёза</a:t>
            </a:r>
            <a:endParaRPr sz="1748" b="1">
              <a:solidFill>
                <a:srgbClr val="0F9E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a8b1442e01_0_1515"/>
          <p:cNvSpPr txBox="1">
            <a:spLocks noGrp="1"/>
          </p:cNvSpPr>
          <p:nvPr>
            <p:ph type="body" idx="1"/>
          </p:nvPr>
        </p:nvSpPr>
        <p:spPr>
          <a:xfrm>
            <a:off x="7840817" y="4999857"/>
            <a:ext cx="1612500" cy="52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1092"/>
              </a:spcBef>
              <a:spcAft>
                <a:spcPts val="0"/>
              </a:spcAft>
              <a:buNone/>
            </a:pPr>
            <a:r>
              <a:rPr lang="en-US" sz="1748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Сосна</a:t>
            </a:r>
            <a:endParaRPr sz="1748" b="1">
              <a:solidFill>
                <a:srgbClr val="0F9E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a8b1442e01_0_1515"/>
          <p:cNvSpPr txBox="1">
            <a:spLocks noGrp="1"/>
          </p:cNvSpPr>
          <p:nvPr>
            <p:ph type="body" idx="1"/>
          </p:nvPr>
        </p:nvSpPr>
        <p:spPr>
          <a:xfrm>
            <a:off x="9701188" y="4999857"/>
            <a:ext cx="1612500" cy="52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1092"/>
              </a:spcBef>
              <a:spcAft>
                <a:spcPts val="0"/>
              </a:spcAft>
              <a:buNone/>
            </a:pPr>
            <a:r>
              <a:rPr lang="en-US" sz="1748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Ель</a:t>
            </a:r>
            <a:endParaRPr sz="1748" b="1">
              <a:solidFill>
                <a:srgbClr val="0F9E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g3a8b1442e01_0_1515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230" name="Google Shape;230;g3a8b1442e01_0_1515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g3a8b1442e01_0_1515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g3a8b1442e01_0_1515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3" name="Google Shape;233;g3a8b1442e01_0_15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450" y="1556350"/>
            <a:ext cx="1899850" cy="3443500"/>
          </a:xfrm>
          <a:prstGeom prst="rect">
            <a:avLst/>
          </a:prstGeom>
          <a:solidFill>
            <a:srgbClr val="000000">
              <a:alpha val="0"/>
            </a:srgbClr>
          </a:solidFill>
          <a:ln w="104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4" name="Google Shape;234;g3a8b1442e01_0_1515"/>
          <p:cNvSpPr/>
          <p:nvPr/>
        </p:nvSpPr>
        <p:spPr>
          <a:xfrm>
            <a:off x="731575" y="1333500"/>
            <a:ext cx="4903500" cy="4572000"/>
          </a:xfrm>
          <a:prstGeom prst="roundRect">
            <a:avLst>
              <a:gd name="adj" fmla="val 2631"/>
            </a:avLst>
          </a:prstGeom>
          <a:solidFill>
            <a:srgbClr val="F8FAFC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a8b1442e01_0_1515"/>
          <p:cNvSpPr txBox="1"/>
          <p:nvPr/>
        </p:nvSpPr>
        <p:spPr>
          <a:xfrm>
            <a:off x="952500" y="1499150"/>
            <a:ext cx="4478400" cy="4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Выбранные данные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33333"/>
                </a:solidFill>
              </a:rPr>
              <a:t>Для исследования была использована база данных из шести пород деревьев: ель, сосна, пихта, береза, осина и ольха.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33333"/>
                </a:solidFill>
              </a:rPr>
              <a:t>Исходные данные представляли собой «сырые» файлы, которые нельзя было сразу отдать компьютеру.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33333"/>
                </a:solidFill>
              </a:rPr>
              <a:t>Во-первых, большинство деревьев были вырезаны из леса вместе с кусками земли, камнями и травой.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33333"/>
                </a:solidFill>
              </a:rPr>
              <a:t>Во-вторых, у всех деревьев было разное количество точек (от двух до пяти тысяч).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33333"/>
                </a:solidFill>
              </a:rPr>
              <a:t>Кроме того, они имели огромные географические координаты, что привело бы к ошибкам в математических расчетах сети.</a:t>
            </a:r>
            <a:endParaRPr sz="2800">
              <a:solidFill>
                <a:srgbClr val="333333"/>
              </a:solidFill>
            </a:endParaRPr>
          </a:p>
        </p:txBody>
      </p:sp>
      <p:cxnSp>
        <p:nvCxnSpPr>
          <p:cNvPr id="236" name="Google Shape;236;g3a8b1442e01_0_1515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37" name="Google Shape;237;g3a8b1442e01_0_15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425" y="1633838"/>
            <a:ext cx="1648500" cy="3338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a8b1442e01_0_15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43425" y="1623531"/>
            <a:ext cx="1648500" cy="3358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473cf74e9_0_198"/>
          <p:cNvSpPr txBox="1">
            <a:spLocks noGrp="1"/>
          </p:cNvSpPr>
          <p:nvPr>
            <p:ph type="title"/>
          </p:nvPr>
        </p:nvSpPr>
        <p:spPr>
          <a:xfrm>
            <a:off x="952500" y="381000"/>
            <a:ext cx="10515600" cy="67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Исходные данные и их недостатки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g3e473cf74e9_0_198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245" name="Google Shape;245;g3e473cf74e9_0_198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g3e473cf74e9_0_198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g3e473cf74e9_0_198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" name="Google Shape;248;g3e473cf74e9_0_198"/>
          <p:cNvSpPr/>
          <p:nvPr/>
        </p:nvSpPr>
        <p:spPr>
          <a:xfrm>
            <a:off x="731575" y="1333500"/>
            <a:ext cx="4903500" cy="4572000"/>
          </a:xfrm>
          <a:prstGeom prst="roundRect">
            <a:avLst>
              <a:gd name="adj" fmla="val 2631"/>
            </a:avLst>
          </a:prstGeom>
          <a:solidFill>
            <a:srgbClr val="F8FAFC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e473cf74e9_0_198"/>
          <p:cNvSpPr txBox="1"/>
          <p:nvPr/>
        </p:nvSpPr>
        <p:spPr>
          <a:xfrm>
            <a:off x="952500" y="1499150"/>
            <a:ext cx="4478400" cy="4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Исходные данные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Чтобы модели работали корректно, была написана программу очистки данных из трёх шагов.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Сначала скрипт отсекал нижние 40 сантиметров облака, полностью удаляя землю и оставляя только чистый ствол. Затем облако прореживалось. Все деревья были приведены к единому стандарту </a:t>
            </a:r>
            <a:r>
              <a:rPr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US" sz="1600">
                <a:solidFill>
                  <a:srgbClr val="333333"/>
                </a:solidFill>
              </a:rPr>
              <a:t> ровно 2048 точек. Этого достаточно для сохранения формы кроны и не перегружает видеокарту.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В конце каждое дерево было смещено ровно в нулевой центр координат и сжато в невидимую сферу, сохранив идеальные пропорции. После этого данные были готовы к обучению.</a:t>
            </a:r>
            <a:endParaRPr sz="1600">
              <a:solidFill>
                <a:srgbClr val="333333"/>
              </a:solidFill>
            </a:endParaRPr>
          </a:p>
        </p:txBody>
      </p:sp>
      <p:cxnSp>
        <p:nvCxnSpPr>
          <p:cNvPr id="250" name="Google Shape;250;g3e473cf74e9_0_198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51" name="Google Shape;251;g3e473cf74e9_0_198"/>
          <p:cNvSpPr/>
          <p:nvPr/>
        </p:nvSpPr>
        <p:spPr>
          <a:xfrm>
            <a:off x="5818775" y="1333500"/>
            <a:ext cx="5649300" cy="4572000"/>
          </a:xfrm>
          <a:prstGeom prst="roundRect">
            <a:avLst>
              <a:gd name="adj" fmla="val 2083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e473cf74e9_0_198"/>
          <p:cNvSpPr txBox="1">
            <a:spLocks noGrp="1"/>
          </p:cNvSpPr>
          <p:nvPr>
            <p:ph type="body" idx="1"/>
          </p:nvPr>
        </p:nvSpPr>
        <p:spPr>
          <a:xfrm>
            <a:off x="5944449" y="4999850"/>
            <a:ext cx="1648500" cy="52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1092"/>
              </a:spcBef>
              <a:spcAft>
                <a:spcPts val="0"/>
              </a:spcAft>
              <a:buNone/>
            </a:pPr>
            <a:r>
              <a:rPr lang="en-US" sz="1748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Берёза</a:t>
            </a:r>
            <a:endParaRPr sz="1748" b="1">
              <a:solidFill>
                <a:srgbClr val="0F9E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473cf74e9_0_198"/>
          <p:cNvSpPr txBox="1">
            <a:spLocks noGrp="1"/>
          </p:cNvSpPr>
          <p:nvPr>
            <p:ph type="body" idx="1"/>
          </p:nvPr>
        </p:nvSpPr>
        <p:spPr>
          <a:xfrm>
            <a:off x="9701188" y="4999857"/>
            <a:ext cx="1612500" cy="52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1092"/>
              </a:spcBef>
              <a:spcAft>
                <a:spcPts val="0"/>
              </a:spcAft>
              <a:buNone/>
            </a:pPr>
            <a:r>
              <a:rPr lang="en-US" sz="1748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Ель</a:t>
            </a:r>
            <a:endParaRPr sz="1748" b="1">
              <a:solidFill>
                <a:srgbClr val="0F9E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e473cf74e9_0_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491" y="1511930"/>
            <a:ext cx="1937809" cy="35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e473cf74e9_0_198"/>
          <p:cNvSpPr txBox="1">
            <a:spLocks noGrp="1"/>
          </p:cNvSpPr>
          <p:nvPr>
            <p:ph type="body" idx="1"/>
          </p:nvPr>
        </p:nvSpPr>
        <p:spPr>
          <a:xfrm>
            <a:off x="7840817" y="4999857"/>
            <a:ext cx="1612500" cy="52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1092"/>
              </a:spcBef>
              <a:spcAft>
                <a:spcPts val="0"/>
              </a:spcAft>
              <a:buNone/>
            </a:pPr>
            <a:r>
              <a:rPr lang="en-US" sz="1748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Сосна</a:t>
            </a:r>
            <a:endParaRPr sz="1748" b="1">
              <a:solidFill>
                <a:srgbClr val="0F9E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e473cf74e9_0_1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7775" y="1633850"/>
            <a:ext cx="1612500" cy="32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e473cf74e9_0_1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32477" y="1655747"/>
            <a:ext cx="1612500" cy="328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473cf74e9_0_247"/>
          <p:cNvSpPr txBox="1"/>
          <p:nvPr/>
        </p:nvSpPr>
        <p:spPr>
          <a:xfrm>
            <a:off x="952500" y="1047750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Чтобы научить «Случайный лес» различать деревья,</a:t>
            </a:r>
            <a:r>
              <a:rPr lang="en-US" sz="1600"/>
              <a:t>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объемные модели крон были превра</a:t>
            </a:r>
            <a:r>
              <a:rPr lang="en-US" sz="1600"/>
              <a:t>щены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набор понятных компьютеру чисел. </a:t>
            </a:r>
            <a:r>
              <a:rPr lang="en-US" sz="1600"/>
              <a:t>Такой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алгоритм детально сканирует структуру каждой кроны и вычисляет 17 уникальных характеристик, которые описывают её форму и плотность.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g3e473cf74e9_0_247"/>
          <p:cNvGrpSpPr/>
          <p:nvPr/>
        </p:nvGrpSpPr>
        <p:grpSpPr>
          <a:xfrm>
            <a:off x="2276475" y="2095500"/>
            <a:ext cx="6867600" cy="1047900"/>
            <a:chOff x="2276475" y="2095500"/>
            <a:chExt cx="6867600" cy="1047900"/>
          </a:xfrm>
        </p:grpSpPr>
        <p:sp>
          <p:nvSpPr>
            <p:cNvPr id="264" name="Google Shape;264;g3e473cf74e9_0_247"/>
            <p:cNvSpPr/>
            <p:nvPr/>
          </p:nvSpPr>
          <p:spPr>
            <a:xfrm>
              <a:off x="4905375" y="2095500"/>
              <a:ext cx="2381400" cy="571500"/>
            </a:xfrm>
            <a:prstGeom prst="roundRect">
              <a:avLst>
                <a:gd name="adj" fmla="val 16666"/>
              </a:avLst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g3e473cf74e9_0_247"/>
            <p:cNvSpPr txBox="1"/>
            <p:nvPr/>
          </p:nvSpPr>
          <p:spPr>
            <a:xfrm>
              <a:off x="4905375" y="2095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Математические признаки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" name="Google Shape;266;g3e473cf74e9_0_2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76475" y="2667000"/>
              <a:ext cx="6867600" cy="476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g3e473cf74e9_0_247"/>
          <p:cNvGrpSpPr/>
          <p:nvPr/>
        </p:nvGrpSpPr>
        <p:grpSpPr>
          <a:xfrm>
            <a:off x="952500" y="3143250"/>
            <a:ext cx="2667000" cy="2000400"/>
            <a:chOff x="952500" y="3143250"/>
            <a:chExt cx="2667000" cy="2000400"/>
          </a:xfrm>
        </p:grpSpPr>
        <p:sp>
          <p:nvSpPr>
            <p:cNvPr id="268" name="Google Shape;268;g3e473cf74e9_0_247"/>
            <p:cNvSpPr/>
            <p:nvPr/>
          </p:nvSpPr>
          <p:spPr>
            <a:xfrm>
              <a:off x="952500" y="3143250"/>
              <a:ext cx="2667000" cy="4764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F973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g3e473cf74e9_0_247"/>
            <p:cNvSpPr txBox="1"/>
            <p:nvPr/>
          </p:nvSpPr>
          <p:spPr>
            <a:xfrm>
              <a:off x="952500" y="3143250"/>
              <a:ext cx="2667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>
                  <a:solidFill>
                    <a:srgbClr val="F97316"/>
                  </a:solidFill>
                  <a:latin typeface="Arial"/>
                  <a:ea typeface="Arial"/>
                  <a:cs typeface="Arial"/>
                  <a:sym typeface="Arial"/>
                </a:rPr>
                <a:t>Макрогабариты</a:t>
              </a:r>
              <a:endParaRPr sz="1400" b="1" i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e473cf74e9_0_247"/>
            <p:cNvSpPr txBox="1"/>
            <p:nvPr/>
          </p:nvSpPr>
          <p:spPr>
            <a:xfrm>
              <a:off x="952500" y="371475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75"/>
                </a:spcAft>
                <a:buNone/>
              </a:pPr>
              <a:r>
                <a:rPr lang="en-US" b="1">
                  <a:solidFill>
                    <a:srgbClr val="333333"/>
                  </a:solidFill>
                </a:rPr>
                <a:t>3 признака</a:t>
              </a:r>
              <a:r>
                <a:rPr lang="en-US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, определяющие внешние границы дерева в пространстве. Мы замеряем размах кроны по ширине, длине и высоте, находя разницу между крайними точками координат.</a:t>
              </a:r>
              <a:endParaRPr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1" name="Google Shape;271;g3e473cf74e9_0_247"/>
          <p:cNvPicPr preferRelativeResize="0"/>
          <p:nvPr/>
        </p:nvPicPr>
        <p:blipFill rotWithShape="1">
          <a:blip r:embed="rId5">
            <a:alphaModFix/>
          </a:blip>
          <a:srcRect l="1200" r="1210"/>
          <a:stretch/>
        </p:blipFill>
        <p:spPr>
          <a:xfrm>
            <a:off x="1381200" y="5260600"/>
            <a:ext cx="1809600" cy="3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e473cf74e9_0_247"/>
          <p:cNvPicPr preferRelativeResize="0"/>
          <p:nvPr/>
        </p:nvPicPr>
        <p:blipFill rotWithShape="1">
          <a:blip r:embed="rId6">
            <a:alphaModFix/>
          </a:blip>
          <a:srcRect t="1315" b="1315"/>
          <a:stretch/>
        </p:blipFill>
        <p:spPr>
          <a:xfrm>
            <a:off x="1381200" y="5671525"/>
            <a:ext cx="18096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e473cf74e9_0_247"/>
          <p:cNvPicPr preferRelativeResize="0"/>
          <p:nvPr/>
        </p:nvPicPr>
        <p:blipFill rotWithShape="1">
          <a:blip r:embed="rId7">
            <a:alphaModFix/>
          </a:blip>
          <a:srcRect t="1437" b="1437"/>
          <a:stretch/>
        </p:blipFill>
        <p:spPr>
          <a:xfrm>
            <a:off x="1381200" y="6068963"/>
            <a:ext cx="1809600" cy="30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g3e473cf74e9_0_247"/>
          <p:cNvGrpSpPr/>
          <p:nvPr/>
        </p:nvGrpSpPr>
        <p:grpSpPr>
          <a:xfrm>
            <a:off x="4762500" y="3143250"/>
            <a:ext cx="2667000" cy="2000400"/>
            <a:chOff x="4762500" y="3143250"/>
            <a:chExt cx="2667000" cy="2000400"/>
          </a:xfrm>
        </p:grpSpPr>
        <p:sp>
          <p:nvSpPr>
            <p:cNvPr id="275" name="Google Shape;275;g3e473cf74e9_0_247"/>
            <p:cNvSpPr/>
            <p:nvPr/>
          </p:nvSpPr>
          <p:spPr>
            <a:xfrm>
              <a:off x="4762500" y="3143250"/>
              <a:ext cx="2667000" cy="4764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F973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g3e473cf74e9_0_247"/>
            <p:cNvSpPr txBox="1"/>
            <p:nvPr/>
          </p:nvSpPr>
          <p:spPr>
            <a:xfrm>
              <a:off x="4762500" y="3143250"/>
              <a:ext cx="2667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>
                  <a:solidFill>
                    <a:srgbClr val="F97316"/>
                  </a:solidFill>
                  <a:latin typeface="Arial"/>
                  <a:ea typeface="Arial"/>
                  <a:cs typeface="Arial"/>
                  <a:sym typeface="Arial"/>
                </a:rPr>
                <a:t>Дисперсия</a:t>
              </a:r>
              <a:endParaRPr sz="1400" b="1" i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e473cf74e9_0_247"/>
            <p:cNvSpPr txBox="1"/>
            <p:nvPr/>
          </p:nvSpPr>
          <p:spPr>
            <a:xfrm>
              <a:off x="4762500" y="371475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75"/>
                </a:spcAft>
                <a:buNone/>
              </a:pPr>
              <a:r>
                <a:rPr lang="en-US" b="1">
                  <a:solidFill>
                    <a:srgbClr val="333333"/>
                  </a:solidFill>
                </a:rPr>
                <a:t>3 признака</a:t>
              </a:r>
              <a:r>
                <a:rPr lang="en-US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, показывающие, насколько сильно точки облака разбросаны вокруг центра масс. Это помогает отличить рыхлую листву от плотных хвойных веток.</a:t>
              </a:r>
              <a:endParaRPr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8" name="Google Shape;278;g3e473cf74e9_0_247"/>
          <p:cNvPicPr preferRelativeResize="0"/>
          <p:nvPr/>
        </p:nvPicPr>
        <p:blipFill rotWithShape="1">
          <a:blip r:embed="rId8">
            <a:alphaModFix/>
          </a:blip>
          <a:srcRect l="417" r="407"/>
          <a:stretch/>
        </p:blipFill>
        <p:spPr>
          <a:xfrm>
            <a:off x="5072100" y="5260600"/>
            <a:ext cx="2000100" cy="63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g3e473cf74e9_0_247"/>
          <p:cNvGrpSpPr/>
          <p:nvPr/>
        </p:nvGrpSpPr>
        <p:grpSpPr>
          <a:xfrm>
            <a:off x="8572500" y="3143250"/>
            <a:ext cx="2667000" cy="2476500"/>
            <a:chOff x="8572500" y="3143250"/>
            <a:chExt cx="2667000" cy="2476500"/>
          </a:xfrm>
        </p:grpSpPr>
        <p:sp>
          <p:nvSpPr>
            <p:cNvPr id="280" name="Google Shape;280;g3e473cf74e9_0_247"/>
            <p:cNvSpPr/>
            <p:nvPr/>
          </p:nvSpPr>
          <p:spPr>
            <a:xfrm>
              <a:off x="8572500" y="3143250"/>
              <a:ext cx="2667000" cy="4764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F973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g3e473cf74e9_0_247"/>
            <p:cNvSpPr txBox="1"/>
            <p:nvPr/>
          </p:nvSpPr>
          <p:spPr>
            <a:xfrm>
              <a:off x="8572500" y="3143250"/>
              <a:ext cx="2667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>
                  <a:solidFill>
                    <a:srgbClr val="F97316"/>
                  </a:solidFill>
                  <a:latin typeface="Arial"/>
                  <a:ea typeface="Arial"/>
                  <a:cs typeface="Arial"/>
                  <a:sym typeface="Arial"/>
                </a:rPr>
                <a:t>Перцентили</a:t>
              </a:r>
              <a:endParaRPr sz="1400" b="1" i="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e473cf74e9_0_247"/>
            <p:cNvSpPr txBox="1"/>
            <p:nvPr/>
          </p:nvSpPr>
          <p:spPr>
            <a:xfrm>
              <a:off x="8572500" y="3714750"/>
              <a:ext cx="2667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75"/>
                </a:spcAft>
                <a:buNone/>
              </a:pPr>
              <a:r>
                <a:rPr lang="en-US" b="1">
                  <a:solidFill>
                    <a:srgbClr val="333333"/>
                  </a:solidFill>
                </a:rPr>
                <a:t>5 признаков</a:t>
              </a:r>
              <a:r>
                <a:rPr lang="en-US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вертикального профиля. Мы делим дерево на слои, чтобы понять, где находится основная биомасса: внизу у широких елей или в верхней части ствола у высоких сосен.</a:t>
              </a:r>
              <a:endParaRPr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3" name="Google Shape;283;g3e473cf74e9_0_247"/>
          <p:cNvPicPr preferRelativeResize="0"/>
          <p:nvPr/>
        </p:nvPicPr>
        <p:blipFill rotWithShape="1">
          <a:blip r:embed="rId9">
            <a:alphaModFix/>
          </a:blip>
          <a:srcRect t="1248" b="1248"/>
          <a:stretch/>
        </p:blipFill>
        <p:spPr>
          <a:xfrm>
            <a:off x="8953500" y="5715000"/>
            <a:ext cx="1905000" cy="28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g3e473cf74e9_0_247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285" name="Google Shape;285;g3e473cf74e9_0_247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g3e473cf74e9_0_247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g3e473cf74e9_0_247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g3e473cf74e9_0_247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Извлечение математических признаков</a:t>
              </a:r>
              <a:endParaRPr sz="32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9" name="Google Shape;289;g3e473cf74e9_0_2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3047118" y="2666850"/>
            <a:ext cx="6867600" cy="47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E68137C6-9137-604B-8DB7-4192D0788917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F97316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g3e473cf74e9_0_599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296" name="Google Shape;296;g3e473cf74e9_0_599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g3e473cf74e9_0_599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g3e473cf74e9_0_599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g3e473cf74e9_0_599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Извлечение математических признаков</a:t>
              </a:r>
              <a:endParaRPr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0" name="Google Shape;300;g3e473cf74e9_0_599"/>
          <p:cNvCxnSpPr/>
          <p:nvPr/>
        </p:nvCxnSpPr>
        <p:spPr>
          <a:xfrm>
            <a:off x="6096000" y="2667000"/>
            <a:ext cx="0" cy="2859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" name="Google Shape;301;g3e473cf74e9_0_599"/>
          <p:cNvCxnSpPr/>
          <p:nvPr/>
        </p:nvCxnSpPr>
        <p:spPr>
          <a:xfrm>
            <a:off x="2857500" y="2952750"/>
            <a:ext cx="64770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g3e473cf74e9_0_599"/>
          <p:cNvCxnSpPr/>
          <p:nvPr/>
        </p:nvCxnSpPr>
        <p:spPr>
          <a:xfrm>
            <a:off x="2857500" y="2952750"/>
            <a:ext cx="0" cy="1905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" name="Google Shape;303;g3e473cf74e9_0_599"/>
          <p:cNvCxnSpPr/>
          <p:nvPr/>
        </p:nvCxnSpPr>
        <p:spPr>
          <a:xfrm>
            <a:off x="9334500" y="2952750"/>
            <a:ext cx="0" cy="1905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04" name="Google Shape;304;g3e473cf74e9_0_599"/>
          <p:cNvGrpSpPr/>
          <p:nvPr/>
        </p:nvGrpSpPr>
        <p:grpSpPr>
          <a:xfrm>
            <a:off x="381000" y="3143250"/>
            <a:ext cx="4953000" cy="1718400"/>
            <a:chOff x="381000" y="3143250"/>
            <a:chExt cx="4953000" cy="1718400"/>
          </a:xfrm>
        </p:grpSpPr>
        <p:sp>
          <p:nvSpPr>
            <p:cNvPr id="305" name="Google Shape;305;g3e473cf74e9_0_599"/>
            <p:cNvSpPr/>
            <p:nvPr/>
          </p:nvSpPr>
          <p:spPr>
            <a:xfrm>
              <a:off x="381000" y="3143250"/>
              <a:ext cx="4953000" cy="4764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F973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g3e473cf74e9_0_599"/>
            <p:cNvSpPr txBox="1"/>
            <p:nvPr/>
          </p:nvSpPr>
          <p:spPr>
            <a:xfrm>
              <a:off x="381000" y="3143250"/>
              <a:ext cx="4953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97316"/>
                  </a:solidFill>
                  <a:latin typeface="Arial"/>
                  <a:ea typeface="Arial"/>
                  <a:cs typeface="Arial"/>
                  <a:sym typeface="Arial"/>
                </a:rPr>
                <a:t>Плотность распределения по ярусам</a:t>
              </a:r>
              <a:endParaRPr sz="1400" b="1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e473cf74e9_0_599"/>
            <p:cNvSpPr txBox="1"/>
            <p:nvPr/>
          </p:nvSpPr>
          <p:spPr>
            <a:xfrm>
              <a:off x="381000" y="3714750"/>
              <a:ext cx="4953000" cy="114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3 признака.</a:t>
              </a:r>
              <a:r>
                <a:rPr lang="en-US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Высота делится на 3 равных яруса. Алгоритм вычисляет границы и долю точек в каждом слое.</a:t>
              </a:r>
              <a:endParaRPr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Используется индикаторная функция для подсчета доли точек в интервалах высот.</a:t>
              </a:r>
              <a:endParaRPr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g3e473cf74e9_0_599"/>
          <p:cNvGrpSpPr/>
          <p:nvPr/>
        </p:nvGrpSpPr>
        <p:grpSpPr>
          <a:xfrm>
            <a:off x="6858000" y="3143321"/>
            <a:ext cx="4953000" cy="1897151"/>
            <a:chOff x="6858000" y="3143250"/>
            <a:chExt cx="4953000" cy="2286000"/>
          </a:xfrm>
        </p:grpSpPr>
        <p:sp>
          <p:nvSpPr>
            <p:cNvPr id="309" name="Google Shape;309;g3e473cf74e9_0_599"/>
            <p:cNvSpPr/>
            <p:nvPr/>
          </p:nvSpPr>
          <p:spPr>
            <a:xfrm>
              <a:off x="6858000" y="3143250"/>
              <a:ext cx="4953000" cy="4764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F973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g3e473cf74e9_0_599"/>
            <p:cNvSpPr txBox="1"/>
            <p:nvPr/>
          </p:nvSpPr>
          <p:spPr>
            <a:xfrm>
              <a:off x="6858000" y="3143250"/>
              <a:ext cx="4953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97316"/>
                  </a:solidFill>
                  <a:latin typeface="Arial"/>
                  <a:ea typeface="Arial"/>
                  <a:cs typeface="Arial"/>
                  <a:sym typeface="Arial"/>
                </a:rPr>
                <a:t>Главные компоненты</a:t>
              </a:r>
              <a:endParaRPr sz="1400" b="1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e473cf74e9_0_599"/>
            <p:cNvSpPr txBox="1"/>
            <p:nvPr/>
          </p:nvSpPr>
          <p:spPr>
            <a:xfrm>
              <a:off x="6858000" y="3714750"/>
              <a:ext cx="49530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3 признака.</a:t>
              </a:r>
              <a:r>
                <a:rPr lang="en-US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Описывают форму облака через собственные значения матрицы ковариации. Сортируются по убыванию (λ1 ≥ λ2 ≥ λ3).</a:t>
              </a:r>
              <a:endParaRPr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Позволяет математически отличить шар от плоской тарелки или вытянутого овала.</a:t>
              </a:r>
              <a:endParaRPr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2" name="Google Shape;312;g3e473cf74e9_0_599"/>
          <p:cNvPicPr preferRelativeResize="0"/>
          <p:nvPr/>
        </p:nvPicPr>
        <p:blipFill rotWithShape="1">
          <a:blip r:embed="rId4">
            <a:alphaModFix/>
          </a:blip>
          <a:srcRect t="17017" b="17024"/>
          <a:stretch/>
        </p:blipFill>
        <p:spPr>
          <a:xfrm>
            <a:off x="7729500" y="5135300"/>
            <a:ext cx="321000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e473cf74e9_0_599"/>
          <p:cNvPicPr preferRelativeResize="0"/>
          <p:nvPr/>
        </p:nvPicPr>
        <p:blipFill rotWithShape="1">
          <a:blip r:embed="rId5">
            <a:alphaModFix/>
          </a:blip>
          <a:srcRect l="150" r="160"/>
          <a:stretch/>
        </p:blipFill>
        <p:spPr>
          <a:xfrm>
            <a:off x="1179175" y="4851000"/>
            <a:ext cx="2757600" cy="73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g3e473cf74e9_0_599"/>
          <p:cNvGrpSpPr/>
          <p:nvPr/>
        </p:nvGrpSpPr>
        <p:grpSpPr>
          <a:xfrm>
            <a:off x="4905375" y="2095500"/>
            <a:ext cx="2381400" cy="571500"/>
            <a:chOff x="4905375" y="2095500"/>
            <a:chExt cx="2381400" cy="571500"/>
          </a:xfrm>
        </p:grpSpPr>
        <p:sp>
          <p:nvSpPr>
            <p:cNvPr id="315" name="Google Shape;315;g3e473cf74e9_0_599"/>
            <p:cNvSpPr/>
            <p:nvPr/>
          </p:nvSpPr>
          <p:spPr>
            <a:xfrm>
              <a:off x="4905375" y="2095500"/>
              <a:ext cx="2381400" cy="571500"/>
            </a:xfrm>
            <a:prstGeom prst="roundRect">
              <a:avLst>
                <a:gd name="adj" fmla="val 16666"/>
              </a:avLst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g3e473cf74e9_0_599"/>
            <p:cNvSpPr txBox="1"/>
            <p:nvPr/>
          </p:nvSpPr>
          <p:spPr>
            <a:xfrm>
              <a:off x="4905375" y="2095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Математические признаки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g3e473cf74e9_0_599"/>
          <p:cNvSpPr txBox="1"/>
          <p:nvPr/>
        </p:nvSpPr>
        <p:spPr>
          <a:xfrm>
            <a:off x="952500" y="1047750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Чтобы научить «Случайный лес» различать деревья, объемные модели крон были превращены в набор понятных компьютеру чисел. Такой алгоритм детально сканирует структуру каждой кроны и вычисляет 17 уникальных характеристик, которые описывают её форму и плотность.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A6012498-1614-23E4-6E37-2D826DE23707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F97316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8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324" name="Google Shape;324;p8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8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Обучение модели Random Forest</a:t>
              </a:r>
              <a:endParaRPr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8"/>
          <p:cNvSpPr/>
          <p:nvPr/>
        </p:nvSpPr>
        <p:spPr>
          <a:xfrm>
            <a:off x="762000" y="1333500"/>
            <a:ext cx="6160200" cy="4836300"/>
          </a:xfrm>
          <a:prstGeom prst="roundRect">
            <a:avLst>
              <a:gd name="adj" fmla="val 2083"/>
            </a:avLst>
          </a:prstGeom>
          <a:solidFill>
            <a:srgbClr val="FFF9F2"/>
          </a:solidFill>
          <a:ln w="9525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8"/>
          <p:cNvSpPr txBox="1">
            <a:spLocks noGrp="1"/>
          </p:cNvSpPr>
          <p:nvPr>
            <p:ph type="body" idx="1"/>
          </p:nvPr>
        </p:nvSpPr>
        <p:spPr>
          <a:xfrm>
            <a:off x="938213" y="1384854"/>
            <a:ext cx="58104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Результаты обучения</a:t>
            </a:r>
            <a:endParaRPr sz="1600" b="1">
              <a:solidFill>
                <a:srgbClr val="F973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Подготовленная таблица признаков, включающая 17 геометрических метрик, была загружена в модель Случайного леса.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Для обучения данные были разделены в пропорции 80/20. Была использована стратификация, чтобы сохранить исходное распределение пород: алгоритм учился на 80 процентах деревьев, а проверял себя на оставшихся 20.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Модель была сконфигурирована с 200 независимыми решающими деревьями. Обучение заняло всего пару секунд, так как алгоритм работал с легкими таблицами, а не с тяжелой 3D-графикой.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Базовая точность составила почти 80%, что является отличным стартовым результатом.</a:t>
            </a:r>
            <a:endParaRPr sz="16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8"/>
          <p:cNvPicPr preferRelativeResize="0"/>
          <p:nvPr/>
        </p:nvPicPr>
        <p:blipFill rotWithShape="1">
          <a:blip r:embed="rId4">
            <a:alphaModFix/>
          </a:blip>
          <a:srcRect t="30" b="30"/>
          <a:stretch/>
        </p:blipFill>
        <p:spPr>
          <a:xfrm>
            <a:off x="7114003" y="1336872"/>
            <a:ext cx="4572000" cy="14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8"/>
          <p:cNvPicPr preferRelativeResize="0"/>
          <p:nvPr/>
        </p:nvPicPr>
        <p:blipFill rotWithShape="1">
          <a:blip r:embed="rId5">
            <a:alphaModFix/>
          </a:blip>
          <a:srcRect l="1314" r="1324"/>
          <a:stretch/>
        </p:blipFill>
        <p:spPr>
          <a:xfrm>
            <a:off x="7114003" y="3000375"/>
            <a:ext cx="4572000" cy="29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8"/>
          <p:cNvSpPr/>
          <p:nvPr/>
        </p:nvSpPr>
        <p:spPr>
          <a:xfrm>
            <a:off x="7114000" y="1336875"/>
            <a:ext cx="4572000" cy="483630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D34DB3A8-C071-C696-9888-FAB9DED69598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F97316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473cf74e9_76_340"/>
          <p:cNvSpPr/>
          <p:nvPr/>
        </p:nvSpPr>
        <p:spPr>
          <a:xfrm>
            <a:off x="476250" y="1336875"/>
            <a:ext cx="8924100" cy="4572000"/>
          </a:xfrm>
          <a:prstGeom prst="roundRect">
            <a:avLst>
              <a:gd name="adj" fmla="val 2083"/>
            </a:avLst>
          </a:prstGeom>
          <a:solidFill>
            <a:srgbClr val="EEFFF4"/>
          </a:solidFill>
          <a:ln w="9525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9" name="Google Shape;339;g3e473cf74e9_76_340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340" name="Google Shape;340;g3e473cf74e9_76_340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g3e473cf74e9_76_340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g3e473cf74e9_76_340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g3e473cf74e9_76_340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Принцип работы нейросети PointNet++</a:t>
              </a:r>
              <a:endPara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g3e473cf74e9_76_340"/>
          <p:cNvSpPr txBox="1"/>
          <p:nvPr/>
        </p:nvSpPr>
        <p:spPr>
          <a:xfrm>
            <a:off x="654175" y="1414793"/>
            <a:ext cx="8590200" cy="42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Как PointNet++ представляет дерево</a:t>
            </a:r>
            <a:endParaRPr sz="1600" b="1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Весь процесс работы нейросети можно разделить на четыре логических шага:</a:t>
            </a:r>
            <a:endParaRPr sz="1600">
              <a:solidFill>
                <a:srgbClr val="333333"/>
              </a:solidFill>
            </a:endParaRPr>
          </a:p>
          <a:p>
            <a:pPr marL="365760" lvl="0" indent="-23876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-US" sz="1600">
                <a:solidFill>
                  <a:srgbClr val="333333"/>
                </a:solidFill>
              </a:rPr>
              <a:t>Локальный анализ: Сеть получает облако из 2048 точек и выбирает 1024 опорных центра. Вокруг них строятся сферы. Координаты точек внутри сфер умножаются на обучаемые матрицы весов, превращаясь в 256 геометрических признаков. Затем операция Max Pooling выбирает самые яркие признаки и «схлопывает» каждую сферу в одну точку.</a:t>
            </a:r>
            <a:endParaRPr sz="1600">
              <a:solidFill>
                <a:srgbClr val="333333"/>
              </a:solidFill>
            </a:endParaRPr>
          </a:p>
          <a:p>
            <a:pPr marL="365760" lvl="0" indent="-23876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-US" sz="1600">
                <a:solidFill>
                  <a:srgbClr val="333333"/>
                </a:solidFill>
              </a:rPr>
              <a:t>Укрупнение масштаба: Из 1024 точек алгоритм выбирает 256 новых центров. Радиус сфер увеличивается – теперь сеть смотрит на целые ветви. Признаки расширяются до 512, и снова применяется Max Pooling.</a:t>
            </a:r>
            <a:endParaRPr sz="1600">
              <a:solidFill>
                <a:srgbClr val="333333"/>
              </a:solidFill>
            </a:endParaRPr>
          </a:p>
          <a:p>
            <a:pPr marL="365760" lvl="0" indent="-23876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-US" sz="1600">
                <a:solidFill>
                  <a:srgbClr val="333333"/>
                </a:solidFill>
              </a:rPr>
              <a:t>Цифровой слепок: Вся информация от оставшихся 256 кусков кроны сливается в единый вектор из 512 чисел. Финальные слои сжимают это представление дерева до шести процентов вероятности (для каждой породы).</a:t>
            </a:r>
            <a:endParaRPr sz="1600">
              <a:solidFill>
                <a:srgbClr val="333333"/>
              </a:solidFill>
            </a:endParaRPr>
          </a:p>
          <a:p>
            <a:pPr marL="365760" lvl="0" indent="-23876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-US" sz="1600">
                <a:solidFill>
                  <a:srgbClr val="333333"/>
                </a:solidFill>
              </a:rPr>
              <a:t>Обучение: Сделав предсказание, сеть проверяет правильный ответ. Если она ошиблась, алгоритм делает шаг назад и чуть-чуть подправляет числа во всех матрицах весов, чтобы в следующий раз ответить точнее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346" name="Google Shape;346;g3e473cf74e9_76_340"/>
          <p:cNvSpPr/>
          <p:nvPr/>
        </p:nvSpPr>
        <p:spPr>
          <a:xfrm>
            <a:off x="9612350" y="1336875"/>
            <a:ext cx="2453400" cy="457200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28575" cap="flat" cmpd="sng">
            <a:solidFill>
              <a:srgbClr val="8BE0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g3e473cf74e9_76_3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7583" y="2276475"/>
            <a:ext cx="1982953" cy="2823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ECAAFED8-48A7-95D0-4486-78DBEA6A8915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22C55E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473cf74e9_76_708"/>
          <p:cNvSpPr/>
          <p:nvPr/>
        </p:nvSpPr>
        <p:spPr>
          <a:xfrm>
            <a:off x="5222950" y="1171050"/>
            <a:ext cx="6552600" cy="4911600"/>
          </a:xfrm>
          <a:prstGeom prst="roundRect">
            <a:avLst>
              <a:gd name="adj" fmla="val 2083"/>
            </a:avLst>
          </a:prstGeom>
          <a:solidFill>
            <a:srgbClr val="EEFFF4"/>
          </a:solidFill>
          <a:ln w="9525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3" name="Google Shape;353;g3e473cf74e9_76_708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354" name="Google Shape;354;g3e473cf74e9_76_708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g3e473cf74e9_76_708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g3e473cf74e9_76_708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g3e473cf74e9_76_708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Аугментация данных</a:t>
              </a:r>
              <a:endPara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g3e473cf74e9_76_708"/>
          <p:cNvSpPr txBox="1"/>
          <p:nvPr/>
        </p:nvSpPr>
        <p:spPr>
          <a:xfrm>
            <a:off x="5375350" y="1123105"/>
            <a:ext cx="6277800" cy="47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Борьба с переобучением PointNet++</a:t>
            </a:r>
            <a:endParaRPr sz="1600" b="1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Главный враг глубоких нейросетей –  это переобучение. Если показывать программе одни и те же идеальные деревья, она просто запомнить их наизусть, но ошибется в реальном лесу.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Для комплексного решения этой проблемы было применено два метода. Первый – динамическое искажение данных. Прямо во время обучения программа случайным образом вращала деревья вокруг своей оси и добавляла легкий шум к координатам, имитируя погрешность лазерного сканера. В итоге сеть видела каждое дерево с сотен разных ракурсов и училась понимать истинную форму кроны.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Второй метод – функция Dropout, встроенная в саму архитектуру сети. Во время обучения этот алгоритм временно и случайным образом «отключал» 50% связей между нейронами в финальном классификаторе. Сеть заставляли распознавать березу или ель, опираясь лишь на половину доступной информации. Такой подход не дает алгоритму привыкнуть к конкретным признакам и делает модель максимально надежной на новых данных.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360" name="Google Shape;360;g3e473cf74e9_76_708"/>
          <p:cNvSpPr/>
          <p:nvPr/>
        </p:nvSpPr>
        <p:spPr>
          <a:xfrm>
            <a:off x="380975" y="1325725"/>
            <a:ext cx="4679700" cy="4572000"/>
          </a:xfrm>
          <a:prstGeom prst="roundRect">
            <a:avLst>
              <a:gd name="adj" fmla="val 2083"/>
            </a:avLst>
          </a:prstGeom>
          <a:solidFill>
            <a:schemeClr val="lt1"/>
          </a:solidFill>
          <a:ln w="9525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1" name="Google Shape;361;g3e473cf74e9_76_708"/>
          <p:cNvPicPr preferRelativeResize="0"/>
          <p:nvPr/>
        </p:nvPicPr>
        <p:blipFill rotWithShape="1">
          <a:blip r:embed="rId4">
            <a:alphaModFix/>
          </a:blip>
          <a:srcRect t="2272" b="2272"/>
          <a:stretch/>
        </p:blipFill>
        <p:spPr>
          <a:xfrm>
            <a:off x="1173201" y="1524000"/>
            <a:ext cx="762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e473cf74e9_76_708"/>
          <p:cNvSpPr txBox="1"/>
          <p:nvPr/>
        </p:nvSpPr>
        <p:spPr>
          <a:xfrm>
            <a:off x="982701" y="3286125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Оригинал</a:t>
            </a:r>
            <a:endParaRPr sz="1200" b="1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e473cf74e9_76_708"/>
          <p:cNvPicPr preferRelativeResize="0"/>
          <p:nvPr/>
        </p:nvPicPr>
        <p:blipFill rotWithShape="1">
          <a:blip r:embed="rId5">
            <a:alphaModFix/>
          </a:blip>
          <a:srcRect t="12224" b="12224"/>
          <a:stretch/>
        </p:blipFill>
        <p:spPr>
          <a:xfrm>
            <a:off x="3363951" y="1524000"/>
            <a:ext cx="762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e473cf74e9_76_708"/>
          <p:cNvSpPr txBox="1"/>
          <p:nvPr/>
        </p:nvSpPr>
        <p:spPr>
          <a:xfrm>
            <a:off x="3173451" y="3286125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Поворот</a:t>
            </a:r>
            <a:endParaRPr sz="1200" b="1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e473cf74e9_76_708"/>
          <p:cNvPicPr preferRelativeResize="0"/>
          <p:nvPr/>
        </p:nvPicPr>
        <p:blipFill rotWithShape="1">
          <a:blip r:embed="rId6">
            <a:alphaModFix/>
          </a:blip>
          <a:srcRect t="2714" b="2723"/>
          <a:stretch/>
        </p:blipFill>
        <p:spPr>
          <a:xfrm>
            <a:off x="1173201" y="3762375"/>
            <a:ext cx="762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e473cf74e9_76_708"/>
          <p:cNvSpPr txBox="1"/>
          <p:nvPr/>
        </p:nvSpPr>
        <p:spPr>
          <a:xfrm>
            <a:off x="982701" y="5524500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Шум</a:t>
            </a:r>
            <a:endParaRPr sz="1200" b="1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g3e473cf74e9_76_708"/>
          <p:cNvPicPr preferRelativeResize="0"/>
          <p:nvPr/>
        </p:nvPicPr>
        <p:blipFill rotWithShape="1">
          <a:blip r:embed="rId7">
            <a:alphaModFix/>
          </a:blip>
          <a:srcRect t="4446" b="4446"/>
          <a:stretch/>
        </p:blipFill>
        <p:spPr>
          <a:xfrm>
            <a:off x="3363951" y="3762375"/>
            <a:ext cx="762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e473cf74e9_76_708"/>
          <p:cNvSpPr txBox="1"/>
          <p:nvPr/>
        </p:nvSpPr>
        <p:spPr>
          <a:xfrm>
            <a:off x="3173451" y="5524500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Поворот + Шум</a:t>
            </a:r>
            <a:endParaRPr sz="1200" b="1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CB2A73A6-D020-277A-4E05-94CCA8F5C2BF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22C55E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473cf74e9_121_281"/>
          <p:cNvSpPr/>
          <p:nvPr/>
        </p:nvSpPr>
        <p:spPr>
          <a:xfrm>
            <a:off x="476250" y="1336875"/>
            <a:ext cx="6950400" cy="4848000"/>
          </a:xfrm>
          <a:prstGeom prst="roundRect">
            <a:avLst>
              <a:gd name="adj" fmla="val 2083"/>
            </a:avLst>
          </a:prstGeom>
          <a:solidFill>
            <a:srgbClr val="EEFFF4"/>
          </a:solidFill>
          <a:ln w="9525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4" name="Google Shape;374;g3e473cf74e9_121_281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375" name="Google Shape;375;g3e473cf74e9_121_281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g3e473cf74e9_121_281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g3e473cf74e9_121_281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g3e473cf74e9_121_281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Процесс обучения нейросети</a:t>
              </a:r>
              <a:endPara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g3e473cf74e9_121_281"/>
          <p:cNvSpPr txBox="1"/>
          <p:nvPr/>
        </p:nvSpPr>
        <p:spPr>
          <a:xfrm>
            <a:off x="665325" y="1326552"/>
            <a:ext cx="6582900" cy="44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Обучение PointNet++</a:t>
            </a:r>
            <a:endParaRPr sz="1600" b="1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Обучение нейросети проходило на графическом процессоре и заняло сто циклов (эпох). Процесс контролировался в режиме реального времени, что позволило нам следить за отсутствием переобучения. На графиках видно классическое правильное поведение: линия ошибки стремительно падает, а точность распознавания растет и фиксируется на высоком уровне.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Чтобы достичь максимум точности, был использован умный планировщик шага обучения (Scheduler). Когда программа замечала, что точность на проверочной выборке перестает расти, она плавно уменьшала learning rate в два раза. Это позволило алгоритму перейти от грубой корректировки весов к аккуратной настройке параметров на финальных этапах. Стратегия сохранения гарантировала, что на жесткий диск была записана именно та версия весов сети, которая показала наилучший исторический результат на чистых данных.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rgbClr val="333333"/>
              </a:solidFill>
            </a:endParaRPr>
          </a:p>
        </p:txBody>
      </p:sp>
      <p:sp>
        <p:nvSpPr>
          <p:cNvPr id="381" name="Google Shape;381;g3e473cf74e9_121_281"/>
          <p:cNvSpPr/>
          <p:nvPr/>
        </p:nvSpPr>
        <p:spPr>
          <a:xfrm>
            <a:off x="7571675" y="381000"/>
            <a:ext cx="4494000" cy="5930400"/>
          </a:xfrm>
          <a:prstGeom prst="roundRect">
            <a:avLst>
              <a:gd name="adj" fmla="val 4999"/>
            </a:avLst>
          </a:prstGeom>
          <a:solidFill>
            <a:srgbClr val="FFFFFF"/>
          </a:solidFill>
          <a:ln w="28575" cap="flat" cmpd="sng">
            <a:solidFill>
              <a:srgbClr val="8BE0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2" name="Google Shape;382;g3e473cf74e9_121_2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8962" y="490649"/>
            <a:ext cx="3936275" cy="2751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e473cf74e9_121_2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1275" y="3488853"/>
            <a:ext cx="3936275" cy="2749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67BA5A27-C963-1132-A28E-29B8E1D97627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22C55E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473cf74e9_121_477"/>
          <p:cNvSpPr txBox="1">
            <a:spLocks noGrp="1"/>
          </p:cNvSpPr>
          <p:nvPr>
            <p:ph type="title"/>
          </p:nvPr>
        </p:nvSpPr>
        <p:spPr>
          <a:xfrm>
            <a:off x="952500" y="381000"/>
            <a:ext cx="10515600" cy="67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Финальный тест моделей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g3e473cf74e9_121_477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390" name="Google Shape;390;g3e473cf74e9_121_477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g3e473cf74e9_121_477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g3e473cf74e9_121_477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3" name="Google Shape;393;g3e473cf74e9_121_477"/>
          <p:cNvSpPr/>
          <p:nvPr/>
        </p:nvSpPr>
        <p:spPr>
          <a:xfrm>
            <a:off x="731575" y="1201200"/>
            <a:ext cx="6374700" cy="4836600"/>
          </a:xfrm>
          <a:prstGeom prst="roundRect">
            <a:avLst>
              <a:gd name="adj" fmla="val 2631"/>
            </a:avLst>
          </a:prstGeom>
          <a:solidFill>
            <a:srgbClr val="F8FAFC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4" name="Google Shape;394;g3e473cf74e9_121_477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5" name="Google Shape;395;g3e473cf74e9_121_477"/>
          <p:cNvSpPr/>
          <p:nvPr/>
        </p:nvSpPr>
        <p:spPr>
          <a:xfrm>
            <a:off x="7281750" y="1333500"/>
            <a:ext cx="4186200" cy="4572000"/>
          </a:xfrm>
          <a:prstGeom prst="roundRect">
            <a:avLst>
              <a:gd name="adj" fmla="val 2083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6" name="Google Shape;396;g3e473cf74e9_121_4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5550" y="1499150"/>
            <a:ext cx="24384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3e473cf74e9_121_4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5525" y="1499150"/>
            <a:ext cx="2835575" cy="28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3e473cf74e9_121_4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5900" y="4408113"/>
            <a:ext cx="1748400" cy="13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e473cf74e9_121_4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63192" y="4408125"/>
            <a:ext cx="1505183" cy="139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e473cf74e9_121_477"/>
          <p:cNvSpPr txBox="1"/>
          <p:nvPr/>
        </p:nvSpPr>
        <p:spPr>
          <a:xfrm>
            <a:off x="930025" y="1333500"/>
            <a:ext cx="5977800" cy="45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0475" tIns="90475" rIns="90475" bIns="9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Отложенная выборка</a:t>
            </a:r>
            <a:endParaRPr sz="148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Для объективного сравнения алгоритмов</a:t>
            </a:r>
            <a:r>
              <a:rPr lang="en-US" sz="1600">
                <a:solidFill>
                  <a:srgbClr val="333333"/>
                </a:solidFill>
              </a:rPr>
              <a:t> были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отобра</a:t>
            </a:r>
            <a:r>
              <a:rPr lang="en-US" sz="1600">
                <a:solidFill>
                  <a:srgbClr val="333333"/>
                </a:solidFill>
              </a:rPr>
              <a:t>ны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24 контрольных дерева </a:t>
            </a:r>
            <a:r>
              <a:rPr lang="en-US" sz="1600">
                <a:solidFill>
                  <a:srgbClr val="333333"/>
                </a:solidFill>
              </a:rPr>
              <a:t>–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по 4 экземпляра каждого вида. Эти данные не использовались на этапе обучения.</a:t>
            </a:r>
            <a:endParaRPr sz="16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В процессе тренировки каждое облако точек динамически сжималось или  расширялось до 2048 единиц через случайную выборку.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Чтобы </a:t>
            </a:r>
            <a:r>
              <a:rPr lang="en-US" sz="1600">
                <a:solidFill>
                  <a:srgbClr val="333333"/>
                </a:solidFill>
              </a:rPr>
              <a:t>провести объективное 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финальн</a:t>
            </a:r>
            <a:r>
              <a:rPr lang="en-US" sz="1600">
                <a:solidFill>
                  <a:srgbClr val="333333"/>
                </a:solidFill>
              </a:rPr>
              <a:t>ое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rgbClr val="333333"/>
                </a:solidFill>
              </a:rPr>
              <a:t>тестирование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600">
                <a:solidFill>
                  <a:srgbClr val="333333"/>
                </a:solidFill>
              </a:rPr>
              <a:t> над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кажд</a:t>
            </a:r>
            <a:r>
              <a:rPr lang="en-US" sz="1600">
                <a:solidFill>
                  <a:srgbClr val="333333"/>
                </a:solidFill>
              </a:rPr>
              <a:t>ым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отложенн</a:t>
            </a:r>
            <a:r>
              <a:rPr lang="en-US" sz="1600">
                <a:solidFill>
                  <a:srgbClr val="333333"/>
                </a:solidFill>
              </a:rPr>
              <a:t>ым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деревом были проведены </a:t>
            </a:r>
            <a:r>
              <a:rPr lang="en-US" sz="1600">
                <a:solidFill>
                  <a:srgbClr val="333333"/>
                </a:solidFill>
              </a:rPr>
              <a:t>следующие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трансформаци</a:t>
            </a:r>
            <a:r>
              <a:rPr lang="en-US" sz="1600">
                <a:solidFill>
                  <a:srgbClr val="333333"/>
                </a:solidFill>
              </a:rPr>
              <a:t>и</a:t>
            </a: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оно стократно поворачивалось под произвольным углом, и каждый раз заново проходило через алгоритм разрежения.</a:t>
            </a:r>
            <a:endParaRPr sz="16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Суммарно модели выполнили 2400 предсказаний. Такая нагрузка имитирует реальные условия эксплуатации, когда беспилотник приближается к объекту в лесу с любого произвольного ракурса.</a:t>
            </a:r>
            <a:endParaRPr sz="16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g3e473cf74e9_121_689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406" name="Google Shape;406;g3e473cf74e9_121_689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g3e473cf74e9_121_689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g3e473cf74e9_121_689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g3e473cf74e9_121_689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latin typeface="Arial"/>
                  <a:ea typeface="Arial"/>
                  <a:cs typeface="Arial"/>
                  <a:sym typeface="Arial"/>
                </a:rPr>
                <a:t>Финальный тест моделей</a:t>
              </a:r>
              <a:endParaRPr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g3e473cf74e9_121_689"/>
          <p:cNvSpPr/>
          <p:nvPr/>
        </p:nvSpPr>
        <p:spPr>
          <a:xfrm>
            <a:off x="339700" y="1333500"/>
            <a:ext cx="5526000" cy="4836300"/>
          </a:xfrm>
          <a:prstGeom prst="roundRect">
            <a:avLst>
              <a:gd name="adj" fmla="val 2083"/>
            </a:avLst>
          </a:prstGeom>
          <a:solidFill>
            <a:srgbClr val="FFF9F2"/>
          </a:solidFill>
          <a:ln w="9525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e473cf74e9_121_689"/>
          <p:cNvSpPr txBox="1">
            <a:spLocks noGrp="1"/>
          </p:cNvSpPr>
          <p:nvPr>
            <p:ph type="body" idx="1"/>
          </p:nvPr>
        </p:nvSpPr>
        <p:spPr>
          <a:xfrm>
            <a:off x="492175" y="1533700"/>
            <a:ext cx="5206200" cy="447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Матрица ошибок: Случайный лес</a:t>
            </a:r>
            <a:endParaRPr sz="1600" b="1">
              <a:solidFill>
                <a:srgbClr val="F973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Здесь видна матрица ошибок классического алгоритма.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Тёмная диагональ означает правильные ответы, и видно, что базовая математическая модель неплохо справилась со своей задачей.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Она уверенно распознает ольху и сосну. Однако есть явная проблема с лиственными породами. Из 400 попыток алгоритм угадал березу лишь в половине случаев.Остальные деревья он перепутал с осиной или </a:t>
            </a:r>
            <a:r>
              <a:rPr lang="ru-RU" sz="1600">
                <a:solidFill>
                  <a:srgbClr val="333333"/>
                </a:solidFill>
              </a:rPr>
              <a:t>сосной</a:t>
            </a:r>
            <a:r>
              <a:rPr lang="en-US" sz="1600">
                <a:solidFill>
                  <a:srgbClr val="333333"/>
                </a:solidFill>
              </a:rPr>
              <a:t>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Это происходит потому, что классическая статистика описывает лишь общие контуры дерева. У березы и осины очень похожая округлая форма кроны, поэтому их числовые показатели сливаются, и алгоритм начинает сомневаться и принимать решения наугад.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333333"/>
              </a:solidFill>
            </a:endParaRPr>
          </a:p>
        </p:txBody>
      </p:sp>
      <p:sp>
        <p:nvSpPr>
          <p:cNvPr id="412" name="Google Shape;412;g3e473cf74e9_121_689"/>
          <p:cNvSpPr/>
          <p:nvPr/>
        </p:nvSpPr>
        <p:spPr>
          <a:xfrm>
            <a:off x="6021650" y="1681500"/>
            <a:ext cx="5876100" cy="414030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4" name="Google Shape;414;g3e473cf74e9_121_6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6750" y="1822023"/>
            <a:ext cx="5525899" cy="3961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18810086-8E81-EECA-B84B-593527F79475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F97316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g3e473cf74e9_121_894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420" name="Google Shape;420;g3e473cf74e9_121_894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g3e473cf74e9_121_894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g3e473cf74e9_121_894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g3e473cf74e9_121_894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latin typeface="Arial"/>
                  <a:ea typeface="Arial"/>
                  <a:cs typeface="Arial"/>
                  <a:sym typeface="Arial"/>
                </a:rPr>
                <a:t>Логика принятия решений Random Forest</a:t>
              </a:r>
              <a:endParaRPr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g3e473cf74e9_121_894"/>
          <p:cNvSpPr/>
          <p:nvPr/>
        </p:nvSpPr>
        <p:spPr>
          <a:xfrm>
            <a:off x="6698006" y="1299692"/>
            <a:ext cx="5295900" cy="4663785"/>
          </a:xfrm>
          <a:prstGeom prst="roundRect">
            <a:avLst>
              <a:gd name="adj" fmla="val 2083"/>
            </a:avLst>
          </a:prstGeom>
          <a:solidFill>
            <a:srgbClr val="FFF9F2"/>
          </a:solidFill>
          <a:ln w="9525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3e473cf74e9_121_894"/>
          <p:cNvSpPr txBox="1">
            <a:spLocks noGrp="1"/>
          </p:cNvSpPr>
          <p:nvPr>
            <p:ph type="body" idx="1"/>
          </p:nvPr>
        </p:nvSpPr>
        <p:spPr>
          <a:xfrm>
            <a:off x="6853181" y="1249234"/>
            <a:ext cx="5027100" cy="417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Важность признаков</a:t>
            </a:r>
            <a:endParaRPr sz="1600" b="1">
              <a:solidFill>
                <a:srgbClr val="F973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Несмотря на ошибки, у классического машинного обучения есть огромное преимущество: абсолютная прозрачность. Нам точно известно, как машина думает.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График важности признаков показывает, что самым ценным параметром стала густота веток в средней части ствола. Именно этот показатель позволяет легко отделить пушистые хвойные деревья от лиственных, у которых середина ствола часто голая.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На втором месте оказались показатели вертикального профиля, то есть высота, на которой растет основная масса веток.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А вот простой разброс точек в пространстве оказался бесполезным. Машине важно понимать именно структуру дерева по высоте, а не просто его ширину.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426" name="Google Shape;426;g3e473cf74e9_121_894"/>
          <p:cNvSpPr/>
          <p:nvPr/>
        </p:nvSpPr>
        <p:spPr>
          <a:xfrm>
            <a:off x="196181" y="1349400"/>
            <a:ext cx="6280800" cy="441210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FA9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8" name="Google Shape;428;g3e473cf74e9_121_894" title="RandomForestFeatureImporta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882" y="1550722"/>
            <a:ext cx="6114100" cy="40349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D223A4C1-0169-495F-7130-A584AC6813B3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F97316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473cf74e9_121_707"/>
          <p:cNvSpPr/>
          <p:nvPr/>
        </p:nvSpPr>
        <p:spPr>
          <a:xfrm>
            <a:off x="6537325" y="1270213"/>
            <a:ext cx="5209500" cy="4548900"/>
          </a:xfrm>
          <a:prstGeom prst="roundRect">
            <a:avLst>
              <a:gd name="adj" fmla="val 2083"/>
            </a:avLst>
          </a:prstGeom>
          <a:solidFill>
            <a:srgbClr val="EEFFF4"/>
          </a:solidFill>
          <a:ln w="9525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" name="Google Shape;434;g3e473cf74e9_121_707"/>
          <p:cNvGrpSpPr/>
          <p:nvPr/>
        </p:nvGrpSpPr>
        <p:grpSpPr>
          <a:xfrm>
            <a:off x="0" y="381000"/>
            <a:ext cx="11239500" cy="673500"/>
            <a:chOff x="0" y="381000"/>
            <a:chExt cx="11239500" cy="673500"/>
          </a:xfrm>
        </p:grpSpPr>
        <p:sp>
          <p:nvSpPr>
            <p:cNvPr id="435" name="Google Shape;435;g3e473cf74e9_121_707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g3e473cf74e9_121_707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g3e473cf74e9_121_707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g3e473cf74e9_121_707"/>
            <p:cNvSpPr txBox="1"/>
            <p:nvPr/>
          </p:nvSpPr>
          <p:spPr>
            <a:xfrm>
              <a:off x="952500" y="381000"/>
              <a:ext cx="10287000" cy="67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Финальный тест моделей</a:t>
              </a:r>
              <a:endParaRPr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g3e473cf74e9_121_707"/>
          <p:cNvSpPr txBox="1">
            <a:spLocks noGrp="1"/>
          </p:cNvSpPr>
          <p:nvPr>
            <p:ph type="body" idx="1"/>
          </p:nvPr>
        </p:nvSpPr>
        <p:spPr>
          <a:xfrm>
            <a:off x="6684475" y="1178166"/>
            <a:ext cx="4915200" cy="445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95250" rIns="95250" bIns="9525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Матрица ошибок: PointNet++</a:t>
            </a:r>
            <a:endParaRPr sz="1600" b="1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Матрица ошибок глубокой нейросети выглядит совершенно иначе. Темная линия правильных ответов здесь гораздо плотнее, а путаница между породами практически исчезла.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PointNet++ продемонстрировал впечатляющую стабильность. Нейросеть успешно разделила все хвойные породы, не допуская путаницы между елью, пихтой и сосной.Она сфокусировалась на истинной трехмерной структуре веток, а не на простых габаритах кроны.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Ошибки остались только в самых сложных биологических случаях, когда сеть изредка путает березу с осиной. Однако даже в этой трудной ситуации общее количество промахов оказалось в разы меньше, чем у математической модели.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441" name="Google Shape;441;g3e473cf74e9_121_707"/>
          <p:cNvSpPr/>
          <p:nvPr/>
        </p:nvSpPr>
        <p:spPr>
          <a:xfrm>
            <a:off x="456675" y="1543000"/>
            <a:ext cx="5876100" cy="41403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1905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2" name="Google Shape;442;g3e473cf74e9_121_7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575" y="1661401"/>
            <a:ext cx="5627475" cy="38775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cxnSp>
        <p:nvCxnSpPr>
          <p:cNvPr id="2" name="Google Shape;123;p2">
            <a:extLst>
              <a:ext uri="{FF2B5EF4-FFF2-40B4-BE49-F238E27FC236}">
                <a16:creationId xmlns:a16="http://schemas.microsoft.com/office/drawing/2014/main" id="{ED87AA31-C926-5590-666B-4E4372133E10}"/>
              </a:ext>
            </a:extLst>
          </p:cNvPr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22C55E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473cf74e9_121_936"/>
          <p:cNvSpPr txBox="1">
            <a:spLocks noGrp="1"/>
          </p:cNvSpPr>
          <p:nvPr>
            <p:ph type="title"/>
          </p:nvPr>
        </p:nvSpPr>
        <p:spPr>
          <a:xfrm>
            <a:off x="952500" y="381000"/>
            <a:ext cx="10515600" cy="67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Финальный тест моделей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g3e473cf74e9_121_936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449" name="Google Shape;449;g3e473cf74e9_121_936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g3e473cf74e9_121_936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g3e473cf74e9_121_936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2" name="Google Shape;452;g3e473cf74e9_121_936"/>
          <p:cNvSpPr/>
          <p:nvPr/>
        </p:nvSpPr>
        <p:spPr>
          <a:xfrm>
            <a:off x="350575" y="1333500"/>
            <a:ext cx="5677500" cy="4880700"/>
          </a:xfrm>
          <a:prstGeom prst="roundRect">
            <a:avLst>
              <a:gd name="adj" fmla="val 2631"/>
            </a:avLst>
          </a:prstGeom>
          <a:solidFill>
            <a:srgbClr val="F8FAFC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3" name="Google Shape;453;g3e473cf74e9_121_936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4" name="Google Shape;454;g3e473cf74e9_121_936"/>
          <p:cNvSpPr/>
          <p:nvPr/>
        </p:nvSpPr>
        <p:spPr>
          <a:xfrm>
            <a:off x="6164950" y="2037350"/>
            <a:ext cx="5834100" cy="3424200"/>
          </a:xfrm>
          <a:prstGeom prst="roundRect">
            <a:avLst>
              <a:gd name="adj" fmla="val 2083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g3e473cf74e9_121_936"/>
          <p:cNvSpPr txBox="1"/>
          <p:nvPr/>
        </p:nvSpPr>
        <p:spPr>
          <a:xfrm>
            <a:off x="457100" y="1467350"/>
            <a:ext cx="5620500" cy="456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0475" tIns="90475" rIns="90475" bIns="9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Итоговое сравнение</a:t>
            </a:r>
            <a:endParaRPr sz="148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Финальная диаграмма подводит объективный итог нашего масштабного тестирования. На ней наглядно видно абсолютное превосходство глубокого обучения по всем ключевым параметрам.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Общая точность PointNet++ в условиях постоянного вращения объектов уверенно превысила 92%, обойдя базовую модель, общая точность которой достигла 82%.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Особенно важен показатель полноты, который вырос на три процента. Это значит, что нейросеть научилась находить нужные деревья без пропусков.</a:t>
            </a:r>
            <a:endParaRPr sz="1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Главный показатель качества, который учитывает баланс всех ошибок, подтверждает: глубокое обучение способно выучивать истинную форму объектов. Нейросеть работает гораздо стабильнее ручных математических формул.</a:t>
            </a:r>
            <a:endParaRPr sz="16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g3e473cf74e9_121_9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225" y="2208537"/>
            <a:ext cx="5677549" cy="30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473cf74e9_162_3"/>
          <p:cNvSpPr txBox="1">
            <a:spLocks noGrp="1"/>
          </p:cNvSpPr>
          <p:nvPr>
            <p:ph type="title"/>
          </p:nvPr>
        </p:nvSpPr>
        <p:spPr>
          <a:xfrm>
            <a:off x="952500" y="381000"/>
            <a:ext cx="10515600" cy="67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g3e473cf74e9_162_3"/>
          <p:cNvGrpSpPr/>
          <p:nvPr/>
        </p:nvGrpSpPr>
        <p:grpSpPr>
          <a:xfrm>
            <a:off x="0" y="381000"/>
            <a:ext cx="731573" cy="673500"/>
            <a:chOff x="0" y="381000"/>
            <a:chExt cx="731573" cy="673500"/>
          </a:xfrm>
        </p:grpSpPr>
        <p:sp>
          <p:nvSpPr>
            <p:cNvPr id="463" name="Google Shape;463;g3e473cf74e9_162_3"/>
            <p:cNvSpPr/>
            <p:nvPr/>
          </p:nvSpPr>
          <p:spPr>
            <a:xfrm>
              <a:off x="0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g3e473cf74e9_162_3"/>
            <p:cNvSpPr/>
            <p:nvPr/>
          </p:nvSpPr>
          <p:spPr>
            <a:xfrm>
              <a:off x="267836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g3e473cf74e9_162_3"/>
            <p:cNvSpPr/>
            <p:nvPr/>
          </p:nvSpPr>
          <p:spPr>
            <a:xfrm>
              <a:off x="535673" y="381000"/>
              <a:ext cx="195900" cy="673500"/>
            </a:xfrm>
            <a:prstGeom prst="rect">
              <a:avLst/>
            </a:prstGeom>
            <a:solidFill>
              <a:srgbClr val="0F9ED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6" name="Google Shape;466;g3e473cf74e9_162_3"/>
          <p:cNvSpPr/>
          <p:nvPr/>
        </p:nvSpPr>
        <p:spPr>
          <a:xfrm>
            <a:off x="838075" y="1333500"/>
            <a:ext cx="10515600" cy="4987500"/>
          </a:xfrm>
          <a:prstGeom prst="roundRect">
            <a:avLst>
              <a:gd name="adj" fmla="val 2631"/>
            </a:avLst>
          </a:prstGeom>
          <a:solidFill>
            <a:srgbClr val="F8FAFC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7" name="Google Shape;467;g3e473cf74e9_162_3"/>
          <p:cNvCxnSpPr/>
          <p:nvPr/>
        </p:nvCxnSpPr>
        <p:spPr>
          <a:xfrm rot="10800000">
            <a:off x="838203" y="648530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F9ED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68" name="Google Shape;468;g3e473cf74e9_162_3"/>
          <p:cNvSpPr txBox="1"/>
          <p:nvPr/>
        </p:nvSpPr>
        <p:spPr>
          <a:xfrm>
            <a:off x="1094350" y="1507950"/>
            <a:ext cx="9911700" cy="481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0475" tIns="90475" rIns="90475" bIns="9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Итоговый вывод</a:t>
            </a:r>
            <a:endParaRPr sz="1600" b="1">
              <a:solidFill>
                <a:srgbClr val="0F9E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80">
                <a:solidFill>
                  <a:srgbClr val="333333"/>
                </a:solidFill>
              </a:rPr>
              <a:t>Исследование на практике доказало, что классические методы машинного обучения достигли своего предела в задачах сложного трехмерного анализа. Наглядно видно, что ручное конструирование математических признаков хорошо работает в базовых тепличных сценариях, но неизбежно дает сбои при столкновении со схожими по форме объектами в реалистичных условиях леса.</a:t>
            </a:r>
            <a:endParaRPr sz="158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580">
                <a:solidFill>
                  <a:srgbClr val="333333"/>
                </a:solidFill>
              </a:rPr>
              <a:t>Архитектура PointNet++ оказалась наиболее точным и надежным инструментом для распознавания сложной природной геометрии. Способность алгоритма самостоятельно находить скрытые узоры ветвей прямо в «сыром» массиве точек делает модель абсолютно устойчивой к пространственным искажениям, смене ракурсов и погрешностям сканирования. Нейросеть успешно преодолела ограничения классической математики, снизив процент ошибок даже в биологически родственных классах.</a:t>
            </a:r>
            <a:endParaRPr sz="158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580">
                <a:solidFill>
                  <a:srgbClr val="333333"/>
                </a:solidFill>
              </a:rPr>
              <a:t>Все это делает технологию глубокого обучения идеальным кандидатом для внедрения в реальный сектор лесного хозяйства. В перспективе разработанный подход можно масштабировать. Если объединить текущую модель классификации с алгоритмами сегментации, которые могут автоматически находить и «вырезать» границы отдельных крон в сплошном массиве данных, мы получим полностью автономную программную систему для оперативной инвентаризации и мониторинга лесных ресурсов.</a:t>
            </a:r>
            <a:endParaRPr sz="158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2366</Words>
  <Application>Microsoft Office PowerPoint</Application>
  <PresentationFormat>Широкоэкранный</PresentationFormat>
  <Paragraphs>149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Play</vt:lpstr>
      <vt:lpstr>Times New Roman</vt:lpstr>
      <vt:lpstr>Arial</vt:lpstr>
      <vt:lpstr>Тема Office</vt:lpstr>
      <vt:lpstr>КЛАССИФИКАЦИЯ ВИДОВ ДЕРЕВЬЕВ НА ОСНОВЕ МАССИВОВ ТОЧЕК LiDAR С ПРИМЕНЕНИЕМ НЕЙРОННЫХ СЕТЕЙ</vt:lpstr>
      <vt:lpstr>Презентация PowerPoint</vt:lpstr>
      <vt:lpstr>Презентация PowerPoint</vt:lpstr>
      <vt:lpstr>Задачи исследования</vt:lpstr>
      <vt:lpstr>Презентация PowerPoint</vt:lpstr>
      <vt:lpstr>Методы классификации 3D-данных LiDAR</vt:lpstr>
      <vt:lpstr>Презентация PowerPoint</vt:lpstr>
      <vt:lpstr>Презентация PowerPoint</vt:lpstr>
      <vt:lpstr>Исходные данные и их недостатки</vt:lpstr>
      <vt:lpstr>Исходные данные и их недостатки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Финальный тест моделей</vt:lpstr>
      <vt:lpstr>Презентация PowerPoint</vt:lpstr>
      <vt:lpstr>Презентация PowerPoint</vt:lpstr>
      <vt:lpstr>Презентация PowerPoint</vt:lpstr>
      <vt:lpstr>Финальный тест моделей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Илья Гречихин</dc:creator>
  <cp:lastModifiedBy>Илья Гречихин</cp:lastModifiedBy>
  <cp:revision>2</cp:revision>
  <dcterms:created xsi:type="dcterms:W3CDTF">2026-05-24T08:32:09Z</dcterms:created>
  <dcterms:modified xsi:type="dcterms:W3CDTF">2026-05-27T02:59:02Z</dcterms:modified>
</cp:coreProperties>
</file>